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475488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754880"/>
            <a:ext cx="12188952" cy="7315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005840"/>
            <a:ext cx="10058400" cy="1645920"/>
          </a:xfrm>
          <a:prstGeom prst="rect">
            <a:avLst/>
          </a:prstGeom>
          <a:noFill/>
        </p:spPr>
        <p:txBody>
          <a:bodyPr wrap="none">
            <a:spAutoFit/>
          </a:bodyPr>
          <a:lstStyle/>
          <a:p>
            <a:pPr algn="ctr"/>
            <a:r>
              <a:rPr sz="8000" b="1">
                <a:solidFill>
                  <a:srgbClr val="FFFFFF"/>
                </a:solidFill>
              </a:rPr>
              <a:t>Bizi</a:t>
            </a:r>
            <a:r>
              <a:rPr sz="8000" b="1">
                <a:solidFill>
                  <a:srgbClr val="C9A84C"/>
                </a:solidFill>
              </a:rPr>
              <a:t>Bid</a:t>
            </a:r>
          </a:p>
        </p:txBody>
      </p:sp>
      <p:sp>
        <p:nvSpPr>
          <p:cNvPr id="5" name="TextBox 4"/>
          <p:cNvSpPr txBox="1"/>
          <p:nvPr/>
        </p:nvSpPr>
        <p:spPr>
          <a:xfrm>
            <a:off x="914400" y="2788920"/>
            <a:ext cx="10332720" cy="548640"/>
          </a:xfrm>
          <a:prstGeom prst="rect">
            <a:avLst/>
          </a:prstGeom>
          <a:noFill/>
        </p:spPr>
        <p:txBody>
          <a:bodyPr wrap="square">
            <a:spAutoFit/>
          </a:bodyPr>
          <a:lstStyle/>
          <a:p>
            <a:pPr algn="ctr"/>
            <a:r>
              <a:rPr sz="2000" b="0" i="0">
                <a:solidFill>
                  <a:srgbClr val="C0C8D8"/>
                </a:solidFill>
              </a:rPr>
              <a:t>Barbados' First Retail Auction &amp; Deals Platform</a:t>
            </a:r>
          </a:p>
        </p:txBody>
      </p:sp>
      <p:sp>
        <p:nvSpPr>
          <p:cNvPr id="6" name="TextBox 5"/>
          <p:cNvSpPr txBox="1"/>
          <p:nvPr/>
        </p:nvSpPr>
        <p:spPr>
          <a:xfrm>
            <a:off x="914400" y="3429000"/>
            <a:ext cx="10332720" cy="457200"/>
          </a:xfrm>
          <a:prstGeom prst="rect">
            <a:avLst/>
          </a:prstGeom>
          <a:noFill/>
        </p:spPr>
        <p:txBody>
          <a:bodyPr wrap="square">
            <a:spAutoFit/>
          </a:bodyPr>
          <a:lstStyle/>
          <a:p>
            <a:pPr algn="ctr"/>
            <a:r>
              <a:rPr sz="1300" b="0" i="1">
                <a:solidFill>
                  <a:srgbClr val="5A6678"/>
                </a:solidFill>
              </a:rPr>
              <a:t>Partnership Opportunity  ·  Confidential</a:t>
            </a:r>
          </a:p>
        </p:txBody>
      </p:sp>
      <p:sp>
        <p:nvSpPr>
          <p:cNvPr id="7" name="TextBox 6"/>
          <p:cNvSpPr txBox="1"/>
          <p:nvPr/>
        </p:nvSpPr>
        <p:spPr>
          <a:xfrm>
            <a:off x="914400" y="5029200"/>
            <a:ext cx="10332720" cy="411480"/>
          </a:xfrm>
          <a:prstGeom prst="rect">
            <a:avLst/>
          </a:prstGeom>
          <a:noFill/>
        </p:spPr>
        <p:txBody>
          <a:bodyPr wrap="square">
            <a:spAutoFit/>
          </a:bodyPr>
          <a:lstStyle/>
          <a:p>
            <a:pPr algn="ctr"/>
            <a:r>
              <a:rPr sz="1100" b="0" i="0">
                <a:solidFill>
                  <a:srgbClr val="4B5563"/>
                </a:solidFill>
              </a:rPr>
              <a:t>Presented by INTERXDB  ·  Digital Retail &amp; Auction Platform  ·  Barbados</a:t>
            </a:r>
          </a:p>
        </p:txBody>
      </p:sp>
      <p:sp>
        <p:nvSpPr>
          <p:cNvPr id="8" name="TextBox 7"/>
          <p:cNvSpPr txBox="1"/>
          <p:nvPr/>
        </p:nvSpPr>
        <p:spPr>
          <a:xfrm>
            <a:off x="914400" y="5486400"/>
            <a:ext cx="10332720" cy="365760"/>
          </a:xfrm>
          <a:prstGeom prst="rect">
            <a:avLst/>
          </a:prstGeom>
          <a:noFill/>
        </p:spPr>
        <p:txBody>
          <a:bodyPr wrap="square">
            <a:spAutoFit/>
          </a:bodyPr>
          <a:lstStyle/>
          <a:p>
            <a:pPr algn="ctr"/>
            <a:r>
              <a:rPr sz="1100" b="0" i="0">
                <a:solidFill>
                  <a:srgbClr val="9CA3AF"/>
                </a:solidFill>
              </a:rPr>
              <a:t>bizibid.com  ·  contact@interxdb.com  ·  Tel 1(246) 241-3771</a:t>
            </a:r>
          </a:p>
        </p:txBody>
      </p:sp>
      <p:sp>
        <p:nvSpPr>
          <p:cNvPr id="9" name="TextBox 8"/>
          <p:cNvSpPr txBox="1"/>
          <p:nvPr/>
        </p:nvSpPr>
        <p:spPr>
          <a:xfrm>
            <a:off x="11247120" y="6492240"/>
            <a:ext cx="914400" cy="320040"/>
          </a:xfrm>
          <a:prstGeom prst="rect">
            <a:avLst/>
          </a:prstGeom>
          <a:noFill/>
        </p:spPr>
        <p:txBody>
          <a:bodyPr wrap="square">
            <a:spAutoFit/>
          </a:bodyPr>
          <a:lstStyle/>
          <a:p>
            <a:pPr algn="r"/>
            <a:r>
              <a:rPr sz="900" b="0" i="0">
                <a:solidFill>
                  <a:srgbClr val="9CA3AF"/>
                </a:solidFill>
              </a:rPr>
              <a:t>1 / 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41248"/>
            <a:ext cx="12188952" cy="640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2286000" cy="502920"/>
          </a:xfrm>
          <a:prstGeom prst="rect">
            <a:avLst/>
          </a:prstGeom>
          <a:noFill/>
        </p:spPr>
        <p:txBody>
          <a:bodyPr wrap="none">
            <a:spAutoFit/>
          </a:bodyPr>
          <a:lstStyle/>
          <a:p>
            <a:r>
              <a:rPr sz="2200" b="1">
                <a:solidFill>
                  <a:srgbClr val="0A0A0A"/>
                </a:solidFill>
              </a:rPr>
              <a:t>Bizi</a:t>
            </a:r>
            <a:r>
              <a:rPr sz="2200" b="1">
                <a:solidFill>
                  <a:srgbClr val="C9A84C"/>
                </a:solidFill>
              </a:rPr>
              <a:t>Bid</a:t>
            </a:r>
          </a:p>
        </p:txBody>
      </p:sp>
      <p:sp>
        <p:nvSpPr>
          <p:cNvPr id="4" name="TextBox 3"/>
          <p:cNvSpPr txBox="1"/>
          <p:nvPr/>
        </p:nvSpPr>
        <p:spPr>
          <a:xfrm>
            <a:off x="457200" y="960120"/>
            <a:ext cx="7315200" cy="292608"/>
          </a:xfrm>
          <a:prstGeom prst="rect">
            <a:avLst/>
          </a:prstGeom>
          <a:noFill/>
        </p:spPr>
        <p:txBody>
          <a:bodyPr wrap="square">
            <a:spAutoFit/>
          </a:bodyPr>
          <a:lstStyle/>
          <a:p>
            <a:pPr algn="l"/>
            <a:r>
              <a:rPr sz="900" b="1" i="0">
                <a:solidFill>
                  <a:srgbClr val="C9A84C"/>
                </a:solidFill>
              </a:rPr>
              <a:t>PLATFORM OVERVIEW</a:t>
            </a:r>
          </a:p>
        </p:txBody>
      </p:sp>
      <p:sp>
        <p:nvSpPr>
          <p:cNvPr id="5" name="TextBox 4"/>
          <p:cNvSpPr txBox="1"/>
          <p:nvPr/>
        </p:nvSpPr>
        <p:spPr>
          <a:xfrm>
            <a:off x="457200" y="1325880"/>
            <a:ext cx="11247120" cy="777240"/>
          </a:xfrm>
          <a:prstGeom prst="rect">
            <a:avLst/>
          </a:prstGeom>
          <a:noFill/>
        </p:spPr>
        <p:txBody>
          <a:bodyPr wrap="square">
            <a:spAutoFit/>
          </a:bodyPr>
          <a:lstStyle/>
          <a:p>
            <a:pPr algn="l"/>
            <a:r>
              <a:rPr sz="3000" b="1" i="0">
                <a:solidFill>
                  <a:srgbClr val="0A0A0A"/>
                </a:solidFill>
              </a:rPr>
              <a:t>What is BiziBid?</a:t>
            </a:r>
          </a:p>
        </p:txBody>
      </p:sp>
      <p:sp>
        <p:nvSpPr>
          <p:cNvPr id="6" name="TextBox 5"/>
          <p:cNvSpPr txBox="1"/>
          <p:nvPr/>
        </p:nvSpPr>
        <p:spPr>
          <a:xfrm>
            <a:off x="457200" y="1920240"/>
            <a:ext cx="11247120" cy="411480"/>
          </a:xfrm>
          <a:prstGeom prst="rect">
            <a:avLst/>
          </a:prstGeom>
          <a:noFill/>
        </p:spPr>
        <p:txBody>
          <a:bodyPr wrap="square">
            <a:spAutoFit/>
          </a:bodyPr>
          <a:lstStyle/>
          <a:p>
            <a:pPr algn="l"/>
            <a:r>
              <a:rPr sz="1500" b="0" i="0">
                <a:solidFill>
                  <a:srgbClr val="4B5563"/>
                </a:solidFill>
              </a:rPr>
              <a:t>A mobile-first auction and deals platform built exclusively for Barbados' retail market.</a:t>
            </a:r>
          </a:p>
        </p:txBody>
      </p:sp>
      <p:sp>
        <p:nvSpPr>
          <p:cNvPr id="7" name="Rectangle 6"/>
          <p:cNvSpPr/>
          <p:nvPr/>
        </p:nvSpPr>
        <p:spPr>
          <a:xfrm>
            <a:off x="457200" y="2468880"/>
            <a:ext cx="3749039" cy="237744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468880"/>
            <a:ext cx="45720" cy="237744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2578608"/>
            <a:ext cx="457200" cy="411480"/>
          </a:xfrm>
          <a:prstGeom prst="rect">
            <a:avLst/>
          </a:prstGeom>
          <a:noFill/>
        </p:spPr>
        <p:txBody>
          <a:bodyPr wrap="square">
            <a:spAutoFit/>
          </a:bodyPr>
          <a:lstStyle/>
          <a:p>
            <a:pPr algn="l"/>
            <a:r>
              <a:rPr sz="2000" b="0" i="0">
                <a:solidFill>
                  <a:srgbClr val="C9A84C"/>
                </a:solidFill>
              </a:rPr>
              <a:t>📱</a:t>
            </a:r>
          </a:p>
        </p:txBody>
      </p:sp>
      <p:sp>
        <p:nvSpPr>
          <p:cNvPr id="10" name="TextBox 9"/>
          <p:cNvSpPr txBox="1"/>
          <p:nvPr/>
        </p:nvSpPr>
        <p:spPr>
          <a:xfrm>
            <a:off x="1051560" y="2578608"/>
            <a:ext cx="3017520" cy="347472"/>
          </a:xfrm>
          <a:prstGeom prst="rect">
            <a:avLst/>
          </a:prstGeom>
          <a:noFill/>
        </p:spPr>
        <p:txBody>
          <a:bodyPr wrap="square">
            <a:spAutoFit/>
          </a:bodyPr>
          <a:lstStyle/>
          <a:p>
            <a:pPr algn="l"/>
            <a:r>
              <a:rPr sz="1200" b="1" i="0">
                <a:solidFill>
                  <a:srgbClr val="0A0A0A"/>
                </a:solidFill>
              </a:rPr>
              <a:t>The BiziBid App</a:t>
            </a:r>
          </a:p>
        </p:txBody>
      </p:sp>
      <p:sp>
        <p:nvSpPr>
          <p:cNvPr id="11" name="TextBox 10"/>
          <p:cNvSpPr txBox="1"/>
          <p:nvPr/>
        </p:nvSpPr>
        <p:spPr>
          <a:xfrm>
            <a:off x="566928" y="2999232"/>
            <a:ext cx="3520439" cy="1737360"/>
          </a:xfrm>
          <a:prstGeom prst="rect">
            <a:avLst/>
          </a:prstGeom>
          <a:noFill/>
        </p:spPr>
        <p:txBody>
          <a:bodyPr wrap="square">
            <a:spAutoFit/>
          </a:bodyPr>
          <a:lstStyle/>
          <a:p>
            <a:pPr algn="l"/>
            <a:r>
              <a:rPr sz="1000" b="0" i="0">
                <a:solidFill>
                  <a:srgbClr val="4B5563"/>
                </a:solidFill>
              </a:rPr>
              <a:t>A free mobile app (iOS &amp; Android) where registered customers browse live auctions and exclusive deals — 24 hours a day, 7 days a week.</a:t>
            </a:r>
          </a:p>
        </p:txBody>
      </p:sp>
      <p:sp>
        <p:nvSpPr>
          <p:cNvPr id="12" name="Rectangle 11"/>
          <p:cNvSpPr/>
          <p:nvPr/>
        </p:nvSpPr>
        <p:spPr>
          <a:xfrm>
            <a:off x="4389120" y="2468880"/>
            <a:ext cx="3749039" cy="237744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2468880"/>
            <a:ext cx="45720" cy="237744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8848" y="2578608"/>
            <a:ext cx="457200" cy="411480"/>
          </a:xfrm>
          <a:prstGeom prst="rect">
            <a:avLst/>
          </a:prstGeom>
          <a:noFill/>
        </p:spPr>
        <p:txBody>
          <a:bodyPr wrap="square">
            <a:spAutoFit/>
          </a:bodyPr>
          <a:lstStyle/>
          <a:p>
            <a:pPr algn="l"/>
            <a:r>
              <a:rPr sz="2000" b="0" i="0">
                <a:solidFill>
                  <a:srgbClr val="C9A84C"/>
                </a:solidFill>
              </a:rPr>
              <a:t>🏪</a:t>
            </a:r>
          </a:p>
        </p:txBody>
      </p:sp>
      <p:sp>
        <p:nvSpPr>
          <p:cNvPr id="15" name="TextBox 14"/>
          <p:cNvSpPr txBox="1"/>
          <p:nvPr/>
        </p:nvSpPr>
        <p:spPr>
          <a:xfrm>
            <a:off x="4983480" y="2578608"/>
            <a:ext cx="3017520" cy="347472"/>
          </a:xfrm>
          <a:prstGeom prst="rect">
            <a:avLst/>
          </a:prstGeom>
          <a:noFill/>
        </p:spPr>
        <p:txBody>
          <a:bodyPr wrap="square">
            <a:spAutoFit/>
          </a:bodyPr>
          <a:lstStyle/>
          <a:p>
            <a:pPr algn="l"/>
            <a:r>
              <a:rPr sz="1200" b="1" i="0">
                <a:solidFill>
                  <a:srgbClr val="0A0A0A"/>
                </a:solidFill>
              </a:rPr>
              <a:t>Your Back-Office Portal</a:t>
            </a:r>
          </a:p>
        </p:txBody>
      </p:sp>
      <p:sp>
        <p:nvSpPr>
          <p:cNvPr id="16" name="TextBox 15"/>
          <p:cNvSpPr txBox="1"/>
          <p:nvPr/>
        </p:nvSpPr>
        <p:spPr>
          <a:xfrm>
            <a:off x="4498848" y="2999232"/>
            <a:ext cx="3520439" cy="1737360"/>
          </a:xfrm>
          <a:prstGeom prst="rect">
            <a:avLst/>
          </a:prstGeom>
          <a:noFill/>
        </p:spPr>
        <p:txBody>
          <a:bodyPr wrap="square">
            <a:spAutoFit/>
          </a:bodyPr>
          <a:lstStyle/>
          <a:p>
            <a:pPr algn="l"/>
            <a:r>
              <a:rPr sz="1000" b="0" i="0">
                <a:solidFill>
                  <a:srgbClr val="4B5563"/>
                </a:solidFill>
              </a:rPr>
              <a:t>A private web portal at BiziBid.com where your team uploads products, manages deals, reviews auction results, and tracks performance.</a:t>
            </a:r>
          </a:p>
        </p:txBody>
      </p:sp>
      <p:sp>
        <p:nvSpPr>
          <p:cNvPr id="17" name="Rectangle 16"/>
          <p:cNvSpPr/>
          <p:nvPr/>
        </p:nvSpPr>
        <p:spPr>
          <a:xfrm>
            <a:off x="8321040" y="2468880"/>
            <a:ext cx="3749039" cy="237744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21040" y="2468880"/>
            <a:ext cx="45720" cy="237744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30767" y="2578608"/>
            <a:ext cx="457200" cy="411480"/>
          </a:xfrm>
          <a:prstGeom prst="rect">
            <a:avLst/>
          </a:prstGeom>
          <a:noFill/>
        </p:spPr>
        <p:txBody>
          <a:bodyPr wrap="square">
            <a:spAutoFit/>
          </a:bodyPr>
          <a:lstStyle/>
          <a:p>
            <a:pPr algn="l"/>
            <a:r>
              <a:rPr sz="2000" b="0" i="0">
                <a:solidFill>
                  <a:srgbClr val="C9A84C"/>
                </a:solidFill>
              </a:rPr>
              <a:t>🏆</a:t>
            </a:r>
          </a:p>
        </p:txBody>
      </p:sp>
      <p:sp>
        <p:nvSpPr>
          <p:cNvPr id="20" name="TextBox 19"/>
          <p:cNvSpPr txBox="1"/>
          <p:nvPr/>
        </p:nvSpPr>
        <p:spPr>
          <a:xfrm>
            <a:off x="8915400" y="2578608"/>
            <a:ext cx="3017520" cy="347472"/>
          </a:xfrm>
          <a:prstGeom prst="rect">
            <a:avLst/>
          </a:prstGeom>
          <a:noFill/>
        </p:spPr>
        <p:txBody>
          <a:bodyPr wrap="square">
            <a:spAutoFit/>
          </a:bodyPr>
          <a:lstStyle/>
          <a:p>
            <a:pPr algn="l"/>
            <a:r>
              <a:rPr sz="1200" b="1" i="0">
                <a:solidFill>
                  <a:srgbClr val="0A0A0A"/>
                </a:solidFill>
              </a:rPr>
              <a:t>Operated by INTERXDB</a:t>
            </a:r>
          </a:p>
        </p:txBody>
      </p:sp>
      <p:sp>
        <p:nvSpPr>
          <p:cNvPr id="21" name="TextBox 20"/>
          <p:cNvSpPr txBox="1"/>
          <p:nvPr/>
        </p:nvSpPr>
        <p:spPr>
          <a:xfrm>
            <a:off x="8430767" y="2999232"/>
            <a:ext cx="3520439" cy="1737360"/>
          </a:xfrm>
          <a:prstGeom prst="rect">
            <a:avLst/>
          </a:prstGeom>
          <a:noFill/>
        </p:spPr>
        <p:txBody>
          <a:bodyPr wrap="square">
            <a:spAutoFit/>
          </a:bodyPr>
          <a:lstStyle/>
          <a:p>
            <a:pPr algn="l"/>
            <a:r>
              <a:rPr sz="1000" b="0" i="0">
                <a:solidFill>
                  <a:srgbClr val="4B5563"/>
                </a:solidFill>
              </a:rPr>
              <a:t>INTERXDB owns and operates the entire platform — the app, the hosting, the technology. You simply list products. We handle everything else.</a:t>
            </a:r>
          </a:p>
        </p:txBody>
      </p:sp>
      <p:sp>
        <p:nvSpPr>
          <p:cNvPr id="22" name="TextBox 21"/>
          <p:cNvSpPr txBox="1"/>
          <p:nvPr/>
        </p:nvSpPr>
        <p:spPr>
          <a:xfrm>
            <a:off x="11247120" y="6492240"/>
            <a:ext cx="914400" cy="320040"/>
          </a:xfrm>
          <a:prstGeom prst="rect">
            <a:avLst/>
          </a:prstGeom>
          <a:noFill/>
        </p:spPr>
        <p:txBody>
          <a:bodyPr wrap="square">
            <a:spAutoFit/>
          </a:bodyPr>
          <a:lstStyle/>
          <a:p>
            <a:pPr algn="r"/>
            <a:r>
              <a:rPr sz="900" b="0" i="0">
                <a:solidFill>
                  <a:srgbClr val="9CA3AF"/>
                </a:solidFill>
              </a:rPr>
              <a:t>2 / 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41248"/>
            <a:ext cx="12188952" cy="640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2286000" cy="502920"/>
          </a:xfrm>
          <a:prstGeom prst="rect">
            <a:avLst/>
          </a:prstGeom>
          <a:noFill/>
        </p:spPr>
        <p:txBody>
          <a:bodyPr wrap="none">
            <a:spAutoFit/>
          </a:bodyPr>
          <a:lstStyle/>
          <a:p>
            <a:r>
              <a:rPr sz="2200" b="1">
                <a:solidFill>
                  <a:srgbClr val="0A0A0A"/>
                </a:solidFill>
              </a:rPr>
              <a:t>Bizi</a:t>
            </a:r>
            <a:r>
              <a:rPr sz="2200" b="1">
                <a:solidFill>
                  <a:srgbClr val="C9A84C"/>
                </a:solidFill>
              </a:rPr>
              <a:t>Bid</a:t>
            </a:r>
          </a:p>
        </p:txBody>
      </p:sp>
      <p:sp>
        <p:nvSpPr>
          <p:cNvPr id="4" name="TextBox 3"/>
          <p:cNvSpPr txBox="1"/>
          <p:nvPr/>
        </p:nvSpPr>
        <p:spPr>
          <a:xfrm>
            <a:off x="457200" y="960120"/>
            <a:ext cx="7315200" cy="292608"/>
          </a:xfrm>
          <a:prstGeom prst="rect">
            <a:avLst/>
          </a:prstGeom>
          <a:noFill/>
        </p:spPr>
        <p:txBody>
          <a:bodyPr wrap="square">
            <a:spAutoFit/>
          </a:bodyPr>
          <a:lstStyle/>
          <a:p>
            <a:pPr algn="l"/>
            <a:r>
              <a:rPr sz="900" b="1" i="0">
                <a:solidFill>
                  <a:srgbClr val="C9A84C"/>
                </a:solidFill>
              </a:rPr>
              <a:t>THE OPPORTUNITY</a:t>
            </a:r>
          </a:p>
        </p:txBody>
      </p:sp>
      <p:sp>
        <p:nvSpPr>
          <p:cNvPr id="5" name="TextBox 4"/>
          <p:cNvSpPr txBox="1"/>
          <p:nvPr/>
        </p:nvSpPr>
        <p:spPr>
          <a:xfrm>
            <a:off x="457200" y="1325880"/>
            <a:ext cx="11247120" cy="777240"/>
          </a:xfrm>
          <a:prstGeom prst="rect">
            <a:avLst/>
          </a:prstGeom>
          <a:noFill/>
        </p:spPr>
        <p:txBody>
          <a:bodyPr wrap="square">
            <a:spAutoFit/>
          </a:bodyPr>
          <a:lstStyle/>
          <a:p>
            <a:pPr algn="l"/>
            <a:r>
              <a:rPr sz="3000" b="1" i="0">
                <a:solidFill>
                  <a:srgbClr val="0A0A0A"/>
                </a:solidFill>
              </a:rPr>
              <a:t>Your Store — 24/7 in Every Customer's Pocket</a:t>
            </a:r>
          </a:p>
        </p:txBody>
      </p:sp>
      <p:sp>
        <p:nvSpPr>
          <p:cNvPr id="6" name="TextBox 5"/>
          <p:cNvSpPr txBox="1"/>
          <p:nvPr/>
        </p:nvSpPr>
        <p:spPr>
          <a:xfrm>
            <a:off x="457200" y="1920240"/>
            <a:ext cx="11247120" cy="411480"/>
          </a:xfrm>
          <a:prstGeom prst="rect">
            <a:avLst/>
          </a:prstGeom>
          <a:noFill/>
        </p:spPr>
        <p:txBody>
          <a:bodyPr wrap="square">
            <a:spAutoFit/>
          </a:bodyPr>
          <a:lstStyle/>
          <a:p>
            <a:pPr algn="l"/>
            <a:r>
              <a:rPr sz="1500" b="0" i="0">
                <a:solidFill>
                  <a:srgbClr val="4B5563"/>
                </a:solidFill>
              </a:rPr>
              <a:t>BiziBid keeps your brand top-of-mind every single day — whether your doors are open or not.</a:t>
            </a:r>
          </a:p>
        </p:txBody>
      </p:sp>
      <p:sp>
        <p:nvSpPr>
          <p:cNvPr id="7" name="TextBox 6"/>
          <p:cNvSpPr txBox="1"/>
          <p:nvPr/>
        </p:nvSpPr>
        <p:spPr>
          <a:xfrm>
            <a:off x="731520" y="2377440"/>
            <a:ext cx="10698480" cy="3840480"/>
          </a:xfrm>
          <a:prstGeom prst="rect">
            <a:avLst/>
          </a:prstGeom>
          <a:noFill/>
        </p:spPr>
        <p:txBody>
          <a:bodyPr wrap="square">
            <a:spAutoFit/>
          </a:bodyPr>
          <a:lstStyle/>
          <a:p>
            <a:pPr>
              <a:spcBef>
                <a:spcPts val="800"/>
              </a:spcBef>
            </a:pPr>
            <a:r>
              <a:rPr sz="1400">
                <a:solidFill>
                  <a:srgbClr val="0A0A0A"/>
                </a:solidFill>
              </a:rPr>
              <a:t>★  Customers open the app daily to check new auctions and deals from your store</a:t>
            </a:r>
          </a:p>
          <a:p>
            <a:pPr>
              <a:spcBef>
                <a:spcPts val="800"/>
              </a:spcBef>
            </a:pPr>
            <a:r>
              <a:rPr sz="1400">
                <a:solidFill>
                  <a:srgbClr val="0A0A0A"/>
                </a:solidFill>
              </a:rPr>
              <a:t>★  Your store logo is displayed prominently on the app's home screen</a:t>
            </a:r>
          </a:p>
          <a:p>
            <a:pPr>
              <a:spcBef>
                <a:spcPts val="800"/>
              </a:spcBef>
            </a:pPr>
            <a:r>
              <a:rPr sz="1400">
                <a:solidFill>
                  <a:srgbClr val="0A0A0A"/>
                </a:solidFill>
              </a:rPr>
              <a:t>★  Exclusive auction prices (below shelf) create urgency and loyal repeat engagement</a:t>
            </a:r>
          </a:p>
          <a:p>
            <a:pPr>
              <a:spcBef>
                <a:spcPts val="800"/>
              </a:spcBef>
            </a:pPr>
            <a:r>
              <a:rPr sz="1400">
                <a:solidFill>
                  <a:srgbClr val="0A0A0A"/>
                </a:solidFill>
              </a:rPr>
              <a:t>★  Deals of the Week and Month drive customers physically through your doors</a:t>
            </a:r>
          </a:p>
          <a:p>
            <a:pPr>
              <a:spcBef>
                <a:spcPts val="800"/>
              </a:spcBef>
            </a:pPr>
            <a:r>
              <a:rPr sz="1400">
                <a:solidFill>
                  <a:srgbClr val="0A0A0A"/>
                </a:solidFill>
              </a:rPr>
              <a:t>★  Every deal or auction item shared on WhatsApp or Instagram puts your brand in front of new potential customers — at no cost to you</a:t>
            </a:r>
          </a:p>
          <a:p>
            <a:pPr>
              <a:spcBef>
                <a:spcPts val="800"/>
              </a:spcBef>
            </a:pPr>
            <a:r>
              <a:rPr sz="1400">
                <a:solidFill>
                  <a:srgbClr val="0A0A0A"/>
                </a:solidFill>
              </a:rPr>
              <a:t>★  Founding retail partners secure premium placement before competitors</a:t>
            </a:r>
          </a:p>
        </p:txBody>
      </p:sp>
      <p:sp>
        <p:nvSpPr>
          <p:cNvPr id="8" name="TextBox 7"/>
          <p:cNvSpPr txBox="1"/>
          <p:nvPr/>
        </p:nvSpPr>
        <p:spPr>
          <a:xfrm>
            <a:off x="11247120" y="6492240"/>
            <a:ext cx="914400" cy="320040"/>
          </a:xfrm>
          <a:prstGeom prst="rect">
            <a:avLst/>
          </a:prstGeom>
          <a:noFill/>
        </p:spPr>
        <p:txBody>
          <a:bodyPr wrap="square">
            <a:spAutoFit/>
          </a:bodyPr>
          <a:lstStyle/>
          <a:p>
            <a:pPr algn="r"/>
            <a:r>
              <a:rPr sz="900" b="0" i="0">
                <a:solidFill>
                  <a:srgbClr val="9CA3AF"/>
                </a:solidFill>
              </a:rPr>
              <a:t>3 / 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41248"/>
            <a:ext cx="12188952" cy="640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2286000" cy="502920"/>
          </a:xfrm>
          <a:prstGeom prst="rect">
            <a:avLst/>
          </a:prstGeom>
          <a:noFill/>
        </p:spPr>
        <p:txBody>
          <a:bodyPr wrap="none">
            <a:spAutoFit/>
          </a:bodyPr>
          <a:lstStyle/>
          <a:p>
            <a:r>
              <a:rPr sz="2200" b="1">
                <a:solidFill>
                  <a:srgbClr val="0A0A0A"/>
                </a:solidFill>
              </a:rPr>
              <a:t>Bizi</a:t>
            </a:r>
            <a:r>
              <a:rPr sz="2200" b="1">
                <a:solidFill>
                  <a:srgbClr val="C9A84C"/>
                </a:solidFill>
              </a:rPr>
              <a:t>Bid</a:t>
            </a:r>
          </a:p>
        </p:txBody>
      </p:sp>
      <p:sp>
        <p:nvSpPr>
          <p:cNvPr id="4" name="TextBox 3"/>
          <p:cNvSpPr txBox="1"/>
          <p:nvPr/>
        </p:nvSpPr>
        <p:spPr>
          <a:xfrm>
            <a:off x="457200" y="960120"/>
            <a:ext cx="7315200" cy="292608"/>
          </a:xfrm>
          <a:prstGeom prst="rect">
            <a:avLst/>
          </a:prstGeom>
          <a:noFill/>
        </p:spPr>
        <p:txBody>
          <a:bodyPr wrap="square">
            <a:spAutoFit/>
          </a:bodyPr>
          <a:lstStyle/>
          <a:p>
            <a:pPr algn="l"/>
            <a:r>
              <a:rPr sz="900" b="1" i="0">
                <a:solidFill>
                  <a:srgbClr val="C9A84C"/>
                </a:solidFill>
              </a:rPr>
              <a:t>CUSTOMER EXPERIENCE</a:t>
            </a:r>
          </a:p>
        </p:txBody>
      </p:sp>
      <p:sp>
        <p:nvSpPr>
          <p:cNvPr id="5" name="TextBox 4"/>
          <p:cNvSpPr txBox="1"/>
          <p:nvPr/>
        </p:nvSpPr>
        <p:spPr>
          <a:xfrm>
            <a:off x="457200" y="1325880"/>
            <a:ext cx="11247120" cy="777240"/>
          </a:xfrm>
          <a:prstGeom prst="rect">
            <a:avLst/>
          </a:prstGeom>
          <a:noFill/>
        </p:spPr>
        <p:txBody>
          <a:bodyPr wrap="square">
            <a:spAutoFit/>
          </a:bodyPr>
          <a:lstStyle/>
          <a:p>
            <a:pPr algn="l"/>
            <a:r>
              <a:rPr sz="3000" b="1" i="0">
                <a:solidFill>
                  <a:srgbClr val="0A0A0A"/>
                </a:solidFill>
              </a:rPr>
              <a:t>How Customers Experience BiziBid</a:t>
            </a:r>
          </a:p>
        </p:txBody>
      </p:sp>
      <p:sp>
        <p:nvSpPr>
          <p:cNvPr id="6" name="TextBox 5"/>
          <p:cNvSpPr txBox="1"/>
          <p:nvPr/>
        </p:nvSpPr>
        <p:spPr>
          <a:xfrm>
            <a:off x="457200" y="1920240"/>
            <a:ext cx="11247120" cy="411480"/>
          </a:xfrm>
          <a:prstGeom prst="rect">
            <a:avLst/>
          </a:prstGeom>
          <a:noFill/>
        </p:spPr>
        <p:txBody>
          <a:bodyPr wrap="square">
            <a:spAutoFit/>
          </a:bodyPr>
          <a:lstStyle/>
          <a:p>
            <a:pPr algn="l"/>
            <a:r>
              <a:rPr sz="1500" b="0" i="0">
                <a:solidFill>
                  <a:srgbClr val="4B5563"/>
                </a:solidFill>
              </a:rPr>
              <a:t>A beautifully simple home screen keeps customers focused on your store — and coming back every day.</a:t>
            </a:r>
          </a:p>
        </p:txBody>
      </p:sp>
      <p:sp>
        <p:nvSpPr>
          <p:cNvPr id="7" name="Rectangle 6"/>
          <p:cNvSpPr/>
          <p:nvPr/>
        </p:nvSpPr>
        <p:spPr>
          <a:xfrm>
            <a:off x="457200" y="2468880"/>
            <a:ext cx="5577840" cy="164592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468880"/>
            <a:ext cx="45720" cy="16459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2578608"/>
            <a:ext cx="457200" cy="411480"/>
          </a:xfrm>
          <a:prstGeom prst="rect">
            <a:avLst/>
          </a:prstGeom>
          <a:noFill/>
        </p:spPr>
        <p:txBody>
          <a:bodyPr wrap="square">
            <a:spAutoFit/>
          </a:bodyPr>
          <a:lstStyle/>
          <a:p>
            <a:pPr algn="l"/>
            <a:r>
              <a:rPr sz="2000" b="0" i="0">
                <a:solidFill>
                  <a:srgbClr val="C9A84C"/>
                </a:solidFill>
              </a:rPr>
              <a:t>⌨️</a:t>
            </a:r>
          </a:p>
        </p:txBody>
      </p:sp>
      <p:sp>
        <p:nvSpPr>
          <p:cNvPr id="10" name="TextBox 9"/>
          <p:cNvSpPr txBox="1"/>
          <p:nvPr/>
        </p:nvSpPr>
        <p:spPr>
          <a:xfrm>
            <a:off x="1051560" y="2578608"/>
            <a:ext cx="4846320" cy="347472"/>
          </a:xfrm>
          <a:prstGeom prst="rect">
            <a:avLst/>
          </a:prstGeom>
          <a:noFill/>
        </p:spPr>
        <p:txBody>
          <a:bodyPr wrap="square">
            <a:spAutoFit/>
          </a:bodyPr>
          <a:lstStyle/>
          <a:p>
            <a:pPr algn="l"/>
            <a:r>
              <a:rPr sz="1200" b="1" i="0">
                <a:solidFill>
                  <a:srgbClr val="0A0A0A"/>
                </a:solidFill>
              </a:rPr>
              <a:t>The Store Keypad</a:t>
            </a:r>
          </a:p>
        </p:txBody>
      </p:sp>
      <p:sp>
        <p:nvSpPr>
          <p:cNvPr id="11" name="TextBox 10"/>
          <p:cNvSpPr txBox="1"/>
          <p:nvPr/>
        </p:nvSpPr>
        <p:spPr>
          <a:xfrm>
            <a:off x="566928" y="2999232"/>
            <a:ext cx="5349240" cy="1005840"/>
          </a:xfrm>
          <a:prstGeom prst="rect">
            <a:avLst/>
          </a:prstGeom>
          <a:noFill/>
        </p:spPr>
        <p:txBody>
          <a:bodyPr wrap="square">
            <a:spAutoFit/>
          </a:bodyPr>
          <a:lstStyle/>
          <a:p>
            <a:pPr algn="l"/>
            <a:r>
              <a:rPr sz="1000" b="0" i="0">
                <a:solidFill>
                  <a:srgbClr val="4B5563"/>
                </a:solidFill>
              </a:rPr>
              <a:t>Your store logo appears on the app's home screen — just like a speed-dial button. Customers tap it to see your live auctions and deals instantly.</a:t>
            </a:r>
          </a:p>
        </p:txBody>
      </p:sp>
      <p:sp>
        <p:nvSpPr>
          <p:cNvPr id="12" name="Rectangle 11"/>
          <p:cNvSpPr/>
          <p:nvPr/>
        </p:nvSpPr>
        <p:spPr>
          <a:xfrm>
            <a:off x="6400800" y="2468880"/>
            <a:ext cx="5577840" cy="164592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0" y="2468880"/>
            <a:ext cx="45720" cy="16459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10528" y="2578608"/>
            <a:ext cx="457200" cy="411480"/>
          </a:xfrm>
          <a:prstGeom prst="rect">
            <a:avLst/>
          </a:prstGeom>
          <a:noFill/>
        </p:spPr>
        <p:txBody>
          <a:bodyPr wrap="square">
            <a:spAutoFit/>
          </a:bodyPr>
          <a:lstStyle/>
          <a:p>
            <a:pPr algn="l"/>
            <a:r>
              <a:rPr sz="2000" b="0" i="0">
                <a:solidFill>
                  <a:srgbClr val="C9A84C"/>
                </a:solidFill>
              </a:rPr>
              <a:t>🔔</a:t>
            </a:r>
          </a:p>
        </p:txBody>
      </p:sp>
      <p:sp>
        <p:nvSpPr>
          <p:cNvPr id="15" name="TextBox 14"/>
          <p:cNvSpPr txBox="1"/>
          <p:nvPr/>
        </p:nvSpPr>
        <p:spPr>
          <a:xfrm>
            <a:off x="6995160" y="2578608"/>
            <a:ext cx="4846320" cy="347472"/>
          </a:xfrm>
          <a:prstGeom prst="rect">
            <a:avLst/>
          </a:prstGeom>
          <a:noFill/>
        </p:spPr>
        <p:txBody>
          <a:bodyPr wrap="square">
            <a:spAutoFit/>
          </a:bodyPr>
          <a:lstStyle/>
          <a:p>
            <a:pPr algn="l"/>
            <a:r>
              <a:rPr sz="1200" b="1" i="0">
                <a:solidFill>
                  <a:srgbClr val="0A0A0A"/>
                </a:solidFill>
              </a:rPr>
              <a:t>Live Notifications</a:t>
            </a:r>
          </a:p>
        </p:txBody>
      </p:sp>
      <p:sp>
        <p:nvSpPr>
          <p:cNvPr id="16" name="TextBox 15"/>
          <p:cNvSpPr txBox="1"/>
          <p:nvPr/>
        </p:nvSpPr>
        <p:spPr>
          <a:xfrm>
            <a:off x="6510528" y="2999232"/>
            <a:ext cx="5349240" cy="1005840"/>
          </a:xfrm>
          <a:prstGeom prst="rect">
            <a:avLst/>
          </a:prstGeom>
          <a:noFill/>
        </p:spPr>
        <p:txBody>
          <a:bodyPr wrap="square">
            <a:spAutoFit/>
          </a:bodyPr>
          <a:lstStyle/>
          <a:p>
            <a:pPr algn="l"/>
            <a:r>
              <a:rPr sz="1000" b="0" i="0">
                <a:solidFill>
                  <a:srgbClr val="4B5563"/>
                </a:solidFill>
              </a:rPr>
              <a:t>Colour-coded badge alerts on your store logo tell customers how many bids are active, who is watching, and when they have been outbid. They respond immediately.</a:t>
            </a:r>
          </a:p>
        </p:txBody>
      </p:sp>
      <p:sp>
        <p:nvSpPr>
          <p:cNvPr id="17" name="Rectangle 16"/>
          <p:cNvSpPr/>
          <p:nvPr/>
        </p:nvSpPr>
        <p:spPr>
          <a:xfrm>
            <a:off x="457200" y="4297680"/>
            <a:ext cx="5577840" cy="164592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4297680"/>
            <a:ext cx="45720" cy="16459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4407408"/>
            <a:ext cx="457200" cy="411480"/>
          </a:xfrm>
          <a:prstGeom prst="rect">
            <a:avLst/>
          </a:prstGeom>
          <a:noFill/>
        </p:spPr>
        <p:txBody>
          <a:bodyPr wrap="square">
            <a:spAutoFit/>
          </a:bodyPr>
          <a:lstStyle/>
          <a:p>
            <a:pPr algn="l"/>
            <a:r>
              <a:rPr sz="2000" b="0" i="0">
                <a:solidFill>
                  <a:srgbClr val="C9A84C"/>
                </a:solidFill>
              </a:rPr>
              <a:t>📌</a:t>
            </a:r>
          </a:p>
        </p:txBody>
      </p:sp>
      <p:sp>
        <p:nvSpPr>
          <p:cNvPr id="20" name="TextBox 19"/>
          <p:cNvSpPr txBox="1"/>
          <p:nvPr/>
        </p:nvSpPr>
        <p:spPr>
          <a:xfrm>
            <a:off x="1051560" y="4407408"/>
            <a:ext cx="4846320" cy="347472"/>
          </a:xfrm>
          <a:prstGeom prst="rect">
            <a:avLst/>
          </a:prstGeom>
          <a:noFill/>
        </p:spPr>
        <p:txBody>
          <a:bodyPr wrap="square">
            <a:spAutoFit/>
          </a:bodyPr>
          <a:lstStyle/>
          <a:p>
            <a:pPr algn="l"/>
            <a:r>
              <a:rPr sz="1200" b="1" i="0">
                <a:solidFill>
                  <a:srgbClr val="0A0A0A"/>
                </a:solidFill>
              </a:rPr>
              <a:t>Pin Your Store</a:t>
            </a:r>
          </a:p>
        </p:txBody>
      </p:sp>
      <p:sp>
        <p:nvSpPr>
          <p:cNvPr id="21" name="TextBox 20"/>
          <p:cNvSpPr txBox="1"/>
          <p:nvPr/>
        </p:nvSpPr>
        <p:spPr>
          <a:xfrm>
            <a:off x="566928" y="4828032"/>
            <a:ext cx="5349240" cy="1005840"/>
          </a:xfrm>
          <a:prstGeom prst="rect">
            <a:avLst/>
          </a:prstGeom>
          <a:noFill/>
        </p:spPr>
        <p:txBody>
          <a:bodyPr wrap="square">
            <a:spAutoFit/>
          </a:bodyPr>
          <a:lstStyle/>
          <a:p>
            <a:pPr algn="l"/>
            <a:r>
              <a:rPr sz="1000" b="0" i="0">
                <a:solidFill>
                  <a:srgbClr val="4B5563"/>
                </a:solidFill>
              </a:rPr>
              <a:t>Customers can pin your store as their favourite, giving your logo a prominent permanent position on their personal home screen.</a:t>
            </a:r>
          </a:p>
        </p:txBody>
      </p:sp>
      <p:sp>
        <p:nvSpPr>
          <p:cNvPr id="22" name="Rectangle 21"/>
          <p:cNvSpPr/>
          <p:nvPr/>
        </p:nvSpPr>
        <p:spPr>
          <a:xfrm>
            <a:off x="6400800" y="4297680"/>
            <a:ext cx="5577840" cy="164592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0" y="4297680"/>
            <a:ext cx="45720" cy="16459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10528" y="4407408"/>
            <a:ext cx="457200" cy="411480"/>
          </a:xfrm>
          <a:prstGeom prst="rect">
            <a:avLst/>
          </a:prstGeom>
          <a:noFill/>
        </p:spPr>
        <p:txBody>
          <a:bodyPr wrap="square">
            <a:spAutoFit/>
          </a:bodyPr>
          <a:lstStyle/>
          <a:p>
            <a:pPr algn="l"/>
            <a:r>
              <a:rPr sz="2000" b="0" i="0">
                <a:solidFill>
                  <a:srgbClr val="C9A84C"/>
                </a:solidFill>
              </a:rPr>
              <a:t>⚡</a:t>
            </a:r>
          </a:p>
        </p:txBody>
      </p:sp>
      <p:sp>
        <p:nvSpPr>
          <p:cNvPr id="25" name="TextBox 24"/>
          <p:cNvSpPr txBox="1"/>
          <p:nvPr/>
        </p:nvSpPr>
        <p:spPr>
          <a:xfrm>
            <a:off x="6995160" y="4407408"/>
            <a:ext cx="4846320" cy="347472"/>
          </a:xfrm>
          <a:prstGeom prst="rect">
            <a:avLst/>
          </a:prstGeom>
          <a:noFill/>
        </p:spPr>
        <p:txBody>
          <a:bodyPr wrap="square">
            <a:spAutoFit/>
          </a:bodyPr>
          <a:lstStyle/>
          <a:p>
            <a:pPr algn="l"/>
            <a:r>
              <a:rPr sz="1200" b="1" i="0">
                <a:solidFill>
                  <a:srgbClr val="0A0A0A"/>
                </a:solidFill>
              </a:rPr>
              <a:t>One-Tap Bidding</a:t>
            </a:r>
          </a:p>
        </p:txBody>
      </p:sp>
      <p:sp>
        <p:nvSpPr>
          <p:cNvPr id="26" name="TextBox 25"/>
          <p:cNvSpPr txBox="1"/>
          <p:nvPr/>
        </p:nvSpPr>
        <p:spPr>
          <a:xfrm>
            <a:off x="6510528" y="4828032"/>
            <a:ext cx="5349240" cy="1005840"/>
          </a:xfrm>
          <a:prstGeom prst="rect">
            <a:avLst/>
          </a:prstGeom>
          <a:noFill/>
        </p:spPr>
        <p:txBody>
          <a:bodyPr wrap="square">
            <a:spAutoFit/>
          </a:bodyPr>
          <a:lstStyle/>
          <a:p>
            <a:pPr algn="l"/>
            <a:r>
              <a:rPr sz="1000" b="0" i="0">
                <a:solidFill>
                  <a:srgbClr val="4B5563"/>
                </a:solidFill>
              </a:rPr>
              <a:t>Customers bid with a single tap without ever leaving the home screen. A sliding panel shows all their active bids across all stores simultaneously.</a:t>
            </a:r>
          </a:p>
        </p:txBody>
      </p:sp>
      <p:sp>
        <p:nvSpPr>
          <p:cNvPr id="27" name="TextBox 26"/>
          <p:cNvSpPr txBox="1"/>
          <p:nvPr/>
        </p:nvSpPr>
        <p:spPr>
          <a:xfrm>
            <a:off x="11247120" y="6492240"/>
            <a:ext cx="914400" cy="320040"/>
          </a:xfrm>
          <a:prstGeom prst="rect">
            <a:avLst/>
          </a:prstGeom>
          <a:noFill/>
        </p:spPr>
        <p:txBody>
          <a:bodyPr wrap="square">
            <a:spAutoFit/>
          </a:bodyPr>
          <a:lstStyle/>
          <a:p>
            <a:pPr algn="r"/>
            <a:r>
              <a:rPr sz="900" b="0" i="0">
                <a:solidFill>
                  <a:srgbClr val="9CA3AF"/>
                </a:solidFill>
              </a:rPr>
              <a:t>4 / 14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41248"/>
            <a:ext cx="12188952" cy="640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2286000" cy="502920"/>
          </a:xfrm>
          <a:prstGeom prst="rect">
            <a:avLst/>
          </a:prstGeom>
          <a:noFill/>
        </p:spPr>
        <p:txBody>
          <a:bodyPr wrap="none">
            <a:spAutoFit/>
          </a:bodyPr>
          <a:lstStyle/>
          <a:p>
            <a:r>
              <a:rPr sz="2200" b="1">
                <a:solidFill>
                  <a:srgbClr val="0A0A0A"/>
                </a:solidFill>
              </a:rPr>
              <a:t>Bizi</a:t>
            </a:r>
            <a:r>
              <a:rPr sz="2200" b="1">
                <a:solidFill>
                  <a:srgbClr val="C9A84C"/>
                </a:solidFill>
              </a:rPr>
              <a:t>Bid</a:t>
            </a:r>
          </a:p>
        </p:txBody>
      </p:sp>
      <p:sp>
        <p:nvSpPr>
          <p:cNvPr id="4" name="TextBox 3"/>
          <p:cNvSpPr txBox="1"/>
          <p:nvPr/>
        </p:nvSpPr>
        <p:spPr>
          <a:xfrm>
            <a:off x="457200" y="960120"/>
            <a:ext cx="7315200" cy="292608"/>
          </a:xfrm>
          <a:prstGeom prst="rect">
            <a:avLst/>
          </a:prstGeom>
          <a:noFill/>
        </p:spPr>
        <p:txBody>
          <a:bodyPr wrap="square">
            <a:spAutoFit/>
          </a:bodyPr>
          <a:lstStyle/>
          <a:p>
            <a:pPr algn="l"/>
            <a:r>
              <a:rPr sz="900" b="1" i="0">
                <a:solidFill>
                  <a:srgbClr val="C9A84C"/>
                </a:solidFill>
              </a:rPr>
              <a:t>FEATURE — AUCTIONS</a:t>
            </a:r>
          </a:p>
        </p:txBody>
      </p:sp>
      <p:sp>
        <p:nvSpPr>
          <p:cNvPr id="5" name="TextBox 4"/>
          <p:cNvSpPr txBox="1"/>
          <p:nvPr/>
        </p:nvSpPr>
        <p:spPr>
          <a:xfrm>
            <a:off x="457200" y="1325880"/>
            <a:ext cx="11247120" cy="777240"/>
          </a:xfrm>
          <a:prstGeom prst="rect">
            <a:avLst/>
          </a:prstGeom>
          <a:noFill/>
        </p:spPr>
        <p:txBody>
          <a:bodyPr wrap="square">
            <a:spAutoFit/>
          </a:bodyPr>
          <a:lstStyle/>
          <a:p>
            <a:pPr algn="l"/>
            <a:r>
              <a:rPr sz="3000" b="1" i="0">
                <a:solidFill>
                  <a:srgbClr val="0A0A0A"/>
                </a:solidFill>
              </a:rPr>
              <a:t>Live Auctions — Excitement That Sells</a:t>
            </a:r>
          </a:p>
        </p:txBody>
      </p:sp>
      <p:sp>
        <p:nvSpPr>
          <p:cNvPr id="6" name="TextBox 5"/>
          <p:cNvSpPr txBox="1"/>
          <p:nvPr/>
        </p:nvSpPr>
        <p:spPr>
          <a:xfrm>
            <a:off x="457200" y="1920240"/>
            <a:ext cx="11247120" cy="411480"/>
          </a:xfrm>
          <a:prstGeom prst="rect">
            <a:avLst/>
          </a:prstGeom>
          <a:noFill/>
        </p:spPr>
        <p:txBody>
          <a:bodyPr wrap="square">
            <a:spAutoFit/>
          </a:bodyPr>
          <a:lstStyle/>
          <a:p>
            <a:pPr algn="l"/>
            <a:r>
              <a:rPr sz="1500" b="0" i="0">
                <a:solidFill>
                  <a:srgbClr val="4B5563"/>
                </a:solidFill>
              </a:rPr>
              <a:t>Customers compete in real-time for your products. The excitement keeps them engaged and coming back.</a:t>
            </a:r>
          </a:p>
        </p:txBody>
      </p:sp>
      <p:sp>
        <p:nvSpPr>
          <p:cNvPr id="7" name="TextBox 6"/>
          <p:cNvSpPr txBox="1"/>
          <p:nvPr/>
        </p:nvSpPr>
        <p:spPr>
          <a:xfrm>
            <a:off x="457200" y="2331720"/>
            <a:ext cx="5486400" cy="3840480"/>
          </a:xfrm>
          <a:prstGeom prst="rect">
            <a:avLst/>
          </a:prstGeom>
          <a:noFill/>
        </p:spPr>
        <p:txBody>
          <a:bodyPr wrap="square">
            <a:spAutoFit/>
          </a:bodyPr>
          <a:lstStyle/>
          <a:p>
            <a:r>
              <a:rPr sz="1300">
                <a:solidFill>
                  <a:srgbClr val="0A0A0A"/>
                </a:solidFill>
              </a:rPr>
              <a:t>▶  You upload products with a starting bid price (set below shelf price)</a:t>
            </a:r>
          </a:p>
          <a:p>
            <a:pPr>
              <a:spcBef>
                <a:spcPts val="500"/>
              </a:spcBef>
            </a:pPr>
            <a:r>
              <a:rPr sz="1300">
                <a:solidFill>
                  <a:srgbClr val="0A0A0A"/>
                </a:solidFill>
              </a:rPr>
              <a:t>▶  Up to 25 items per week rotate through the platform automatically</a:t>
            </a:r>
          </a:p>
          <a:p>
            <a:pPr>
              <a:spcBef>
                <a:spcPts val="500"/>
              </a:spcBef>
            </a:pPr>
            <a:r>
              <a:rPr sz="1300">
                <a:solidFill>
                  <a:srgbClr val="0A0A0A"/>
                </a:solidFill>
              </a:rPr>
              <a:t>▶  5 new items are released each day at varied morning hours — keeping customers checking in daily</a:t>
            </a:r>
          </a:p>
          <a:p>
            <a:pPr>
              <a:spcBef>
                <a:spcPts val="500"/>
              </a:spcBef>
            </a:pPr>
            <a:r>
              <a:rPr sz="1300">
                <a:solidFill>
                  <a:srgbClr val="0A0A0A"/>
                </a:solidFill>
              </a:rPr>
              <a:t>▶  Auctions run for 3, 7, or 14 days depending on the item</a:t>
            </a:r>
          </a:p>
          <a:p>
            <a:pPr>
              <a:spcBef>
                <a:spcPts val="500"/>
              </a:spcBef>
            </a:pPr>
            <a:r>
              <a:rPr sz="1300">
                <a:solidFill>
                  <a:srgbClr val="0A0A0A"/>
                </a:solidFill>
              </a:rPr>
              <a:t>▶  Real-time bidding — customers see bids update live on their screen</a:t>
            </a:r>
          </a:p>
          <a:p>
            <a:pPr>
              <a:spcBef>
                <a:spcPts val="500"/>
              </a:spcBef>
            </a:pPr>
            <a:r>
              <a:rPr sz="1300">
                <a:solidFill>
                  <a:srgbClr val="0A0A0A"/>
                </a:solidFill>
              </a:rPr>
              <a:t>▶  Unsold items re-enter the rotation for the following week automatically</a:t>
            </a:r>
          </a:p>
        </p:txBody>
      </p:sp>
      <p:sp>
        <p:nvSpPr>
          <p:cNvPr id="8" name="Rectangle 7"/>
          <p:cNvSpPr/>
          <p:nvPr/>
        </p:nvSpPr>
        <p:spPr>
          <a:xfrm>
            <a:off x="6400800" y="2331720"/>
            <a:ext cx="5303520" cy="384048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0" y="2331720"/>
            <a:ext cx="530352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423160"/>
            <a:ext cx="4937760" cy="411480"/>
          </a:xfrm>
          <a:prstGeom prst="rect">
            <a:avLst/>
          </a:prstGeom>
          <a:noFill/>
        </p:spPr>
        <p:txBody>
          <a:bodyPr wrap="square">
            <a:spAutoFit/>
          </a:bodyPr>
          <a:lstStyle/>
          <a:p>
            <a:pPr algn="l"/>
            <a:r>
              <a:rPr sz="1300" b="1" i="0">
                <a:solidFill>
                  <a:srgbClr val="C9A84C"/>
                </a:solidFill>
              </a:rPr>
              <a:t>When a Customer Wins</a:t>
            </a:r>
          </a:p>
        </p:txBody>
      </p:sp>
      <p:sp>
        <p:nvSpPr>
          <p:cNvPr id="11" name="TextBox 10"/>
          <p:cNvSpPr txBox="1"/>
          <p:nvPr/>
        </p:nvSpPr>
        <p:spPr>
          <a:xfrm>
            <a:off x="6583680" y="2926080"/>
            <a:ext cx="4846320" cy="3017520"/>
          </a:xfrm>
          <a:prstGeom prst="rect">
            <a:avLst/>
          </a:prstGeom>
          <a:noFill/>
        </p:spPr>
        <p:txBody>
          <a:bodyPr wrap="square">
            <a:spAutoFit/>
          </a:bodyPr>
          <a:lstStyle/>
          <a:p>
            <a:pPr>
              <a:spcBef>
                <a:spcPts val="700"/>
              </a:spcBef>
            </a:pPr>
            <a:r>
              <a:rPr sz="1200">
                <a:solidFill>
                  <a:srgbClr val="FFFFFF"/>
                </a:solidFill>
              </a:rPr>
              <a:t>1  Auction closes — winner is confirmed</a:t>
            </a:r>
          </a:p>
          <a:p>
            <a:pPr>
              <a:spcBef>
                <a:spcPts val="700"/>
              </a:spcBef>
            </a:pPr>
            <a:r>
              <a:rPr sz="1200">
                <a:solidFill>
                  <a:srgbClr val="FFFFFF"/>
                </a:solidFill>
              </a:rPr>
              <a:t>2  A unique collection code is generated</a:t>
            </a:r>
          </a:p>
          <a:p>
            <a:pPr>
              <a:spcBef>
                <a:spcPts val="700"/>
              </a:spcBef>
            </a:pPr>
            <a:r>
              <a:rPr sz="1200">
                <a:solidFill>
                  <a:srgbClr val="FFFFFF"/>
                </a:solidFill>
              </a:rPr>
              <a:t>3  Winner receives code on their phone</a:t>
            </a:r>
          </a:p>
          <a:p>
            <a:pPr>
              <a:spcBef>
                <a:spcPts val="700"/>
              </a:spcBef>
            </a:pPr>
            <a:r>
              <a:rPr sz="1200">
                <a:solidFill>
                  <a:srgbClr val="FFFFFF"/>
                </a:solidFill>
              </a:rPr>
              <a:t>4  Winner visits your store and shows code to cashier</a:t>
            </a:r>
          </a:p>
          <a:p>
            <a:pPr>
              <a:spcBef>
                <a:spcPts val="700"/>
              </a:spcBef>
            </a:pPr>
            <a:r>
              <a:rPr sz="1200">
                <a:solidFill>
                  <a:srgbClr val="FFFFFF"/>
                </a:solidFill>
              </a:rPr>
              <a:t>5  Cashier confirms the code — item is collected</a:t>
            </a:r>
          </a:p>
          <a:p>
            <a:pPr>
              <a:spcBef>
                <a:spcPts val="700"/>
              </a:spcBef>
            </a:pPr>
            <a:r>
              <a:rPr sz="1200">
                <a:solidFill>
                  <a:srgbClr val="FFFFFF"/>
                </a:solidFill>
              </a:rPr>
              <a:t>6  Record of the sale is stored in your portal</a:t>
            </a:r>
          </a:p>
        </p:txBody>
      </p:sp>
      <p:sp>
        <p:nvSpPr>
          <p:cNvPr id="12" name="TextBox 11"/>
          <p:cNvSpPr txBox="1"/>
          <p:nvPr/>
        </p:nvSpPr>
        <p:spPr>
          <a:xfrm>
            <a:off x="6583680" y="5806440"/>
            <a:ext cx="4846320" cy="347472"/>
          </a:xfrm>
          <a:prstGeom prst="rect">
            <a:avLst/>
          </a:prstGeom>
          <a:noFill/>
        </p:spPr>
        <p:txBody>
          <a:bodyPr wrap="square">
            <a:spAutoFit/>
          </a:bodyPr>
          <a:lstStyle/>
          <a:p>
            <a:pPr algn="l"/>
            <a:r>
              <a:rPr sz="1000" b="0" i="1">
                <a:solidFill>
                  <a:srgbClr val="9CA3AF"/>
                </a:solidFill>
              </a:rPr>
              <a:t>No online payment needed — all purchases are cash in-store.</a:t>
            </a:r>
          </a:p>
        </p:txBody>
      </p:sp>
      <p:sp>
        <p:nvSpPr>
          <p:cNvPr id="13" name="TextBox 12"/>
          <p:cNvSpPr txBox="1"/>
          <p:nvPr/>
        </p:nvSpPr>
        <p:spPr>
          <a:xfrm>
            <a:off x="11247120" y="6492240"/>
            <a:ext cx="914400" cy="320040"/>
          </a:xfrm>
          <a:prstGeom prst="rect">
            <a:avLst/>
          </a:prstGeom>
          <a:noFill/>
        </p:spPr>
        <p:txBody>
          <a:bodyPr wrap="square">
            <a:spAutoFit/>
          </a:bodyPr>
          <a:lstStyle/>
          <a:p>
            <a:pPr algn="r"/>
            <a:r>
              <a:rPr sz="900" b="0" i="0">
                <a:solidFill>
                  <a:srgbClr val="9CA3AF"/>
                </a:solidFill>
              </a:rPr>
              <a:t>5 / 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41248"/>
            <a:ext cx="12188952" cy="640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2286000" cy="502920"/>
          </a:xfrm>
          <a:prstGeom prst="rect">
            <a:avLst/>
          </a:prstGeom>
          <a:noFill/>
        </p:spPr>
        <p:txBody>
          <a:bodyPr wrap="none">
            <a:spAutoFit/>
          </a:bodyPr>
          <a:lstStyle/>
          <a:p>
            <a:r>
              <a:rPr sz="2200" b="1">
                <a:solidFill>
                  <a:srgbClr val="0A0A0A"/>
                </a:solidFill>
              </a:rPr>
              <a:t>Bizi</a:t>
            </a:r>
            <a:r>
              <a:rPr sz="2200" b="1">
                <a:solidFill>
                  <a:srgbClr val="C9A84C"/>
                </a:solidFill>
              </a:rPr>
              <a:t>Bid</a:t>
            </a:r>
          </a:p>
        </p:txBody>
      </p:sp>
      <p:sp>
        <p:nvSpPr>
          <p:cNvPr id="4" name="TextBox 3"/>
          <p:cNvSpPr txBox="1"/>
          <p:nvPr/>
        </p:nvSpPr>
        <p:spPr>
          <a:xfrm>
            <a:off x="457200" y="960120"/>
            <a:ext cx="7315200" cy="292608"/>
          </a:xfrm>
          <a:prstGeom prst="rect">
            <a:avLst/>
          </a:prstGeom>
          <a:noFill/>
        </p:spPr>
        <p:txBody>
          <a:bodyPr wrap="square">
            <a:spAutoFit/>
          </a:bodyPr>
          <a:lstStyle/>
          <a:p>
            <a:pPr algn="l"/>
            <a:r>
              <a:rPr sz="900" b="1" i="0">
                <a:solidFill>
                  <a:srgbClr val="C9A84C"/>
                </a:solidFill>
              </a:rPr>
              <a:t>FEATURE — DEALS</a:t>
            </a:r>
          </a:p>
        </p:txBody>
      </p:sp>
      <p:sp>
        <p:nvSpPr>
          <p:cNvPr id="5" name="TextBox 4"/>
          <p:cNvSpPr txBox="1"/>
          <p:nvPr/>
        </p:nvSpPr>
        <p:spPr>
          <a:xfrm>
            <a:off x="457200" y="1325880"/>
            <a:ext cx="11247120" cy="777240"/>
          </a:xfrm>
          <a:prstGeom prst="rect">
            <a:avLst/>
          </a:prstGeom>
          <a:noFill/>
        </p:spPr>
        <p:txBody>
          <a:bodyPr wrap="square">
            <a:spAutoFit/>
          </a:bodyPr>
          <a:lstStyle/>
          <a:p>
            <a:pPr algn="l"/>
            <a:r>
              <a:rPr sz="3000" b="1" i="0">
                <a:solidFill>
                  <a:srgbClr val="0A0A0A"/>
                </a:solidFill>
              </a:rPr>
              <a:t>Deals of the Week &amp; Month — Drive Foot Traffic</a:t>
            </a:r>
          </a:p>
        </p:txBody>
      </p:sp>
      <p:sp>
        <p:nvSpPr>
          <p:cNvPr id="6" name="TextBox 5"/>
          <p:cNvSpPr txBox="1"/>
          <p:nvPr/>
        </p:nvSpPr>
        <p:spPr>
          <a:xfrm>
            <a:off x="457200" y="1920240"/>
            <a:ext cx="11247120" cy="411480"/>
          </a:xfrm>
          <a:prstGeom prst="rect">
            <a:avLst/>
          </a:prstGeom>
          <a:noFill/>
        </p:spPr>
        <p:txBody>
          <a:bodyPr wrap="square">
            <a:spAutoFit/>
          </a:bodyPr>
          <a:lstStyle/>
          <a:p>
            <a:pPr algn="l"/>
            <a:r>
              <a:rPr sz="1500" b="0" i="0">
                <a:solidFill>
                  <a:srgbClr val="4B5563"/>
                </a:solidFill>
              </a:rPr>
              <a:t>Fixed-price deals showcase your best offers and bring customers through your doors.</a:t>
            </a:r>
          </a:p>
        </p:txBody>
      </p:sp>
      <p:sp>
        <p:nvSpPr>
          <p:cNvPr id="7" name="TextBox 6"/>
          <p:cNvSpPr txBox="1"/>
          <p:nvPr/>
        </p:nvSpPr>
        <p:spPr>
          <a:xfrm>
            <a:off x="457200" y="2331720"/>
            <a:ext cx="6858000" cy="3840480"/>
          </a:xfrm>
          <a:prstGeom prst="rect">
            <a:avLst/>
          </a:prstGeom>
          <a:noFill/>
        </p:spPr>
        <p:txBody>
          <a:bodyPr wrap="square">
            <a:spAutoFit/>
          </a:bodyPr>
          <a:lstStyle/>
          <a:p>
            <a:r>
              <a:rPr sz="1300">
                <a:solidFill>
                  <a:srgbClr val="0A0A0A"/>
                </a:solidFill>
              </a:rPr>
              <a:t>▶  You set a fixed price — no bidding, no auction pressure</a:t>
            </a:r>
          </a:p>
          <a:p>
            <a:pPr>
              <a:spcBef>
                <a:spcPts val="500"/>
              </a:spcBef>
            </a:pPr>
            <a:r>
              <a:rPr sz="1300">
                <a:solidFill>
                  <a:srgbClr val="0A0A0A"/>
                </a:solidFill>
              </a:rPr>
              <a:t>▶  Customers see your deal prominently in the app all week or all month</a:t>
            </a:r>
          </a:p>
          <a:p>
            <a:pPr>
              <a:spcBef>
                <a:spcPts val="500"/>
              </a:spcBef>
            </a:pPr>
            <a:r>
              <a:rPr sz="1300">
                <a:solidFill>
                  <a:srgbClr val="0A0A0A"/>
                </a:solidFill>
              </a:rPr>
              <a:t>▶  Customers can Like the deal — like count is visible to all users (social proof)</a:t>
            </a:r>
          </a:p>
          <a:p>
            <a:pPr>
              <a:spcBef>
                <a:spcPts val="500"/>
              </a:spcBef>
            </a:pPr>
            <a:r>
              <a:rPr sz="1300">
                <a:solidFill>
                  <a:srgbClr val="0A0A0A"/>
                </a:solidFill>
              </a:rPr>
              <a:t>▶  Customers share deals directly to WhatsApp, Instagram, and other platforms</a:t>
            </a:r>
          </a:p>
          <a:p>
            <a:pPr>
              <a:spcBef>
                <a:spcPts val="500"/>
              </a:spcBef>
            </a:pPr>
            <a:r>
              <a:rPr sz="1300">
                <a:solidFill>
                  <a:srgbClr val="0A0A0A"/>
                </a:solidFill>
              </a:rPr>
              <a:t>▶  Shared links show the deal to people who do not yet have the app — driving new downloads</a:t>
            </a:r>
          </a:p>
          <a:p>
            <a:pPr>
              <a:spcBef>
                <a:spcPts val="500"/>
              </a:spcBef>
            </a:pPr>
            <a:r>
              <a:rPr sz="1300">
                <a:solidFill>
                  <a:srgbClr val="0A0A0A"/>
                </a:solidFill>
              </a:rPr>
              <a:t>▶  Walk-in customers ask for the deal by name — increased foot traffic guaranteed</a:t>
            </a:r>
          </a:p>
          <a:p>
            <a:pPr>
              <a:spcBef>
                <a:spcPts val="500"/>
              </a:spcBef>
            </a:pPr>
            <a:r>
              <a:rPr sz="1300">
                <a:solidFill>
                  <a:srgbClr val="0A0A0A"/>
                </a:solidFill>
              </a:rPr>
              <a:t>▶  Deals of the Month offer extended 30-day visibility at premium placement</a:t>
            </a:r>
          </a:p>
        </p:txBody>
      </p:sp>
      <p:sp>
        <p:nvSpPr>
          <p:cNvPr id="8" name="Rectangle 7"/>
          <p:cNvSpPr/>
          <p:nvPr/>
        </p:nvSpPr>
        <p:spPr>
          <a:xfrm>
            <a:off x="7589520" y="2331720"/>
            <a:ext cx="4114800" cy="173736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589520" y="2331720"/>
            <a:ext cx="54864" cy="17373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0" y="2423160"/>
            <a:ext cx="3749039" cy="347472"/>
          </a:xfrm>
          <a:prstGeom prst="rect">
            <a:avLst/>
          </a:prstGeom>
          <a:noFill/>
        </p:spPr>
        <p:txBody>
          <a:bodyPr wrap="square">
            <a:spAutoFit/>
          </a:bodyPr>
          <a:lstStyle/>
          <a:p>
            <a:pPr algn="l"/>
            <a:r>
              <a:rPr sz="1200" b="1" i="0">
                <a:solidFill>
                  <a:srgbClr val="0A0A0A"/>
                </a:solidFill>
              </a:rPr>
              <a:t>Deal of the Week</a:t>
            </a:r>
          </a:p>
        </p:txBody>
      </p:sp>
      <p:sp>
        <p:nvSpPr>
          <p:cNvPr id="11" name="TextBox 10"/>
          <p:cNvSpPr txBox="1"/>
          <p:nvPr/>
        </p:nvSpPr>
        <p:spPr>
          <a:xfrm>
            <a:off x="7772400" y="2834640"/>
            <a:ext cx="3657600" cy="1097280"/>
          </a:xfrm>
          <a:prstGeom prst="rect">
            <a:avLst/>
          </a:prstGeom>
          <a:noFill/>
        </p:spPr>
        <p:txBody>
          <a:bodyPr wrap="square">
            <a:spAutoFit/>
          </a:bodyPr>
          <a:lstStyle/>
          <a:p>
            <a:pPr algn="l"/>
            <a:r>
              <a:rPr sz="1100" b="0" i="0">
                <a:solidFill>
                  <a:srgbClr val="4B5563"/>
                </a:solidFill>
              </a:rPr>
              <a:t>7-day fixed-price feature
Premium placement in app
Like + Share enabled
Drives walk-in purchase</a:t>
            </a:r>
          </a:p>
        </p:txBody>
      </p:sp>
      <p:sp>
        <p:nvSpPr>
          <p:cNvPr id="12" name="Rectangle 11"/>
          <p:cNvSpPr/>
          <p:nvPr/>
        </p:nvSpPr>
        <p:spPr>
          <a:xfrm>
            <a:off x="7589520" y="4206240"/>
            <a:ext cx="4114800" cy="173736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89520" y="4206240"/>
            <a:ext cx="54864" cy="17373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4297680"/>
            <a:ext cx="3749039" cy="347472"/>
          </a:xfrm>
          <a:prstGeom prst="rect">
            <a:avLst/>
          </a:prstGeom>
          <a:noFill/>
        </p:spPr>
        <p:txBody>
          <a:bodyPr wrap="square">
            <a:spAutoFit/>
          </a:bodyPr>
          <a:lstStyle/>
          <a:p>
            <a:pPr algn="l"/>
            <a:r>
              <a:rPr sz="1200" b="1" i="0">
                <a:solidFill>
                  <a:srgbClr val="C9A84C"/>
                </a:solidFill>
              </a:rPr>
              <a:t>Deal of the Month</a:t>
            </a:r>
          </a:p>
        </p:txBody>
      </p:sp>
      <p:sp>
        <p:nvSpPr>
          <p:cNvPr id="15" name="TextBox 14"/>
          <p:cNvSpPr txBox="1"/>
          <p:nvPr/>
        </p:nvSpPr>
        <p:spPr>
          <a:xfrm>
            <a:off x="7772400" y="4709160"/>
            <a:ext cx="3657600" cy="1097280"/>
          </a:xfrm>
          <a:prstGeom prst="rect">
            <a:avLst/>
          </a:prstGeom>
          <a:noFill/>
        </p:spPr>
        <p:txBody>
          <a:bodyPr wrap="square">
            <a:spAutoFit/>
          </a:bodyPr>
          <a:lstStyle/>
          <a:p>
            <a:pPr algn="l"/>
            <a:r>
              <a:rPr sz="1100" b="0" i="0">
                <a:solidFill>
                  <a:srgbClr val="C0C8D8"/>
                </a:solidFill>
              </a:rPr>
              <a:t>Full 30-day visibility
Top placement position
Maximum brand exposure
Ideal for key product lines</a:t>
            </a:r>
          </a:p>
        </p:txBody>
      </p:sp>
      <p:sp>
        <p:nvSpPr>
          <p:cNvPr id="16" name="TextBox 15"/>
          <p:cNvSpPr txBox="1"/>
          <p:nvPr/>
        </p:nvSpPr>
        <p:spPr>
          <a:xfrm>
            <a:off x="11247120" y="6492240"/>
            <a:ext cx="914400" cy="320040"/>
          </a:xfrm>
          <a:prstGeom prst="rect">
            <a:avLst/>
          </a:prstGeom>
          <a:noFill/>
        </p:spPr>
        <p:txBody>
          <a:bodyPr wrap="square">
            <a:spAutoFit/>
          </a:bodyPr>
          <a:lstStyle/>
          <a:p>
            <a:pPr algn="r"/>
            <a:r>
              <a:rPr sz="900" b="0" i="0">
                <a:solidFill>
                  <a:srgbClr val="9CA3AF"/>
                </a:solidFill>
              </a:rPr>
              <a:t>6 / 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41248"/>
            <a:ext cx="12188952" cy="640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2286000" cy="502920"/>
          </a:xfrm>
          <a:prstGeom prst="rect">
            <a:avLst/>
          </a:prstGeom>
          <a:noFill/>
        </p:spPr>
        <p:txBody>
          <a:bodyPr wrap="none">
            <a:spAutoFit/>
          </a:bodyPr>
          <a:lstStyle/>
          <a:p>
            <a:r>
              <a:rPr sz="2200" b="1">
                <a:solidFill>
                  <a:srgbClr val="0A0A0A"/>
                </a:solidFill>
              </a:rPr>
              <a:t>Bizi</a:t>
            </a:r>
            <a:r>
              <a:rPr sz="2200" b="1">
                <a:solidFill>
                  <a:srgbClr val="C9A84C"/>
                </a:solidFill>
              </a:rPr>
              <a:t>Bid</a:t>
            </a:r>
          </a:p>
        </p:txBody>
      </p:sp>
      <p:sp>
        <p:nvSpPr>
          <p:cNvPr id="4" name="TextBox 3"/>
          <p:cNvSpPr txBox="1"/>
          <p:nvPr/>
        </p:nvSpPr>
        <p:spPr>
          <a:xfrm>
            <a:off x="457200" y="960120"/>
            <a:ext cx="7315200" cy="292608"/>
          </a:xfrm>
          <a:prstGeom prst="rect">
            <a:avLst/>
          </a:prstGeom>
          <a:noFill/>
        </p:spPr>
        <p:txBody>
          <a:bodyPr wrap="square">
            <a:spAutoFit/>
          </a:bodyPr>
          <a:lstStyle/>
          <a:p>
            <a:pPr algn="l"/>
            <a:r>
              <a:rPr sz="900" b="1" i="0">
                <a:solidFill>
                  <a:srgbClr val="C9A84C"/>
                </a:solidFill>
              </a:rPr>
              <a:t>YOUR BACK-OFFICE — BIZIBID.COM</a:t>
            </a:r>
          </a:p>
        </p:txBody>
      </p:sp>
      <p:sp>
        <p:nvSpPr>
          <p:cNvPr id="5" name="TextBox 4"/>
          <p:cNvSpPr txBox="1"/>
          <p:nvPr/>
        </p:nvSpPr>
        <p:spPr>
          <a:xfrm>
            <a:off x="457200" y="1325880"/>
            <a:ext cx="11247120" cy="777240"/>
          </a:xfrm>
          <a:prstGeom prst="rect">
            <a:avLst/>
          </a:prstGeom>
          <a:noFill/>
        </p:spPr>
        <p:txBody>
          <a:bodyPr wrap="square">
            <a:spAutoFit/>
          </a:bodyPr>
          <a:lstStyle/>
          <a:p>
            <a:pPr algn="l"/>
            <a:r>
              <a:rPr sz="3000" b="1" i="0">
                <a:solidFill>
                  <a:srgbClr val="0A0A0A"/>
                </a:solidFill>
              </a:rPr>
              <a:t>Your Private Management Portal</a:t>
            </a:r>
          </a:p>
        </p:txBody>
      </p:sp>
      <p:sp>
        <p:nvSpPr>
          <p:cNvPr id="6" name="TextBox 5"/>
          <p:cNvSpPr txBox="1"/>
          <p:nvPr/>
        </p:nvSpPr>
        <p:spPr>
          <a:xfrm>
            <a:off x="457200" y="1920240"/>
            <a:ext cx="11247120" cy="411480"/>
          </a:xfrm>
          <a:prstGeom prst="rect">
            <a:avLst/>
          </a:prstGeom>
          <a:noFill/>
        </p:spPr>
        <p:txBody>
          <a:bodyPr wrap="square">
            <a:spAutoFit/>
          </a:bodyPr>
          <a:lstStyle/>
          <a:p>
            <a:pPr algn="l"/>
            <a:r>
              <a:rPr sz="1500" b="0" i="0">
                <a:solidFill>
                  <a:srgbClr val="4B5563"/>
                </a:solidFill>
              </a:rPr>
              <a:t>Log in at BiziBid.com to manage your entire BiziBid presence — available 24/7 from any browser.</a:t>
            </a:r>
          </a:p>
        </p:txBody>
      </p:sp>
      <p:sp>
        <p:nvSpPr>
          <p:cNvPr id="7" name="Rectangle 6"/>
          <p:cNvSpPr/>
          <p:nvPr/>
        </p:nvSpPr>
        <p:spPr>
          <a:xfrm>
            <a:off x="365760" y="2377440"/>
            <a:ext cx="3657600" cy="160020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2377440"/>
            <a:ext cx="45720" cy="16002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 y="2487168"/>
            <a:ext cx="457200" cy="411480"/>
          </a:xfrm>
          <a:prstGeom prst="rect">
            <a:avLst/>
          </a:prstGeom>
          <a:noFill/>
        </p:spPr>
        <p:txBody>
          <a:bodyPr wrap="square">
            <a:spAutoFit/>
          </a:bodyPr>
          <a:lstStyle/>
          <a:p>
            <a:pPr algn="l"/>
            <a:r>
              <a:rPr sz="2000" b="0" i="0">
                <a:solidFill>
                  <a:srgbClr val="C9A84C"/>
                </a:solidFill>
              </a:rPr>
              <a:t>📦</a:t>
            </a:r>
          </a:p>
        </p:txBody>
      </p:sp>
      <p:sp>
        <p:nvSpPr>
          <p:cNvPr id="10" name="TextBox 9"/>
          <p:cNvSpPr txBox="1"/>
          <p:nvPr/>
        </p:nvSpPr>
        <p:spPr>
          <a:xfrm>
            <a:off x="960120" y="2487168"/>
            <a:ext cx="2926080" cy="347472"/>
          </a:xfrm>
          <a:prstGeom prst="rect">
            <a:avLst/>
          </a:prstGeom>
          <a:noFill/>
        </p:spPr>
        <p:txBody>
          <a:bodyPr wrap="square">
            <a:spAutoFit/>
          </a:bodyPr>
          <a:lstStyle/>
          <a:p>
            <a:pPr algn="l"/>
            <a:r>
              <a:rPr sz="1200" b="1" i="0">
                <a:solidFill>
                  <a:srgbClr val="0A0A0A"/>
                </a:solidFill>
              </a:rPr>
              <a:t>Bulk Product Upload</a:t>
            </a:r>
          </a:p>
        </p:txBody>
      </p:sp>
      <p:sp>
        <p:nvSpPr>
          <p:cNvPr id="11" name="TextBox 10"/>
          <p:cNvSpPr txBox="1"/>
          <p:nvPr/>
        </p:nvSpPr>
        <p:spPr>
          <a:xfrm>
            <a:off x="475488" y="2907792"/>
            <a:ext cx="3429000" cy="960120"/>
          </a:xfrm>
          <a:prstGeom prst="rect">
            <a:avLst/>
          </a:prstGeom>
          <a:noFill/>
        </p:spPr>
        <p:txBody>
          <a:bodyPr wrap="square">
            <a:spAutoFit/>
          </a:bodyPr>
          <a:lstStyle/>
          <a:p>
            <a:pPr algn="l"/>
            <a:r>
              <a:rPr sz="1000" b="0" i="0">
                <a:solidFill>
                  <a:srgbClr val="4B5563"/>
                </a:solidFill>
              </a:rPr>
              <a:t>Upload multiple products at once with images, descriptions, and your chosen starting bid price. No technical knowledge required.</a:t>
            </a:r>
          </a:p>
        </p:txBody>
      </p:sp>
      <p:sp>
        <p:nvSpPr>
          <p:cNvPr id="12" name="Rectangle 11"/>
          <p:cNvSpPr/>
          <p:nvPr/>
        </p:nvSpPr>
        <p:spPr>
          <a:xfrm>
            <a:off x="4297680" y="2377440"/>
            <a:ext cx="3657600" cy="160020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2377440"/>
            <a:ext cx="45720" cy="16002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07408" y="2487168"/>
            <a:ext cx="457200" cy="411480"/>
          </a:xfrm>
          <a:prstGeom prst="rect">
            <a:avLst/>
          </a:prstGeom>
          <a:noFill/>
        </p:spPr>
        <p:txBody>
          <a:bodyPr wrap="square">
            <a:spAutoFit/>
          </a:bodyPr>
          <a:lstStyle/>
          <a:p>
            <a:pPr algn="l"/>
            <a:r>
              <a:rPr sz="2000" b="0" i="0">
                <a:solidFill>
                  <a:srgbClr val="C9A84C"/>
                </a:solidFill>
              </a:rPr>
              <a:t>🏷️</a:t>
            </a:r>
          </a:p>
        </p:txBody>
      </p:sp>
      <p:sp>
        <p:nvSpPr>
          <p:cNvPr id="15" name="TextBox 14"/>
          <p:cNvSpPr txBox="1"/>
          <p:nvPr/>
        </p:nvSpPr>
        <p:spPr>
          <a:xfrm>
            <a:off x="4892040" y="2487168"/>
            <a:ext cx="2926080" cy="347472"/>
          </a:xfrm>
          <a:prstGeom prst="rect">
            <a:avLst/>
          </a:prstGeom>
          <a:noFill/>
        </p:spPr>
        <p:txBody>
          <a:bodyPr wrap="square">
            <a:spAutoFit/>
          </a:bodyPr>
          <a:lstStyle/>
          <a:p>
            <a:pPr algn="l"/>
            <a:r>
              <a:rPr sz="1200" b="1" i="0">
                <a:solidFill>
                  <a:srgbClr val="0A0A0A"/>
                </a:solidFill>
              </a:rPr>
              <a:t>Deals Management</a:t>
            </a:r>
          </a:p>
        </p:txBody>
      </p:sp>
      <p:sp>
        <p:nvSpPr>
          <p:cNvPr id="16" name="TextBox 15"/>
          <p:cNvSpPr txBox="1"/>
          <p:nvPr/>
        </p:nvSpPr>
        <p:spPr>
          <a:xfrm>
            <a:off x="4407408" y="2907792"/>
            <a:ext cx="3429000" cy="960120"/>
          </a:xfrm>
          <a:prstGeom prst="rect">
            <a:avLst/>
          </a:prstGeom>
          <a:noFill/>
        </p:spPr>
        <p:txBody>
          <a:bodyPr wrap="square">
            <a:spAutoFit/>
          </a:bodyPr>
          <a:lstStyle/>
          <a:p>
            <a:pPr algn="l"/>
            <a:r>
              <a:rPr sz="1000" b="0" i="0">
                <a:solidFill>
                  <a:srgbClr val="4B5563"/>
                </a:solidFill>
              </a:rPr>
              <a:t>Create and schedule Deals of the Week and Deals of the Month. Set your own price and valid dates. Activate with one click.</a:t>
            </a:r>
          </a:p>
        </p:txBody>
      </p:sp>
      <p:sp>
        <p:nvSpPr>
          <p:cNvPr id="17" name="Rectangle 16"/>
          <p:cNvSpPr/>
          <p:nvPr/>
        </p:nvSpPr>
        <p:spPr>
          <a:xfrm>
            <a:off x="8229600" y="2377440"/>
            <a:ext cx="3657600" cy="160020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29600" y="2377440"/>
            <a:ext cx="45720" cy="16002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39327" y="2487168"/>
            <a:ext cx="457200" cy="411480"/>
          </a:xfrm>
          <a:prstGeom prst="rect">
            <a:avLst/>
          </a:prstGeom>
          <a:noFill/>
        </p:spPr>
        <p:txBody>
          <a:bodyPr wrap="square">
            <a:spAutoFit/>
          </a:bodyPr>
          <a:lstStyle/>
          <a:p>
            <a:pPr algn="l"/>
            <a:r>
              <a:rPr sz="2000" b="0" i="0">
                <a:solidFill>
                  <a:srgbClr val="C9A84C"/>
                </a:solidFill>
              </a:rPr>
              <a:t>🏆</a:t>
            </a:r>
          </a:p>
        </p:txBody>
      </p:sp>
      <p:sp>
        <p:nvSpPr>
          <p:cNvPr id="20" name="TextBox 19"/>
          <p:cNvSpPr txBox="1"/>
          <p:nvPr/>
        </p:nvSpPr>
        <p:spPr>
          <a:xfrm>
            <a:off x="8823960" y="2487168"/>
            <a:ext cx="2926080" cy="347472"/>
          </a:xfrm>
          <a:prstGeom prst="rect">
            <a:avLst/>
          </a:prstGeom>
          <a:noFill/>
        </p:spPr>
        <p:txBody>
          <a:bodyPr wrap="square">
            <a:spAutoFit/>
          </a:bodyPr>
          <a:lstStyle/>
          <a:p>
            <a:pPr algn="l"/>
            <a:r>
              <a:rPr sz="1200" b="1" i="0">
                <a:solidFill>
                  <a:srgbClr val="0A0A0A"/>
                </a:solidFill>
              </a:rPr>
              <a:t>Auction Results</a:t>
            </a:r>
          </a:p>
        </p:txBody>
      </p:sp>
      <p:sp>
        <p:nvSpPr>
          <p:cNvPr id="21" name="TextBox 20"/>
          <p:cNvSpPr txBox="1"/>
          <p:nvPr/>
        </p:nvSpPr>
        <p:spPr>
          <a:xfrm>
            <a:off x="8339327" y="2907792"/>
            <a:ext cx="3429000" cy="960120"/>
          </a:xfrm>
          <a:prstGeom prst="rect">
            <a:avLst/>
          </a:prstGeom>
          <a:noFill/>
        </p:spPr>
        <p:txBody>
          <a:bodyPr wrap="square">
            <a:spAutoFit/>
          </a:bodyPr>
          <a:lstStyle/>
          <a:p>
            <a:pPr algn="l"/>
            <a:r>
              <a:rPr sz="1000" b="0" i="0">
                <a:solidFill>
                  <a:srgbClr val="4B5563"/>
                </a:solidFill>
              </a:rPr>
              <a:t>View all completed auctions — winning bid amount, customer name, collection code. Full record of every sale.</a:t>
            </a:r>
          </a:p>
        </p:txBody>
      </p:sp>
      <p:sp>
        <p:nvSpPr>
          <p:cNvPr id="22" name="Rectangle 21"/>
          <p:cNvSpPr/>
          <p:nvPr/>
        </p:nvSpPr>
        <p:spPr>
          <a:xfrm>
            <a:off x="365760" y="4114800"/>
            <a:ext cx="3657600" cy="160020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4114800"/>
            <a:ext cx="45720" cy="16002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5488" y="4224528"/>
            <a:ext cx="457200" cy="411480"/>
          </a:xfrm>
          <a:prstGeom prst="rect">
            <a:avLst/>
          </a:prstGeom>
          <a:noFill/>
        </p:spPr>
        <p:txBody>
          <a:bodyPr wrap="square">
            <a:spAutoFit/>
          </a:bodyPr>
          <a:lstStyle/>
          <a:p>
            <a:pPr algn="l"/>
            <a:r>
              <a:rPr sz="2000" b="0" i="0">
                <a:solidFill>
                  <a:srgbClr val="C9A84C"/>
                </a:solidFill>
              </a:rPr>
              <a:t>🔑</a:t>
            </a:r>
          </a:p>
        </p:txBody>
      </p:sp>
      <p:sp>
        <p:nvSpPr>
          <p:cNvPr id="25" name="TextBox 24"/>
          <p:cNvSpPr txBox="1"/>
          <p:nvPr/>
        </p:nvSpPr>
        <p:spPr>
          <a:xfrm>
            <a:off x="960120" y="4224528"/>
            <a:ext cx="2926080" cy="347472"/>
          </a:xfrm>
          <a:prstGeom prst="rect">
            <a:avLst/>
          </a:prstGeom>
          <a:noFill/>
        </p:spPr>
        <p:txBody>
          <a:bodyPr wrap="square">
            <a:spAutoFit/>
          </a:bodyPr>
          <a:lstStyle/>
          <a:p>
            <a:pPr algn="l"/>
            <a:r>
              <a:rPr sz="1200" b="1" i="0">
                <a:solidFill>
                  <a:srgbClr val="0A0A0A"/>
                </a:solidFill>
              </a:rPr>
              <a:t>Collection Codes</a:t>
            </a:r>
          </a:p>
        </p:txBody>
      </p:sp>
      <p:sp>
        <p:nvSpPr>
          <p:cNvPr id="26" name="TextBox 25"/>
          <p:cNvSpPr txBox="1"/>
          <p:nvPr/>
        </p:nvSpPr>
        <p:spPr>
          <a:xfrm>
            <a:off x="475488" y="4645152"/>
            <a:ext cx="3429000" cy="960120"/>
          </a:xfrm>
          <a:prstGeom prst="rect">
            <a:avLst/>
          </a:prstGeom>
          <a:noFill/>
        </p:spPr>
        <p:txBody>
          <a:bodyPr wrap="square">
            <a:spAutoFit/>
          </a:bodyPr>
          <a:lstStyle/>
          <a:p>
            <a:pPr algn="l"/>
            <a:r>
              <a:rPr sz="1000" b="0" i="0">
                <a:solidFill>
                  <a:srgbClr val="4B5563"/>
                </a:solidFill>
              </a:rPr>
              <a:t>See the unique code for each auction winner so your cashier can verify the customer quickly and confidently.</a:t>
            </a:r>
          </a:p>
        </p:txBody>
      </p:sp>
      <p:sp>
        <p:nvSpPr>
          <p:cNvPr id="27" name="Rectangle 26"/>
          <p:cNvSpPr/>
          <p:nvPr/>
        </p:nvSpPr>
        <p:spPr>
          <a:xfrm>
            <a:off x="4297680" y="4114800"/>
            <a:ext cx="3657600" cy="160020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297680" y="4114800"/>
            <a:ext cx="45720" cy="16002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07408" y="4224528"/>
            <a:ext cx="457200" cy="411480"/>
          </a:xfrm>
          <a:prstGeom prst="rect">
            <a:avLst/>
          </a:prstGeom>
          <a:noFill/>
        </p:spPr>
        <p:txBody>
          <a:bodyPr wrap="square">
            <a:spAutoFit/>
          </a:bodyPr>
          <a:lstStyle/>
          <a:p>
            <a:pPr algn="l"/>
            <a:r>
              <a:rPr sz="2000" b="0" i="0">
                <a:solidFill>
                  <a:srgbClr val="C9A84C"/>
                </a:solidFill>
              </a:rPr>
              <a:t>📄</a:t>
            </a:r>
          </a:p>
        </p:txBody>
      </p:sp>
      <p:sp>
        <p:nvSpPr>
          <p:cNvPr id="30" name="TextBox 29"/>
          <p:cNvSpPr txBox="1"/>
          <p:nvPr/>
        </p:nvSpPr>
        <p:spPr>
          <a:xfrm>
            <a:off x="4892040" y="4224528"/>
            <a:ext cx="2926080" cy="347472"/>
          </a:xfrm>
          <a:prstGeom prst="rect">
            <a:avLst/>
          </a:prstGeom>
          <a:noFill/>
        </p:spPr>
        <p:txBody>
          <a:bodyPr wrap="square">
            <a:spAutoFit/>
          </a:bodyPr>
          <a:lstStyle/>
          <a:p>
            <a:pPr algn="l"/>
            <a:r>
              <a:rPr sz="1200" b="1" i="0">
                <a:solidFill>
                  <a:srgbClr val="0A0A0A"/>
                </a:solidFill>
              </a:rPr>
              <a:t>Invoice Download</a:t>
            </a:r>
          </a:p>
        </p:txBody>
      </p:sp>
      <p:sp>
        <p:nvSpPr>
          <p:cNvPr id="31" name="TextBox 30"/>
          <p:cNvSpPr txBox="1"/>
          <p:nvPr/>
        </p:nvSpPr>
        <p:spPr>
          <a:xfrm>
            <a:off x="4407408" y="4645152"/>
            <a:ext cx="3429000" cy="960120"/>
          </a:xfrm>
          <a:prstGeom prst="rect">
            <a:avLst/>
          </a:prstGeom>
          <a:noFill/>
        </p:spPr>
        <p:txBody>
          <a:bodyPr wrap="square">
            <a:spAutoFit/>
          </a:bodyPr>
          <a:lstStyle/>
          <a:p>
            <a:pPr algn="l"/>
            <a:r>
              <a:rPr sz="1000" b="0" i="0">
                <a:solidFill>
                  <a:srgbClr val="4B5563"/>
                </a:solidFill>
              </a:rPr>
              <a:t>View and download your monthly platform invoices as PDF. Full record of your subscription and activity charges.</a:t>
            </a:r>
          </a:p>
        </p:txBody>
      </p:sp>
      <p:sp>
        <p:nvSpPr>
          <p:cNvPr id="32" name="Rectangle 31"/>
          <p:cNvSpPr/>
          <p:nvPr/>
        </p:nvSpPr>
        <p:spPr>
          <a:xfrm>
            <a:off x="8229600" y="4114800"/>
            <a:ext cx="3657600" cy="160020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29600" y="4114800"/>
            <a:ext cx="45720" cy="16002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39327" y="4224528"/>
            <a:ext cx="457200" cy="411480"/>
          </a:xfrm>
          <a:prstGeom prst="rect">
            <a:avLst/>
          </a:prstGeom>
          <a:noFill/>
        </p:spPr>
        <p:txBody>
          <a:bodyPr wrap="square">
            <a:spAutoFit/>
          </a:bodyPr>
          <a:lstStyle/>
          <a:p>
            <a:pPr algn="l"/>
            <a:r>
              <a:rPr sz="2000" b="0" i="0">
                <a:solidFill>
                  <a:srgbClr val="C9A84C"/>
                </a:solidFill>
              </a:rPr>
              <a:t>📊</a:t>
            </a:r>
          </a:p>
        </p:txBody>
      </p:sp>
      <p:sp>
        <p:nvSpPr>
          <p:cNvPr id="35" name="TextBox 34"/>
          <p:cNvSpPr txBox="1"/>
          <p:nvPr/>
        </p:nvSpPr>
        <p:spPr>
          <a:xfrm>
            <a:off x="8823960" y="4224528"/>
            <a:ext cx="2926080" cy="347472"/>
          </a:xfrm>
          <a:prstGeom prst="rect">
            <a:avLst/>
          </a:prstGeom>
          <a:noFill/>
        </p:spPr>
        <p:txBody>
          <a:bodyPr wrap="square">
            <a:spAutoFit/>
          </a:bodyPr>
          <a:lstStyle/>
          <a:p>
            <a:pPr algn="l"/>
            <a:r>
              <a:rPr sz="1200" b="1" i="0">
                <a:solidFill>
                  <a:srgbClr val="0A0A0A"/>
                </a:solidFill>
              </a:rPr>
              <a:t>Store Statistics</a:t>
            </a:r>
          </a:p>
        </p:txBody>
      </p:sp>
      <p:sp>
        <p:nvSpPr>
          <p:cNvPr id="36" name="TextBox 35"/>
          <p:cNvSpPr txBox="1"/>
          <p:nvPr/>
        </p:nvSpPr>
        <p:spPr>
          <a:xfrm>
            <a:off x="8339327" y="4645152"/>
            <a:ext cx="3429000" cy="960120"/>
          </a:xfrm>
          <a:prstGeom prst="rect">
            <a:avLst/>
          </a:prstGeom>
          <a:noFill/>
        </p:spPr>
        <p:txBody>
          <a:bodyPr wrap="square">
            <a:spAutoFit/>
          </a:bodyPr>
          <a:lstStyle/>
          <a:p>
            <a:pPr algn="l"/>
            <a:r>
              <a:rPr sz="1000" b="0" i="0">
                <a:solidFill>
                  <a:srgbClr val="4B5563"/>
                </a:solidFill>
              </a:rPr>
              <a:t>Live dashboard showing user engagement, bid activity, deal shares, and more. Know exactly how customers interact with your store.</a:t>
            </a:r>
          </a:p>
        </p:txBody>
      </p:sp>
      <p:sp>
        <p:nvSpPr>
          <p:cNvPr id="37" name="TextBox 36"/>
          <p:cNvSpPr txBox="1"/>
          <p:nvPr/>
        </p:nvSpPr>
        <p:spPr>
          <a:xfrm>
            <a:off x="11247120" y="6492240"/>
            <a:ext cx="914400" cy="320040"/>
          </a:xfrm>
          <a:prstGeom prst="rect">
            <a:avLst/>
          </a:prstGeom>
          <a:noFill/>
        </p:spPr>
        <p:txBody>
          <a:bodyPr wrap="square">
            <a:spAutoFit/>
          </a:bodyPr>
          <a:lstStyle/>
          <a:p>
            <a:pPr algn="r"/>
            <a:r>
              <a:rPr sz="900" b="0" i="0">
                <a:solidFill>
                  <a:srgbClr val="9CA3AF"/>
                </a:solidFill>
              </a:rPr>
              <a:t>7 / 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41248"/>
            <a:ext cx="12188952" cy="640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2286000" cy="502920"/>
          </a:xfrm>
          <a:prstGeom prst="rect">
            <a:avLst/>
          </a:prstGeom>
          <a:noFill/>
        </p:spPr>
        <p:txBody>
          <a:bodyPr wrap="none">
            <a:spAutoFit/>
          </a:bodyPr>
          <a:lstStyle/>
          <a:p>
            <a:r>
              <a:rPr sz="2200" b="1">
                <a:solidFill>
                  <a:srgbClr val="0A0A0A"/>
                </a:solidFill>
              </a:rPr>
              <a:t>Bizi</a:t>
            </a:r>
            <a:r>
              <a:rPr sz="2200" b="1">
                <a:solidFill>
                  <a:srgbClr val="C9A84C"/>
                </a:solidFill>
              </a:rPr>
              <a:t>Bid</a:t>
            </a:r>
          </a:p>
        </p:txBody>
      </p:sp>
      <p:sp>
        <p:nvSpPr>
          <p:cNvPr id="4" name="TextBox 3"/>
          <p:cNvSpPr txBox="1"/>
          <p:nvPr/>
        </p:nvSpPr>
        <p:spPr>
          <a:xfrm>
            <a:off x="457200" y="960120"/>
            <a:ext cx="7315200" cy="292608"/>
          </a:xfrm>
          <a:prstGeom prst="rect">
            <a:avLst/>
          </a:prstGeom>
          <a:noFill/>
        </p:spPr>
        <p:txBody>
          <a:bodyPr wrap="square">
            <a:spAutoFit/>
          </a:bodyPr>
          <a:lstStyle/>
          <a:p>
            <a:pPr algn="l"/>
            <a:r>
              <a:rPr sz="900" b="1" i="0">
                <a:solidFill>
                  <a:srgbClr val="C9A84C"/>
                </a:solidFill>
              </a:rPr>
              <a:t>BACK-OFFICE — STATISTICS DASHBOARD</a:t>
            </a:r>
          </a:p>
        </p:txBody>
      </p:sp>
      <p:sp>
        <p:nvSpPr>
          <p:cNvPr id="5" name="TextBox 4"/>
          <p:cNvSpPr txBox="1"/>
          <p:nvPr/>
        </p:nvSpPr>
        <p:spPr>
          <a:xfrm>
            <a:off x="457200" y="1325880"/>
            <a:ext cx="11247120" cy="777240"/>
          </a:xfrm>
          <a:prstGeom prst="rect">
            <a:avLst/>
          </a:prstGeom>
          <a:noFill/>
        </p:spPr>
        <p:txBody>
          <a:bodyPr wrap="square">
            <a:spAutoFit/>
          </a:bodyPr>
          <a:lstStyle/>
          <a:p>
            <a:pPr algn="l"/>
            <a:r>
              <a:rPr sz="3000" b="1" i="0">
                <a:solidFill>
                  <a:srgbClr val="0A0A0A"/>
                </a:solidFill>
              </a:rPr>
              <a:t>Know Your Customers — Live Store Statistics</a:t>
            </a:r>
          </a:p>
        </p:txBody>
      </p:sp>
      <p:sp>
        <p:nvSpPr>
          <p:cNvPr id="6" name="TextBox 5"/>
          <p:cNvSpPr txBox="1"/>
          <p:nvPr/>
        </p:nvSpPr>
        <p:spPr>
          <a:xfrm>
            <a:off x="457200" y="1920240"/>
            <a:ext cx="11247120" cy="411480"/>
          </a:xfrm>
          <a:prstGeom prst="rect">
            <a:avLst/>
          </a:prstGeom>
          <a:noFill/>
        </p:spPr>
        <p:txBody>
          <a:bodyPr wrap="square">
            <a:spAutoFit/>
          </a:bodyPr>
          <a:lstStyle/>
          <a:p>
            <a:pPr algn="l"/>
            <a:r>
              <a:rPr sz="1500" b="0" i="0">
                <a:solidFill>
                  <a:srgbClr val="4B5563"/>
                </a:solidFill>
              </a:rPr>
              <a:t>Your back-office portal shows you exactly how registered BiziBid users interact with your store in real time.</a:t>
            </a:r>
          </a:p>
        </p:txBody>
      </p:sp>
      <p:sp>
        <p:nvSpPr>
          <p:cNvPr id="7" name="Rectangle 6"/>
          <p:cNvSpPr/>
          <p:nvPr/>
        </p:nvSpPr>
        <p:spPr>
          <a:xfrm>
            <a:off x="457200" y="2331720"/>
            <a:ext cx="2651760" cy="109728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331720"/>
            <a:ext cx="265176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423160"/>
            <a:ext cx="2651760" cy="457200"/>
          </a:xfrm>
          <a:prstGeom prst="rect">
            <a:avLst/>
          </a:prstGeom>
          <a:noFill/>
        </p:spPr>
        <p:txBody>
          <a:bodyPr wrap="square">
            <a:spAutoFit/>
          </a:bodyPr>
          <a:lstStyle/>
          <a:p>
            <a:pPr algn="ctr"/>
            <a:r>
              <a:rPr sz="2600" b="1" i="0">
                <a:solidFill>
                  <a:srgbClr val="C9A84C"/>
                </a:solidFill>
              </a:rPr>
              <a:t>1,240</a:t>
            </a:r>
          </a:p>
        </p:txBody>
      </p:sp>
      <p:sp>
        <p:nvSpPr>
          <p:cNvPr id="10" name="TextBox 9"/>
          <p:cNvSpPr txBox="1"/>
          <p:nvPr/>
        </p:nvSpPr>
        <p:spPr>
          <a:xfrm>
            <a:off x="457200" y="2880360"/>
            <a:ext cx="2651760" cy="411480"/>
          </a:xfrm>
          <a:prstGeom prst="rect">
            <a:avLst/>
          </a:prstGeom>
          <a:noFill/>
        </p:spPr>
        <p:txBody>
          <a:bodyPr wrap="square">
            <a:spAutoFit/>
          </a:bodyPr>
          <a:lstStyle/>
          <a:p>
            <a:pPr algn="ctr"/>
            <a:r>
              <a:rPr sz="1000" b="0" i="0">
                <a:solidFill>
                  <a:srgbClr val="4B5563"/>
                </a:solidFill>
              </a:rPr>
              <a:t>Registered users
following your store</a:t>
            </a:r>
          </a:p>
        </p:txBody>
      </p:sp>
      <p:sp>
        <p:nvSpPr>
          <p:cNvPr id="11" name="Rectangle 10"/>
          <p:cNvSpPr/>
          <p:nvPr/>
        </p:nvSpPr>
        <p:spPr>
          <a:xfrm>
            <a:off x="3291840" y="2331720"/>
            <a:ext cx="2651760" cy="109728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91840" y="2331720"/>
            <a:ext cx="265176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91840" y="2423160"/>
            <a:ext cx="2651760" cy="457200"/>
          </a:xfrm>
          <a:prstGeom prst="rect">
            <a:avLst/>
          </a:prstGeom>
          <a:noFill/>
        </p:spPr>
        <p:txBody>
          <a:bodyPr wrap="square">
            <a:spAutoFit/>
          </a:bodyPr>
          <a:lstStyle/>
          <a:p>
            <a:pPr algn="ctr"/>
            <a:r>
              <a:rPr sz="2600" b="1" i="0">
                <a:solidFill>
                  <a:srgbClr val="C9A84C"/>
                </a:solidFill>
              </a:rPr>
              <a:t>86</a:t>
            </a:r>
          </a:p>
        </p:txBody>
      </p:sp>
      <p:sp>
        <p:nvSpPr>
          <p:cNvPr id="14" name="TextBox 13"/>
          <p:cNvSpPr txBox="1"/>
          <p:nvPr/>
        </p:nvSpPr>
        <p:spPr>
          <a:xfrm>
            <a:off x="3291840" y="2880360"/>
            <a:ext cx="2651760" cy="411480"/>
          </a:xfrm>
          <a:prstGeom prst="rect">
            <a:avLst/>
          </a:prstGeom>
          <a:noFill/>
        </p:spPr>
        <p:txBody>
          <a:bodyPr wrap="square">
            <a:spAutoFit/>
          </a:bodyPr>
          <a:lstStyle/>
          <a:p>
            <a:pPr algn="ctr"/>
            <a:r>
              <a:rPr sz="1000" b="0" i="0">
                <a:solidFill>
                  <a:srgbClr val="4B5563"/>
                </a:solidFill>
              </a:rPr>
              <a:t>Active bids on
your items today</a:t>
            </a:r>
          </a:p>
        </p:txBody>
      </p:sp>
      <p:sp>
        <p:nvSpPr>
          <p:cNvPr id="15" name="Rectangle 14"/>
          <p:cNvSpPr/>
          <p:nvPr/>
        </p:nvSpPr>
        <p:spPr>
          <a:xfrm>
            <a:off x="6126480" y="2331720"/>
            <a:ext cx="2651760" cy="109728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26480" y="2331720"/>
            <a:ext cx="265176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0" y="2423160"/>
            <a:ext cx="2651760" cy="457200"/>
          </a:xfrm>
          <a:prstGeom prst="rect">
            <a:avLst/>
          </a:prstGeom>
          <a:noFill/>
        </p:spPr>
        <p:txBody>
          <a:bodyPr wrap="square">
            <a:spAutoFit/>
          </a:bodyPr>
          <a:lstStyle/>
          <a:p>
            <a:pPr algn="ctr"/>
            <a:r>
              <a:rPr sz="2600" b="1" i="0">
                <a:solidFill>
                  <a:srgbClr val="C9A84C"/>
                </a:solidFill>
              </a:rPr>
              <a:t>312</a:t>
            </a:r>
          </a:p>
        </p:txBody>
      </p:sp>
      <p:sp>
        <p:nvSpPr>
          <p:cNvPr id="18" name="TextBox 17"/>
          <p:cNvSpPr txBox="1"/>
          <p:nvPr/>
        </p:nvSpPr>
        <p:spPr>
          <a:xfrm>
            <a:off x="6126480" y="2880360"/>
            <a:ext cx="2651760" cy="411480"/>
          </a:xfrm>
          <a:prstGeom prst="rect">
            <a:avLst/>
          </a:prstGeom>
          <a:noFill/>
        </p:spPr>
        <p:txBody>
          <a:bodyPr wrap="square">
            <a:spAutoFit/>
          </a:bodyPr>
          <a:lstStyle/>
          <a:p>
            <a:pPr algn="ctr"/>
            <a:r>
              <a:rPr sz="1000" b="0" i="0">
                <a:solidFill>
                  <a:srgbClr val="4B5563"/>
                </a:solidFill>
              </a:rPr>
              <a:t>Users watching
your products</a:t>
            </a:r>
          </a:p>
        </p:txBody>
      </p:sp>
      <p:sp>
        <p:nvSpPr>
          <p:cNvPr id="19" name="Rectangle 18"/>
          <p:cNvSpPr/>
          <p:nvPr/>
        </p:nvSpPr>
        <p:spPr>
          <a:xfrm>
            <a:off x="8961120" y="2331720"/>
            <a:ext cx="2651760" cy="109728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61120" y="2331720"/>
            <a:ext cx="265176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0" y="2423160"/>
            <a:ext cx="2651760" cy="457200"/>
          </a:xfrm>
          <a:prstGeom prst="rect">
            <a:avLst/>
          </a:prstGeom>
          <a:noFill/>
        </p:spPr>
        <p:txBody>
          <a:bodyPr wrap="square">
            <a:spAutoFit/>
          </a:bodyPr>
          <a:lstStyle/>
          <a:p>
            <a:pPr algn="ctr"/>
            <a:r>
              <a:rPr sz="2600" b="1" i="0">
                <a:solidFill>
                  <a:srgbClr val="C9A84C"/>
                </a:solidFill>
              </a:rPr>
              <a:t>94%</a:t>
            </a:r>
          </a:p>
        </p:txBody>
      </p:sp>
      <p:sp>
        <p:nvSpPr>
          <p:cNvPr id="22" name="TextBox 21"/>
          <p:cNvSpPr txBox="1"/>
          <p:nvPr/>
        </p:nvSpPr>
        <p:spPr>
          <a:xfrm>
            <a:off x="8961120" y="2880360"/>
            <a:ext cx="2651760" cy="411480"/>
          </a:xfrm>
          <a:prstGeom prst="rect">
            <a:avLst/>
          </a:prstGeom>
          <a:noFill/>
        </p:spPr>
        <p:txBody>
          <a:bodyPr wrap="square">
            <a:spAutoFit/>
          </a:bodyPr>
          <a:lstStyle/>
          <a:p>
            <a:pPr algn="ctr"/>
            <a:r>
              <a:rPr sz="1000" b="0" i="0">
                <a:solidFill>
                  <a:srgbClr val="4B5563"/>
                </a:solidFill>
              </a:rPr>
              <a:t>Auction completion
rate this month</a:t>
            </a:r>
          </a:p>
        </p:txBody>
      </p:sp>
      <p:sp>
        <p:nvSpPr>
          <p:cNvPr id="23" name="Rectangle 22"/>
          <p:cNvSpPr/>
          <p:nvPr/>
        </p:nvSpPr>
        <p:spPr>
          <a:xfrm>
            <a:off x="457200" y="3566160"/>
            <a:ext cx="2651760" cy="109728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3566160"/>
            <a:ext cx="265176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3657600"/>
            <a:ext cx="2651760" cy="457200"/>
          </a:xfrm>
          <a:prstGeom prst="rect">
            <a:avLst/>
          </a:prstGeom>
          <a:noFill/>
        </p:spPr>
        <p:txBody>
          <a:bodyPr wrap="square">
            <a:spAutoFit/>
          </a:bodyPr>
          <a:lstStyle/>
          <a:p>
            <a:pPr algn="ctr"/>
            <a:r>
              <a:rPr sz="2600" b="1" i="0">
                <a:solidFill>
                  <a:srgbClr val="C9A84C"/>
                </a:solidFill>
              </a:rPr>
              <a:t>48</a:t>
            </a:r>
          </a:p>
        </p:txBody>
      </p:sp>
      <p:sp>
        <p:nvSpPr>
          <p:cNvPr id="26" name="TextBox 25"/>
          <p:cNvSpPr txBox="1"/>
          <p:nvPr/>
        </p:nvSpPr>
        <p:spPr>
          <a:xfrm>
            <a:off x="457200" y="4114800"/>
            <a:ext cx="2651760" cy="411480"/>
          </a:xfrm>
          <a:prstGeom prst="rect">
            <a:avLst/>
          </a:prstGeom>
          <a:noFill/>
        </p:spPr>
        <p:txBody>
          <a:bodyPr wrap="square">
            <a:spAutoFit/>
          </a:bodyPr>
          <a:lstStyle/>
          <a:p>
            <a:pPr algn="ctr"/>
            <a:r>
              <a:rPr sz="1000" b="0" i="0">
                <a:solidFill>
                  <a:srgbClr val="4B5563"/>
                </a:solidFill>
              </a:rPr>
              <a:t>Deals shared on
WhatsApp &amp; Instagram</a:t>
            </a:r>
          </a:p>
        </p:txBody>
      </p:sp>
      <p:sp>
        <p:nvSpPr>
          <p:cNvPr id="27" name="Rectangle 26"/>
          <p:cNvSpPr/>
          <p:nvPr/>
        </p:nvSpPr>
        <p:spPr>
          <a:xfrm>
            <a:off x="3291840" y="3566160"/>
            <a:ext cx="2651760" cy="109728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291840" y="3566160"/>
            <a:ext cx="265176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91840" y="3657600"/>
            <a:ext cx="2651760" cy="457200"/>
          </a:xfrm>
          <a:prstGeom prst="rect">
            <a:avLst/>
          </a:prstGeom>
          <a:noFill/>
        </p:spPr>
        <p:txBody>
          <a:bodyPr wrap="square">
            <a:spAutoFit/>
          </a:bodyPr>
          <a:lstStyle/>
          <a:p>
            <a:pPr algn="ctr"/>
            <a:r>
              <a:rPr sz="2600" b="1" i="0">
                <a:solidFill>
                  <a:srgbClr val="C9A84C"/>
                </a:solidFill>
              </a:rPr>
              <a:t>$8,400</a:t>
            </a:r>
          </a:p>
        </p:txBody>
      </p:sp>
      <p:sp>
        <p:nvSpPr>
          <p:cNvPr id="30" name="TextBox 29"/>
          <p:cNvSpPr txBox="1"/>
          <p:nvPr/>
        </p:nvSpPr>
        <p:spPr>
          <a:xfrm>
            <a:off x="3291840" y="4114800"/>
            <a:ext cx="2651760" cy="411480"/>
          </a:xfrm>
          <a:prstGeom prst="rect">
            <a:avLst/>
          </a:prstGeom>
          <a:noFill/>
        </p:spPr>
        <p:txBody>
          <a:bodyPr wrap="square">
            <a:spAutoFit/>
          </a:bodyPr>
          <a:lstStyle/>
          <a:p>
            <a:pPr algn="ctr"/>
            <a:r>
              <a:rPr sz="1000" b="0" i="0">
                <a:solidFill>
                  <a:srgbClr val="4B5563"/>
                </a:solidFill>
              </a:rPr>
              <a:t>Total auction value
generated this month</a:t>
            </a:r>
          </a:p>
        </p:txBody>
      </p:sp>
      <p:sp>
        <p:nvSpPr>
          <p:cNvPr id="31" name="Rectangle 30"/>
          <p:cNvSpPr/>
          <p:nvPr/>
        </p:nvSpPr>
        <p:spPr>
          <a:xfrm>
            <a:off x="6126480" y="3566160"/>
            <a:ext cx="2651760" cy="109728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26480" y="3566160"/>
            <a:ext cx="265176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26480" y="3657600"/>
            <a:ext cx="2651760" cy="457200"/>
          </a:xfrm>
          <a:prstGeom prst="rect">
            <a:avLst/>
          </a:prstGeom>
          <a:noFill/>
        </p:spPr>
        <p:txBody>
          <a:bodyPr wrap="square">
            <a:spAutoFit/>
          </a:bodyPr>
          <a:lstStyle/>
          <a:p>
            <a:pPr algn="ctr"/>
            <a:r>
              <a:rPr sz="2600" b="1" i="0">
                <a:solidFill>
                  <a:srgbClr val="C9A84C"/>
                </a:solidFill>
              </a:rPr>
              <a:t>22</a:t>
            </a:r>
          </a:p>
        </p:txBody>
      </p:sp>
      <p:sp>
        <p:nvSpPr>
          <p:cNvPr id="34" name="TextBox 33"/>
          <p:cNvSpPr txBox="1"/>
          <p:nvPr/>
        </p:nvSpPr>
        <p:spPr>
          <a:xfrm>
            <a:off x="6126480" y="4114800"/>
            <a:ext cx="2651760" cy="411480"/>
          </a:xfrm>
          <a:prstGeom prst="rect">
            <a:avLst/>
          </a:prstGeom>
          <a:noFill/>
        </p:spPr>
        <p:txBody>
          <a:bodyPr wrap="square">
            <a:spAutoFit/>
          </a:bodyPr>
          <a:lstStyle/>
          <a:p>
            <a:pPr algn="ctr"/>
            <a:r>
              <a:rPr sz="1000" b="0" i="0">
                <a:solidFill>
                  <a:srgbClr val="4B5563"/>
                </a:solidFill>
              </a:rPr>
              <a:t>New app users from
your shared links</a:t>
            </a:r>
          </a:p>
        </p:txBody>
      </p:sp>
      <p:sp>
        <p:nvSpPr>
          <p:cNvPr id="35" name="Rectangle 34"/>
          <p:cNvSpPr/>
          <p:nvPr/>
        </p:nvSpPr>
        <p:spPr>
          <a:xfrm>
            <a:off x="8961120" y="3566160"/>
            <a:ext cx="2651760" cy="109728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961120" y="3566160"/>
            <a:ext cx="265176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961120" y="3657600"/>
            <a:ext cx="2651760" cy="457200"/>
          </a:xfrm>
          <a:prstGeom prst="rect">
            <a:avLst/>
          </a:prstGeom>
          <a:noFill/>
        </p:spPr>
        <p:txBody>
          <a:bodyPr wrap="square">
            <a:spAutoFit/>
          </a:bodyPr>
          <a:lstStyle/>
          <a:p>
            <a:pPr algn="ctr"/>
            <a:r>
              <a:rPr sz="2600" b="1" i="0">
                <a:solidFill>
                  <a:srgbClr val="C9A84C"/>
                </a:solidFill>
              </a:rPr>
              <a:t>4.8★</a:t>
            </a:r>
          </a:p>
        </p:txBody>
      </p:sp>
      <p:sp>
        <p:nvSpPr>
          <p:cNvPr id="38" name="TextBox 37"/>
          <p:cNvSpPr txBox="1"/>
          <p:nvPr/>
        </p:nvSpPr>
        <p:spPr>
          <a:xfrm>
            <a:off x="8961120" y="4114800"/>
            <a:ext cx="2651760" cy="411480"/>
          </a:xfrm>
          <a:prstGeom prst="rect">
            <a:avLst/>
          </a:prstGeom>
          <a:noFill/>
        </p:spPr>
        <p:txBody>
          <a:bodyPr wrap="square">
            <a:spAutoFit/>
          </a:bodyPr>
          <a:lstStyle/>
          <a:p>
            <a:pPr algn="ctr"/>
            <a:r>
              <a:rPr sz="1000" b="0" i="0">
                <a:solidFill>
                  <a:srgbClr val="4B5563"/>
                </a:solidFill>
              </a:rPr>
              <a:t>Average customer
engagement score</a:t>
            </a:r>
          </a:p>
        </p:txBody>
      </p:sp>
      <p:sp>
        <p:nvSpPr>
          <p:cNvPr id="39" name="Rectangle 38"/>
          <p:cNvSpPr/>
          <p:nvPr/>
        </p:nvSpPr>
        <p:spPr>
          <a:xfrm>
            <a:off x="457200" y="4800600"/>
            <a:ext cx="11247120" cy="128016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57200" y="4800600"/>
            <a:ext cx="54864" cy="12801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4360" y="4864608"/>
            <a:ext cx="10972800" cy="1143000"/>
          </a:xfrm>
          <a:prstGeom prst="rect">
            <a:avLst/>
          </a:prstGeom>
          <a:noFill/>
        </p:spPr>
        <p:txBody>
          <a:bodyPr wrap="square">
            <a:spAutoFit/>
          </a:bodyPr>
          <a:lstStyle/>
          <a:p>
            <a:pPr algn="l"/>
            <a:r>
              <a:rPr sz="1200" b="0" i="0">
                <a:solidFill>
                  <a:srgbClr val="4B5563"/>
                </a:solidFill>
              </a:rPr>
              <a:t>All statistics are updated in real time and available directly in your back-office portal at BiziBid.com. Track which products generate the most interest, which deals are most shared, and how your store's following grows week over week. No data is shared with other retail partners.</a:t>
            </a:r>
          </a:p>
        </p:txBody>
      </p:sp>
      <p:sp>
        <p:nvSpPr>
          <p:cNvPr id="42" name="TextBox 41"/>
          <p:cNvSpPr txBox="1"/>
          <p:nvPr/>
        </p:nvSpPr>
        <p:spPr>
          <a:xfrm>
            <a:off x="11247120" y="6492240"/>
            <a:ext cx="914400" cy="320040"/>
          </a:xfrm>
          <a:prstGeom prst="rect">
            <a:avLst/>
          </a:prstGeom>
          <a:noFill/>
        </p:spPr>
        <p:txBody>
          <a:bodyPr wrap="square">
            <a:spAutoFit/>
          </a:bodyPr>
          <a:lstStyle/>
          <a:p>
            <a:pPr algn="r"/>
            <a:r>
              <a:rPr sz="900" b="0" i="0">
                <a:solidFill>
                  <a:srgbClr val="9CA3AF"/>
                </a:solidFill>
              </a:rPr>
              <a:t>8 / 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41248"/>
            <a:ext cx="12188952" cy="640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2286000" cy="502920"/>
          </a:xfrm>
          <a:prstGeom prst="rect">
            <a:avLst/>
          </a:prstGeom>
          <a:noFill/>
        </p:spPr>
        <p:txBody>
          <a:bodyPr wrap="none">
            <a:spAutoFit/>
          </a:bodyPr>
          <a:lstStyle/>
          <a:p>
            <a:r>
              <a:rPr sz="2200" b="1">
                <a:solidFill>
                  <a:srgbClr val="0A0A0A"/>
                </a:solidFill>
              </a:rPr>
              <a:t>Bizi</a:t>
            </a:r>
            <a:r>
              <a:rPr sz="2200" b="1">
                <a:solidFill>
                  <a:srgbClr val="C9A84C"/>
                </a:solidFill>
              </a:rPr>
              <a:t>Bid</a:t>
            </a:r>
          </a:p>
        </p:txBody>
      </p:sp>
      <p:sp>
        <p:nvSpPr>
          <p:cNvPr id="4" name="TextBox 3"/>
          <p:cNvSpPr txBox="1"/>
          <p:nvPr/>
        </p:nvSpPr>
        <p:spPr>
          <a:xfrm>
            <a:off x="457200" y="960120"/>
            <a:ext cx="7315200" cy="292608"/>
          </a:xfrm>
          <a:prstGeom prst="rect">
            <a:avLst/>
          </a:prstGeom>
          <a:noFill/>
        </p:spPr>
        <p:txBody>
          <a:bodyPr wrap="square">
            <a:spAutoFit/>
          </a:bodyPr>
          <a:lstStyle/>
          <a:p>
            <a:pPr algn="l"/>
            <a:r>
              <a:rPr sz="900" b="1" i="0">
                <a:solidFill>
                  <a:srgbClr val="C9A84C"/>
                </a:solidFill>
              </a:rPr>
              <a:t>FEATURE — VIRAL GROWTH</a:t>
            </a:r>
          </a:p>
        </p:txBody>
      </p:sp>
      <p:sp>
        <p:nvSpPr>
          <p:cNvPr id="5" name="TextBox 4"/>
          <p:cNvSpPr txBox="1"/>
          <p:nvPr/>
        </p:nvSpPr>
        <p:spPr>
          <a:xfrm>
            <a:off x="457200" y="1325880"/>
            <a:ext cx="11247120" cy="777240"/>
          </a:xfrm>
          <a:prstGeom prst="rect">
            <a:avLst/>
          </a:prstGeom>
          <a:noFill/>
        </p:spPr>
        <p:txBody>
          <a:bodyPr wrap="square">
            <a:spAutoFit/>
          </a:bodyPr>
          <a:lstStyle/>
          <a:p>
            <a:pPr algn="l"/>
            <a:r>
              <a:rPr sz="3000" b="1" i="0">
                <a:solidFill>
                  <a:srgbClr val="0A0A0A"/>
                </a:solidFill>
              </a:rPr>
              <a:t>Every Share is Free Marketing for Your Store</a:t>
            </a:r>
          </a:p>
        </p:txBody>
      </p:sp>
      <p:sp>
        <p:nvSpPr>
          <p:cNvPr id="6" name="TextBox 5"/>
          <p:cNvSpPr txBox="1"/>
          <p:nvPr/>
        </p:nvSpPr>
        <p:spPr>
          <a:xfrm>
            <a:off x="457200" y="1920240"/>
            <a:ext cx="11247120" cy="411480"/>
          </a:xfrm>
          <a:prstGeom prst="rect">
            <a:avLst/>
          </a:prstGeom>
          <a:noFill/>
        </p:spPr>
        <p:txBody>
          <a:bodyPr wrap="square">
            <a:spAutoFit/>
          </a:bodyPr>
          <a:lstStyle/>
          <a:p>
            <a:pPr algn="l"/>
            <a:r>
              <a:rPr sz="1500" b="0" i="0">
                <a:solidFill>
                  <a:srgbClr val="4B5563"/>
                </a:solidFill>
              </a:rPr>
              <a:t>When customers share your auctions and deals, your store name reaches people who have never heard of BiziBid.</a:t>
            </a:r>
          </a:p>
        </p:txBody>
      </p:sp>
      <p:sp>
        <p:nvSpPr>
          <p:cNvPr id="7" name="Rectangle 6"/>
          <p:cNvSpPr/>
          <p:nvPr/>
        </p:nvSpPr>
        <p:spPr>
          <a:xfrm>
            <a:off x="320040" y="2286000"/>
            <a:ext cx="2103120" cy="21031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79" y="2359152"/>
            <a:ext cx="457200" cy="411480"/>
          </a:xfrm>
          <a:prstGeom prst="rect">
            <a:avLst/>
          </a:prstGeom>
          <a:noFill/>
        </p:spPr>
        <p:txBody>
          <a:bodyPr wrap="square">
            <a:spAutoFit/>
          </a:bodyPr>
          <a:lstStyle/>
          <a:p>
            <a:pPr algn="l"/>
            <a:r>
              <a:rPr sz="1100" b="1" i="0">
                <a:solidFill>
                  <a:srgbClr val="C9A84C"/>
                </a:solidFill>
              </a:rPr>
              <a:t>01</a:t>
            </a:r>
          </a:p>
        </p:txBody>
      </p:sp>
      <p:sp>
        <p:nvSpPr>
          <p:cNvPr id="9" name="TextBox 8"/>
          <p:cNvSpPr txBox="1"/>
          <p:nvPr/>
        </p:nvSpPr>
        <p:spPr>
          <a:xfrm>
            <a:off x="411479" y="2697480"/>
            <a:ext cx="1920240" cy="1554480"/>
          </a:xfrm>
          <a:prstGeom prst="rect">
            <a:avLst/>
          </a:prstGeom>
          <a:noFill/>
        </p:spPr>
        <p:txBody>
          <a:bodyPr wrap="square">
            <a:spAutoFit/>
          </a:bodyPr>
          <a:lstStyle/>
          <a:p>
            <a:pPr algn="l"/>
            <a:r>
              <a:rPr sz="1200" b="0" i="0">
                <a:solidFill>
                  <a:srgbClr val="FFFFFF"/>
                </a:solidFill>
              </a:rPr>
              <a:t>Your customer
sees a great deal
or live auction</a:t>
            </a:r>
          </a:p>
        </p:txBody>
      </p:sp>
      <p:sp>
        <p:nvSpPr>
          <p:cNvPr id="10" name="TextBox 9"/>
          <p:cNvSpPr txBox="1"/>
          <p:nvPr/>
        </p:nvSpPr>
        <p:spPr>
          <a:xfrm>
            <a:off x="2441448" y="3063240"/>
            <a:ext cx="201168" cy="457200"/>
          </a:xfrm>
          <a:prstGeom prst="rect">
            <a:avLst/>
          </a:prstGeom>
          <a:noFill/>
        </p:spPr>
        <p:txBody>
          <a:bodyPr wrap="square">
            <a:spAutoFit/>
          </a:bodyPr>
          <a:lstStyle/>
          <a:p>
            <a:pPr algn="l"/>
            <a:r>
              <a:rPr sz="1800" b="0" i="0">
                <a:solidFill>
                  <a:srgbClr val="C9A84C"/>
                </a:solidFill>
              </a:rPr>
              <a:t>→</a:t>
            </a:r>
          </a:p>
        </p:txBody>
      </p:sp>
      <p:sp>
        <p:nvSpPr>
          <p:cNvPr id="11" name="Rectangle 10"/>
          <p:cNvSpPr/>
          <p:nvPr/>
        </p:nvSpPr>
        <p:spPr>
          <a:xfrm>
            <a:off x="2660904" y="2286000"/>
            <a:ext cx="2103120" cy="210312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52344" y="2359152"/>
            <a:ext cx="457200" cy="411480"/>
          </a:xfrm>
          <a:prstGeom prst="rect">
            <a:avLst/>
          </a:prstGeom>
          <a:noFill/>
        </p:spPr>
        <p:txBody>
          <a:bodyPr wrap="square">
            <a:spAutoFit/>
          </a:bodyPr>
          <a:lstStyle/>
          <a:p>
            <a:pPr algn="l"/>
            <a:r>
              <a:rPr sz="1100" b="1" i="0">
                <a:solidFill>
                  <a:srgbClr val="C9A84C"/>
                </a:solidFill>
              </a:rPr>
              <a:t>02</a:t>
            </a:r>
          </a:p>
        </p:txBody>
      </p:sp>
      <p:sp>
        <p:nvSpPr>
          <p:cNvPr id="13" name="TextBox 12"/>
          <p:cNvSpPr txBox="1"/>
          <p:nvPr/>
        </p:nvSpPr>
        <p:spPr>
          <a:xfrm>
            <a:off x="2752344" y="2697480"/>
            <a:ext cx="1920240" cy="1554480"/>
          </a:xfrm>
          <a:prstGeom prst="rect">
            <a:avLst/>
          </a:prstGeom>
          <a:noFill/>
        </p:spPr>
        <p:txBody>
          <a:bodyPr wrap="square">
            <a:spAutoFit/>
          </a:bodyPr>
          <a:lstStyle/>
          <a:p>
            <a:pPr algn="l"/>
            <a:r>
              <a:rPr sz="1200" b="0" i="0">
                <a:solidFill>
                  <a:srgbClr val="0A0A0A"/>
                </a:solidFill>
              </a:rPr>
              <a:t>They share it
to WhatsApp or
Instagram</a:t>
            </a:r>
          </a:p>
        </p:txBody>
      </p:sp>
      <p:sp>
        <p:nvSpPr>
          <p:cNvPr id="14" name="TextBox 13"/>
          <p:cNvSpPr txBox="1"/>
          <p:nvPr/>
        </p:nvSpPr>
        <p:spPr>
          <a:xfrm>
            <a:off x="4782312" y="3063240"/>
            <a:ext cx="201168" cy="457200"/>
          </a:xfrm>
          <a:prstGeom prst="rect">
            <a:avLst/>
          </a:prstGeom>
          <a:noFill/>
        </p:spPr>
        <p:txBody>
          <a:bodyPr wrap="square">
            <a:spAutoFit/>
          </a:bodyPr>
          <a:lstStyle/>
          <a:p>
            <a:pPr algn="l"/>
            <a:r>
              <a:rPr sz="1800" b="0" i="0">
                <a:solidFill>
                  <a:srgbClr val="C9A84C"/>
                </a:solidFill>
              </a:rPr>
              <a:t>→</a:t>
            </a:r>
          </a:p>
        </p:txBody>
      </p:sp>
      <p:sp>
        <p:nvSpPr>
          <p:cNvPr id="15" name="Rectangle 14"/>
          <p:cNvSpPr/>
          <p:nvPr/>
        </p:nvSpPr>
        <p:spPr>
          <a:xfrm>
            <a:off x="5001768" y="2286000"/>
            <a:ext cx="2103120" cy="21031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93207" y="2359152"/>
            <a:ext cx="457200" cy="411480"/>
          </a:xfrm>
          <a:prstGeom prst="rect">
            <a:avLst/>
          </a:prstGeom>
          <a:noFill/>
        </p:spPr>
        <p:txBody>
          <a:bodyPr wrap="square">
            <a:spAutoFit/>
          </a:bodyPr>
          <a:lstStyle/>
          <a:p>
            <a:pPr algn="l"/>
            <a:r>
              <a:rPr sz="1100" b="1" i="0">
                <a:solidFill>
                  <a:srgbClr val="C9A84C"/>
                </a:solidFill>
              </a:rPr>
              <a:t>03</a:t>
            </a:r>
          </a:p>
        </p:txBody>
      </p:sp>
      <p:sp>
        <p:nvSpPr>
          <p:cNvPr id="17" name="TextBox 16"/>
          <p:cNvSpPr txBox="1"/>
          <p:nvPr/>
        </p:nvSpPr>
        <p:spPr>
          <a:xfrm>
            <a:off x="5093207" y="2697480"/>
            <a:ext cx="1920240" cy="1554480"/>
          </a:xfrm>
          <a:prstGeom prst="rect">
            <a:avLst/>
          </a:prstGeom>
          <a:noFill/>
        </p:spPr>
        <p:txBody>
          <a:bodyPr wrap="square">
            <a:spAutoFit/>
          </a:bodyPr>
          <a:lstStyle/>
          <a:p>
            <a:pPr algn="l"/>
            <a:r>
              <a:rPr sz="1200" b="0" i="0">
                <a:solidFill>
                  <a:srgbClr val="FFFFFF"/>
                </a:solidFill>
              </a:rPr>
              <a:t>Their contact sees
your store name,
price &amp; product</a:t>
            </a:r>
          </a:p>
        </p:txBody>
      </p:sp>
      <p:sp>
        <p:nvSpPr>
          <p:cNvPr id="18" name="TextBox 17"/>
          <p:cNvSpPr txBox="1"/>
          <p:nvPr/>
        </p:nvSpPr>
        <p:spPr>
          <a:xfrm>
            <a:off x="7123175" y="3063240"/>
            <a:ext cx="201168" cy="457200"/>
          </a:xfrm>
          <a:prstGeom prst="rect">
            <a:avLst/>
          </a:prstGeom>
          <a:noFill/>
        </p:spPr>
        <p:txBody>
          <a:bodyPr wrap="square">
            <a:spAutoFit/>
          </a:bodyPr>
          <a:lstStyle/>
          <a:p>
            <a:pPr algn="l"/>
            <a:r>
              <a:rPr sz="1800" b="0" i="0">
                <a:solidFill>
                  <a:srgbClr val="C9A84C"/>
                </a:solidFill>
              </a:rPr>
              <a:t>→</a:t>
            </a:r>
          </a:p>
        </p:txBody>
      </p:sp>
      <p:sp>
        <p:nvSpPr>
          <p:cNvPr id="19" name="Rectangle 18"/>
          <p:cNvSpPr/>
          <p:nvPr/>
        </p:nvSpPr>
        <p:spPr>
          <a:xfrm>
            <a:off x="7342631" y="2286000"/>
            <a:ext cx="2103120" cy="210312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34071" y="2359152"/>
            <a:ext cx="457200" cy="411480"/>
          </a:xfrm>
          <a:prstGeom prst="rect">
            <a:avLst/>
          </a:prstGeom>
          <a:noFill/>
        </p:spPr>
        <p:txBody>
          <a:bodyPr wrap="square">
            <a:spAutoFit/>
          </a:bodyPr>
          <a:lstStyle/>
          <a:p>
            <a:pPr algn="l"/>
            <a:r>
              <a:rPr sz="1100" b="1" i="0">
                <a:solidFill>
                  <a:srgbClr val="C9A84C"/>
                </a:solidFill>
              </a:rPr>
              <a:t>04</a:t>
            </a:r>
          </a:p>
        </p:txBody>
      </p:sp>
      <p:sp>
        <p:nvSpPr>
          <p:cNvPr id="21" name="TextBox 20"/>
          <p:cNvSpPr txBox="1"/>
          <p:nvPr/>
        </p:nvSpPr>
        <p:spPr>
          <a:xfrm>
            <a:off x="7434071" y="2697480"/>
            <a:ext cx="1920240" cy="1554480"/>
          </a:xfrm>
          <a:prstGeom prst="rect">
            <a:avLst/>
          </a:prstGeom>
          <a:noFill/>
        </p:spPr>
        <p:txBody>
          <a:bodyPr wrap="square">
            <a:spAutoFit/>
          </a:bodyPr>
          <a:lstStyle/>
          <a:p>
            <a:pPr algn="l"/>
            <a:r>
              <a:rPr sz="1200" b="0" i="0">
                <a:solidFill>
                  <a:srgbClr val="0A0A0A"/>
                </a:solidFill>
              </a:rPr>
              <a:t>They visit
BiziBid.com and
download the app</a:t>
            </a:r>
          </a:p>
        </p:txBody>
      </p:sp>
      <p:sp>
        <p:nvSpPr>
          <p:cNvPr id="22" name="TextBox 21"/>
          <p:cNvSpPr txBox="1"/>
          <p:nvPr/>
        </p:nvSpPr>
        <p:spPr>
          <a:xfrm>
            <a:off x="9464040" y="3063240"/>
            <a:ext cx="201168" cy="457200"/>
          </a:xfrm>
          <a:prstGeom prst="rect">
            <a:avLst/>
          </a:prstGeom>
          <a:noFill/>
        </p:spPr>
        <p:txBody>
          <a:bodyPr wrap="square">
            <a:spAutoFit/>
          </a:bodyPr>
          <a:lstStyle/>
          <a:p>
            <a:pPr algn="l"/>
            <a:r>
              <a:rPr sz="1800" b="0" i="0">
                <a:solidFill>
                  <a:srgbClr val="C9A84C"/>
                </a:solidFill>
              </a:rPr>
              <a:t>→</a:t>
            </a:r>
          </a:p>
        </p:txBody>
      </p:sp>
      <p:sp>
        <p:nvSpPr>
          <p:cNvPr id="23" name="Rectangle 22"/>
          <p:cNvSpPr/>
          <p:nvPr/>
        </p:nvSpPr>
        <p:spPr>
          <a:xfrm>
            <a:off x="9683496" y="2286000"/>
            <a:ext cx="2103120" cy="21031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74936" y="2359152"/>
            <a:ext cx="457200" cy="411480"/>
          </a:xfrm>
          <a:prstGeom prst="rect">
            <a:avLst/>
          </a:prstGeom>
          <a:noFill/>
        </p:spPr>
        <p:txBody>
          <a:bodyPr wrap="square">
            <a:spAutoFit/>
          </a:bodyPr>
          <a:lstStyle/>
          <a:p>
            <a:pPr algn="l"/>
            <a:r>
              <a:rPr sz="1100" b="1" i="0">
                <a:solidFill>
                  <a:srgbClr val="C9A84C"/>
                </a:solidFill>
              </a:rPr>
              <a:t>05</a:t>
            </a:r>
          </a:p>
        </p:txBody>
      </p:sp>
      <p:sp>
        <p:nvSpPr>
          <p:cNvPr id="25" name="TextBox 24"/>
          <p:cNvSpPr txBox="1"/>
          <p:nvPr/>
        </p:nvSpPr>
        <p:spPr>
          <a:xfrm>
            <a:off x="9774936" y="2697480"/>
            <a:ext cx="1920240" cy="1554480"/>
          </a:xfrm>
          <a:prstGeom prst="rect">
            <a:avLst/>
          </a:prstGeom>
          <a:noFill/>
        </p:spPr>
        <p:txBody>
          <a:bodyPr wrap="square">
            <a:spAutoFit/>
          </a:bodyPr>
          <a:lstStyle/>
          <a:p>
            <a:pPr algn="l"/>
            <a:r>
              <a:rPr sz="1200" b="0" i="0">
                <a:solidFill>
                  <a:srgbClr val="FFFFFF"/>
                </a:solidFill>
              </a:rPr>
              <a:t>New registered
bidder — on your
auctions</a:t>
            </a:r>
          </a:p>
        </p:txBody>
      </p:sp>
      <p:sp>
        <p:nvSpPr>
          <p:cNvPr id="26" name="Rectangle 25"/>
          <p:cNvSpPr/>
          <p:nvPr/>
        </p:nvSpPr>
        <p:spPr>
          <a:xfrm>
            <a:off x="457200" y="4617720"/>
            <a:ext cx="11247120" cy="150876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 y="4617720"/>
            <a:ext cx="54864" cy="15087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4681728"/>
            <a:ext cx="10972800" cy="1371600"/>
          </a:xfrm>
          <a:prstGeom prst="rect">
            <a:avLst/>
          </a:prstGeom>
          <a:noFill/>
        </p:spPr>
        <p:txBody>
          <a:bodyPr wrap="square">
            <a:spAutoFit/>
          </a:bodyPr>
          <a:lstStyle/>
          <a:p>
            <a:pPr>
              <a:spcBef>
                <a:spcPts val="400"/>
              </a:spcBef>
            </a:pPr>
            <a:r>
              <a:rPr sz="1100">
                <a:solidFill>
                  <a:srgbClr val="4B5563"/>
                </a:solidFill>
              </a:rPr>
              <a:t>▸  When a customer shares a live auction, the shared link shows the current bid price and countdown timer — creating instant FOMO for their contacts.</a:t>
            </a:r>
          </a:p>
          <a:p>
            <a:pPr>
              <a:spcBef>
                <a:spcPts val="400"/>
              </a:spcBef>
            </a:pPr>
            <a:r>
              <a:rPr sz="1100">
                <a:solidFill>
                  <a:srgbClr val="4B5563"/>
                </a:solidFill>
              </a:rPr>
              <a:t>▸  When a customer shares a Deal of the Week, the link shows your store name, product image, and fixed price — driving walk-in intent.</a:t>
            </a:r>
          </a:p>
          <a:p>
            <a:pPr>
              <a:spcBef>
                <a:spcPts val="400"/>
              </a:spcBef>
            </a:pPr>
            <a:r>
              <a:rPr sz="1100">
                <a:solidFill>
                  <a:srgbClr val="4B5563"/>
                </a:solidFill>
              </a:rPr>
              <a:t>▸  All shared links direct visitors to BiziBid.com where they can download the app. New downloads = new bidders on your products.</a:t>
            </a:r>
          </a:p>
        </p:txBody>
      </p:sp>
      <p:sp>
        <p:nvSpPr>
          <p:cNvPr id="29" name="TextBox 28"/>
          <p:cNvSpPr txBox="1"/>
          <p:nvPr/>
        </p:nvSpPr>
        <p:spPr>
          <a:xfrm>
            <a:off x="11247120" y="6492240"/>
            <a:ext cx="914400" cy="320040"/>
          </a:xfrm>
          <a:prstGeom prst="rect">
            <a:avLst/>
          </a:prstGeom>
          <a:noFill/>
        </p:spPr>
        <p:txBody>
          <a:bodyPr wrap="square">
            <a:spAutoFit/>
          </a:bodyPr>
          <a:lstStyle/>
          <a:p>
            <a:pPr algn="r"/>
            <a:r>
              <a:rPr sz="900" b="0" i="0">
                <a:solidFill>
                  <a:srgbClr val="9CA3AF"/>
                </a:solidFill>
              </a:rPr>
              <a:t>9 / 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41248"/>
            <a:ext cx="12188952" cy="640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2286000" cy="502920"/>
          </a:xfrm>
          <a:prstGeom prst="rect">
            <a:avLst/>
          </a:prstGeom>
          <a:noFill/>
        </p:spPr>
        <p:txBody>
          <a:bodyPr wrap="none">
            <a:spAutoFit/>
          </a:bodyPr>
          <a:lstStyle/>
          <a:p>
            <a:r>
              <a:rPr sz="2200" b="1">
                <a:solidFill>
                  <a:srgbClr val="0A0A0A"/>
                </a:solidFill>
              </a:rPr>
              <a:t>Bizi</a:t>
            </a:r>
            <a:r>
              <a:rPr sz="2200" b="1">
                <a:solidFill>
                  <a:srgbClr val="C9A84C"/>
                </a:solidFill>
              </a:rPr>
              <a:t>Bid</a:t>
            </a:r>
          </a:p>
        </p:txBody>
      </p:sp>
      <p:sp>
        <p:nvSpPr>
          <p:cNvPr id="4" name="TextBox 3"/>
          <p:cNvSpPr txBox="1"/>
          <p:nvPr/>
        </p:nvSpPr>
        <p:spPr>
          <a:xfrm>
            <a:off x="457200" y="960120"/>
            <a:ext cx="7315200" cy="292608"/>
          </a:xfrm>
          <a:prstGeom prst="rect">
            <a:avLst/>
          </a:prstGeom>
          <a:noFill/>
        </p:spPr>
        <p:txBody>
          <a:bodyPr wrap="square">
            <a:spAutoFit/>
          </a:bodyPr>
          <a:lstStyle/>
          <a:p>
            <a:pPr algn="l"/>
            <a:r>
              <a:rPr sz="900" b="1" i="0">
                <a:solidFill>
                  <a:srgbClr val="C9A84C"/>
                </a:solidFill>
              </a:rPr>
              <a:t>PLACEMENT &amp; VISIBILITY</a:t>
            </a:r>
          </a:p>
        </p:txBody>
      </p:sp>
      <p:sp>
        <p:nvSpPr>
          <p:cNvPr id="5" name="TextBox 4"/>
          <p:cNvSpPr txBox="1"/>
          <p:nvPr/>
        </p:nvSpPr>
        <p:spPr>
          <a:xfrm>
            <a:off x="457200" y="1325880"/>
            <a:ext cx="11247120" cy="777240"/>
          </a:xfrm>
          <a:prstGeom prst="rect">
            <a:avLst/>
          </a:prstGeom>
          <a:noFill/>
        </p:spPr>
        <p:txBody>
          <a:bodyPr wrap="square">
            <a:spAutoFit/>
          </a:bodyPr>
          <a:lstStyle/>
          <a:p>
            <a:pPr algn="l"/>
            <a:r>
              <a:rPr sz="3000" b="1" i="0">
                <a:solidFill>
                  <a:srgbClr val="0A0A0A"/>
                </a:solidFill>
              </a:rPr>
              <a:t>Secure Your Position on the BiziBid Keypad</a:t>
            </a:r>
          </a:p>
        </p:txBody>
      </p:sp>
      <p:sp>
        <p:nvSpPr>
          <p:cNvPr id="6" name="TextBox 5"/>
          <p:cNvSpPr txBox="1"/>
          <p:nvPr/>
        </p:nvSpPr>
        <p:spPr>
          <a:xfrm>
            <a:off x="457200" y="1920240"/>
            <a:ext cx="11247120" cy="411480"/>
          </a:xfrm>
          <a:prstGeom prst="rect">
            <a:avLst/>
          </a:prstGeom>
          <a:noFill/>
        </p:spPr>
        <p:txBody>
          <a:bodyPr wrap="square">
            <a:spAutoFit/>
          </a:bodyPr>
          <a:lstStyle/>
          <a:p>
            <a:pPr algn="l"/>
            <a:r>
              <a:rPr sz="1500" b="0" i="0">
                <a:solidFill>
                  <a:srgbClr val="4B5563"/>
                </a:solidFill>
              </a:rPr>
              <a:t>Your store logo placement on the app home screen is a paid position. First come, first placed.</a:t>
            </a:r>
          </a:p>
        </p:txBody>
      </p:sp>
      <p:sp>
        <p:nvSpPr>
          <p:cNvPr id="7" name="Rectangle 6"/>
          <p:cNvSpPr/>
          <p:nvPr/>
        </p:nvSpPr>
        <p:spPr>
          <a:xfrm>
            <a:off x="457200" y="2331720"/>
            <a:ext cx="5577840" cy="178308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2459736"/>
            <a:ext cx="5212080" cy="411480"/>
          </a:xfrm>
          <a:prstGeom prst="rect">
            <a:avLst/>
          </a:prstGeom>
          <a:noFill/>
        </p:spPr>
        <p:txBody>
          <a:bodyPr wrap="square">
            <a:spAutoFit/>
          </a:bodyPr>
          <a:lstStyle/>
          <a:p>
            <a:pPr algn="l"/>
            <a:r>
              <a:rPr sz="1300" b="1" i="0">
                <a:solidFill>
                  <a:srgbClr val="0A0A0A"/>
                </a:solidFill>
              </a:rPr>
              <a:t>Tier 1 — Pinned Position</a:t>
            </a:r>
          </a:p>
        </p:txBody>
      </p:sp>
      <p:sp>
        <p:nvSpPr>
          <p:cNvPr id="9" name="TextBox 8"/>
          <p:cNvSpPr txBox="1"/>
          <p:nvPr/>
        </p:nvSpPr>
        <p:spPr>
          <a:xfrm>
            <a:off x="621792" y="2898648"/>
            <a:ext cx="5212080" cy="1097280"/>
          </a:xfrm>
          <a:prstGeom prst="rect">
            <a:avLst/>
          </a:prstGeom>
          <a:noFill/>
        </p:spPr>
        <p:txBody>
          <a:bodyPr wrap="square">
            <a:spAutoFit/>
          </a:bodyPr>
          <a:lstStyle/>
          <a:p>
            <a:pPr algn="l"/>
            <a:r>
              <a:rPr sz="1100" b="0" i="0">
                <a:solidFill>
                  <a:srgbClr val="0B1F3A"/>
                </a:solidFill>
              </a:rPr>
              <a:t>Top of every user's home screen. Your logo is displayed largest, with full notification badge visibility. One store only — the most premium placement available.</a:t>
            </a:r>
          </a:p>
        </p:txBody>
      </p:sp>
      <p:sp>
        <p:nvSpPr>
          <p:cNvPr id="10" name="Rectangle 9"/>
          <p:cNvSpPr/>
          <p:nvPr/>
        </p:nvSpPr>
        <p:spPr>
          <a:xfrm>
            <a:off x="6263640" y="2331720"/>
            <a:ext cx="5577840" cy="178308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28231" y="2459736"/>
            <a:ext cx="5212080" cy="411480"/>
          </a:xfrm>
          <a:prstGeom prst="rect">
            <a:avLst/>
          </a:prstGeom>
          <a:noFill/>
        </p:spPr>
        <p:txBody>
          <a:bodyPr wrap="square">
            <a:spAutoFit/>
          </a:bodyPr>
          <a:lstStyle/>
          <a:p>
            <a:pPr algn="l"/>
            <a:r>
              <a:rPr sz="1300" b="1" i="0">
                <a:solidFill>
                  <a:srgbClr val="FFFFFF"/>
                </a:solidFill>
              </a:rPr>
              <a:t>Tier 2 — Primary Keypad</a:t>
            </a:r>
          </a:p>
        </p:txBody>
      </p:sp>
      <p:sp>
        <p:nvSpPr>
          <p:cNvPr id="12" name="TextBox 11"/>
          <p:cNvSpPr txBox="1"/>
          <p:nvPr/>
        </p:nvSpPr>
        <p:spPr>
          <a:xfrm>
            <a:off x="6428231" y="2898648"/>
            <a:ext cx="5212080" cy="1097280"/>
          </a:xfrm>
          <a:prstGeom prst="rect">
            <a:avLst/>
          </a:prstGeom>
          <a:noFill/>
        </p:spPr>
        <p:txBody>
          <a:bodyPr wrap="square">
            <a:spAutoFit/>
          </a:bodyPr>
          <a:lstStyle/>
          <a:p>
            <a:pPr algn="l"/>
            <a:r>
              <a:rPr sz="1100" b="0" i="0">
                <a:solidFill>
                  <a:srgbClr val="D0D8E8"/>
                </a:solidFill>
              </a:rPr>
              <a:t>First 6–9 visible positions in the main keypad grid. Seen immediately when the app opens. No scrolling required. Highest traffic positions after Tier 1.</a:t>
            </a:r>
          </a:p>
        </p:txBody>
      </p:sp>
      <p:sp>
        <p:nvSpPr>
          <p:cNvPr id="13" name="Rectangle 12"/>
          <p:cNvSpPr/>
          <p:nvPr/>
        </p:nvSpPr>
        <p:spPr>
          <a:xfrm>
            <a:off x="457200" y="4297679"/>
            <a:ext cx="5577840" cy="1783080"/>
          </a:xfrm>
          <a:prstGeom prst="rect">
            <a:avLst/>
          </a:prstGeom>
          <a:solidFill>
            <a:srgbClr val="4B5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4425695"/>
            <a:ext cx="5212080" cy="411480"/>
          </a:xfrm>
          <a:prstGeom prst="rect">
            <a:avLst/>
          </a:prstGeom>
          <a:noFill/>
        </p:spPr>
        <p:txBody>
          <a:bodyPr wrap="square">
            <a:spAutoFit/>
          </a:bodyPr>
          <a:lstStyle/>
          <a:p>
            <a:pPr algn="l"/>
            <a:r>
              <a:rPr sz="1300" b="1" i="0">
                <a:solidFill>
                  <a:srgbClr val="FFFFFF"/>
                </a:solidFill>
              </a:rPr>
              <a:t>Tier 3 — Slide-Out Panel</a:t>
            </a:r>
          </a:p>
        </p:txBody>
      </p:sp>
      <p:sp>
        <p:nvSpPr>
          <p:cNvPr id="15" name="TextBox 14"/>
          <p:cNvSpPr txBox="1"/>
          <p:nvPr/>
        </p:nvSpPr>
        <p:spPr>
          <a:xfrm>
            <a:off x="621792" y="4864607"/>
            <a:ext cx="5212080" cy="1097280"/>
          </a:xfrm>
          <a:prstGeom prst="rect">
            <a:avLst/>
          </a:prstGeom>
          <a:noFill/>
        </p:spPr>
        <p:txBody>
          <a:bodyPr wrap="square">
            <a:spAutoFit/>
          </a:bodyPr>
          <a:lstStyle/>
          <a:p>
            <a:pPr algn="l"/>
            <a:r>
              <a:rPr sz="1100" b="0" i="0">
                <a:solidFill>
                  <a:srgbClr val="FFFFFF"/>
                </a:solidFill>
              </a:rPr>
              <a:t>Your store appears in the extended keypad panel (swipe to reveal). Still accessible and notified — ideal for entry-level platform participation.</a:t>
            </a:r>
          </a:p>
        </p:txBody>
      </p:sp>
      <p:sp>
        <p:nvSpPr>
          <p:cNvPr id="16" name="Rectangle 15"/>
          <p:cNvSpPr/>
          <p:nvPr/>
        </p:nvSpPr>
        <p:spPr>
          <a:xfrm>
            <a:off x="6263640" y="4297679"/>
            <a:ext cx="5577840" cy="178308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1" y="4425695"/>
            <a:ext cx="5212080" cy="411480"/>
          </a:xfrm>
          <a:prstGeom prst="rect">
            <a:avLst/>
          </a:prstGeom>
          <a:noFill/>
        </p:spPr>
        <p:txBody>
          <a:bodyPr wrap="square">
            <a:spAutoFit/>
          </a:bodyPr>
          <a:lstStyle/>
          <a:p>
            <a:pPr algn="l"/>
            <a:r>
              <a:rPr sz="1300" b="1" i="0">
                <a:solidFill>
                  <a:srgbClr val="FFFFFF"/>
                </a:solidFill>
              </a:rPr>
              <a:t>Banner Advertisements</a:t>
            </a:r>
          </a:p>
        </p:txBody>
      </p:sp>
      <p:sp>
        <p:nvSpPr>
          <p:cNvPr id="18" name="TextBox 17"/>
          <p:cNvSpPr txBox="1"/>
          <p:nvPr/>
        </p:nvSpPr>
        <p:spPr>
          <a:xfrm>
            <a:off x="6428231" y="4864607"/>
            <a:ext cx="5212080" cy="1097280"/>
          </a:xfrm>
          <a:prstGeom prst="rect">
            <a:avLst/>
          </a:prstGeom>
          <a:noFill/>
        </p:spPr>
        <p:txBody>
          <a:bodyPr wrap="square">
            <a:spAutoFit/>
          </a:bodyPr>
          <a:lstStyle/>
          <a:p>
            <a:pPr algn="l"/>
            <a:r>
              <a:rPr sz="1100" b="0" i="0">
                <a:solidFill>
                  <a:srgbClr val="FFFFFF"/>
                </a:solidFill>
              </a:rPr>
              <a:t>A rotating advertisement strip displayed across all screens at the top of the app. Separate from keypad placement — available to any registered partner.</a:t>
            </a:r>
          </a:p>
        </p:txBody>
      </p:sp>
      <p:sp>
        <p:nvSpPr>
          <p:cNvPr id="19" name="TextBox 18"/>
          <p:cNvSpPr txBox="1"/>
          <p:nvPr/>
        </p:nvSpPr>
        <p:spPr>
          <a:xfrm>
            <a:off x="11247120" y="6492240"/>
            <a:ext cx="914400" cy="320040"/>
          </a:xfrm>
          <a:prstGeom prst="rect">
            <a:avLst/>
          </a:prstGeom>
          <a:noFill/>
        </p:spPr>
        <p:txBody>
          <a:bodyPr wrap="square">
            <a:spAutoFit/>
          </a:bodyPr>
          <a:lstStyle/>
          <a:p>
            <a:pPr algn="r"/>
            <a:r>
              <a:rPr sz="900" b="0" i="0">
                <a:solidFill>
                  <a:srgbClr val="9CA3AF"/>
                </a:solidFill>
              </a:rPr>
              <a:t>10 / 14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41248"/>
            <a:ext cx="12188952" cy="640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2286000" cy="502920"/>
          </a:xfrm>
          <a:prstGeom prst="rect">
            <a:avLst/>
          </a:prstGeom>
          <a:noFill/>
        </p:spPr>
        <p:txBody>
          <a:bodyPr wrap="none">
            <a:spAutoFit/>
          </a:bodyPr>
          <a:lstStyle/>
          <a:p>
            <a:r>
              <a:rPr sz="2200" b="1">
                <a:solidFill>
                  <a:srgbClr val="0A0A0A"/>
                </a:solidFill>
              </a:rPr>
              <a:t>Bizi</a:t>
            </a:r>
            <a:r>
              <a:rPr sz="2200" b="1">
                <a:solidFill>
                  <a:srgbClr val="C9A84C"/>
                </a:solidFill>
              </a:rPr>
              <a:t>Bid</a:t>
            </a:r>
          </a:p>
        </p:txBody>
      </p:sp>
      <p:sp>
        <p:nvSpPr>
          <p:cNvPr id="4" name="TextBox 3"/>
          <p:cNvSpPr txBox="1"/>
          <p:nvPr/>
        </p:nvSpPr>
        <p:spPr>
          <a:xfrm>
            <a:off x="457200" y="960120"/>
            <a:ext cx="7315200" cy="292608"/>
          </a:xfrm>
          <a:prstGeom prst="rect">
            <a:avLst/>
          </a:prstGeom>
          <a:noFill/>
        </p:spPr>
        <p:txBody>
          <a:bodyPr wrap="square">
            <a:spAutoFit/>
          </a:bodyPr>
          <a:lstStyle/>
          <a:p>
            <a:pPr algn="l"/>
            <a:r>
              <a:rPr sz="900" b="1" i="0">
                <a:solidFill>
                  <a:srgbClr val="C9A84C"/>
                </a:solidFill>
              </a:rPr>
              <a:t>CUSTOMER APP FEATURES</a:t>
            </a:r>
          </a:p>
        </p:txBody>
      </p:sp>
      <p:sp>
        <p:nvSpPr>
          <p:cNvPr id="5" name="TextBox 4"/>
          <p:cNvSpPr txBox="1"/>
          <p:nvPr/>
        </p:nvSpPr>
        <p:spPr>
          <a:xfrm>
            <a:off x="457200" y="1325880"/>
            <a:ext cx="11247120" cy="777240"/>
          </a:xfrm>
          <a:prstGeom prst="rect">
            <a:avLst/>
          </a:prstGeom>
          <a:noFill/>
        </p:spPr>
        <p:txBody>
          <a:bodyPr wrap="square">
            <a:spAutoFit/>
          </a:bodyPr>
          <a:lstStyle/>
          <a:p>
            <a:pPr algn="l"/>
            <a:r>
              <a:rPr sz="3000" b="1" i="0">
                <a:solidFill>
                  <a:srgbClr val="0A0A0A"/>
                </a:solidFill>
              </a:rPr>
              <a:t>What BiziBid Offers Your Customers</a:t>
            </a:r>
          </a:p>
        </p:txBody>
      </p:sp>
      <p:sp>
        <p:nvSpPr>
          <p:cNvPr id="6" name="TextBox 5"/>
          <p:cNvSpPr txBox="1"/>
          <p:nvPr/>
        </p:nvSpPr>
        <p:spPr>
          <a:xfrm>
            <a:off x="457200" y="1920240"/>
            <a:ext cx="11247120" cy="411480"/>
          </a:xfrm>
          <a:prstGeom prst="rect">
            <a:avLst/>
          </a:prstGeom>
          <a:noFill/>
        </p:spPr>
        <p:txBody>
          <a:bodyPr wrap="square">
            <a:spAutoFit/>
          </a:bodyPr>
          <a:lstStyle/>
          <a:p>
            <a:pPr algn="l"/>
            <a:r>
              <a:rPr sz="1500" b="0" i="0">
                <a:solidFill>
                  <a:srgbClr val="4B5563"/>
                </a:solidFill>
              </a:rPr>
              <a:t>A rich, engaging experience that keeps registered users checking the app every day.</a:t>
            </a:r>
          </a:p>
        </p:txBody>
      </p:sp>
      <p:sp>
        <p:nvSpPr>
          <p:cNvPr id="7" name="Rectangle 6"/>
          <p:cNvSpPr/>
          <p:nvPr/>
        </p:nvSpPr>
        <p:spPr>
          <a:xfrm>
            <a:off x="347472" y="2331720"/>
            <a:ext cx="2788920" cy="1627632"/>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47472" y="2331720"/>
            <a:ext cx="45720" cy="162763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441448"/>
            <a:ext cx="457200" cy="411480"/>
          </a:xfrm>
          <a:prstGeom prst="rect">
            <a:avLst/>
          </a:prstGeom>
          <a:noFill/>
        </p:spPr>
        <p:txBody>
          <a:bodyPr wrap="square">
            <a:spAutoFit/>
          </a:bodyPr>
          <a:lstStyle/>
          <a:p>
            <a:pPr algn="l"/>
            <a:r>
              <a:rPr sz="2000" b="0" i="0">
                <a:solidFill>
                  <a:srgbClr val="C9A84C"/>
                </a:solidFill>
              </a:rPr>
              <a:t>📱</a:t>
            </a:r>
          </a:p>
        </p:txBody>
      </p:sp>
      <p:sp>
        <p:nvSpPr>
          <p:cNvPr id="10" name="TextBox 9"/>
          <p:cNvSpPr txBox="1"/>
          <p:nvPr/>
        </p:nvSpPr>
        <p:spPr>
          <a:xfrm>
            <a:off x="941832" y="2441448"/>
            <a:ext cx="2057400" cy="347472"/>
          </a:xfrm>
          <a:prstGeom prst="rect">
            <a:avLst/>
          </a:prstGeom>
          <a:noFill/>
        </p:spPr>
        <p:txBody>
          <a:bodyPr wrap="square">
            <a:spAutoFit/>
          </a:bodyPr>
          <a:lstStyle/>
          <a:p>
            <a:pPr algn="l"/>
            <a:r>
              <a:rPr sz="1200" b="1" i="0">
                <a:solidFill>
                  <a:srgbClr val="0A0A0A"/>
                </a:solidFill>
              </a:rPr>
              <a:t>Free to Download &amp; Register</a:t>
            </a:r>
          </a:p>
        </p:txBody>
      </p:sp>
      <p:sp>
        <p:nvSpPr>
          <p:cNvPr id="11" name="TextBox 10"/>
          <p:cNvSpPr txBox="1"/>
          <p:nvPr/>
        </p:nvSpPr>
        <p:spPr>
          <a:xfrm>
            <a:off x="457200" y="2862072"/>
            <a:ext cx="2560320" cy="987552"/>
          </a:xfrm>
          <a:prstGeom prst="rect">
            <a:avLst/>
          </a:prstGeom>
          <a:noFill/>
        </p:spPr>
        <p:txBody>
          <a:bodyPr wrap="square">
            <a:spAutoFit/>
          </a:bodyPr>
          <a:lstStyle/>
          <a:p>
            <a:pPr algn="l"/>
            <a:r>
              <a:rPr sz="1000" b="0" i="0">
                <a:solidFill>
                  <a:srgbClr val="4B5563"/>
                </a:solidFill>
              </a:rPr>
              <a:t>The BiziBid app is free for all consumers. Registration requires name, email, and mobile number — quick and simple.</a:t>
            </a:r>
          </a:p>
        </p:txBody>
      </p:sp>
      <p:sp>
        <p:nvSpPr>
          <p:cNvPr id="12" name="Rectangle 11"/>
          <p:cNvSpPr/>
          <p:nvPr/>
        </p:nvSpPr>
        <p:spPr>
          <a:xfrm>
            <a:off x="3310128" y="2331720"/>
            <a:ext cx="2788920" cy="1627632"/>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10128" y="2331720"/>
            <a:ext cx="45720" cy="162763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19856" y="2441448"/>
            <a:ext cx="457200" cy="411480"/>
          </a:xfrm>
          <a:prstGeom prst="rect">
            <a:avLst/>
          </a:prstGeom>
          <a:noFill/>
        </p:spPr>
        <p:txBody>
          <a:bodyPr wrap="square">
            <a:spAutoFit/>
          </a:bodyPr>
          <a:lstStyle/>
          <a:p>
            <a:pPr algn="l"/>
            <a:r>
              <a:rPr sz="2000" b="0" i="0">
                <a:solidFill>
                  <a:srgbClr val="C9A84C"/>
                </a:solidFill>
              </a:rPr>
              <a:t>⚡</a:t>
            </a:r>
          </a:p>
        </p:txBody>
      </p:sp>
      <p:sp>
        <p:nvSpPr>
          <p:cNvPr id="15" name="TextBox 14"/>
          <p:cNvSpPr txBox="1"/>
          <p:nvPr/>
        </p:nvSpPr>
        <p:spPr>
          <a:xfrm>
            <a:off x="3904488" y="2441448"/>
            <a:ext cx="2057400" cy="347472"/>
          </a:xfrm>
          <a:prstGeom prst="rect">
            <a:avLst/>
          </a:prstGeom>
          <a:noFill/>
        </p:spPr>
        <p:txBody>
          <a:bodyPr wrap="square">
            <a:spAutoFit/>
          </a:bodyPr>
          <a:lstStyle/>
          <a:p>
            <a:pPr algn="l"/>
            <a:r>
              <a:rPr sz="1200" b="1" i="0">
                <a:solidFill>
                  <a:srgbClr val="0A0A0A"/>
                </a:solidFill>
              </a:rPr>
              <a:t>Real-Time Live Bidding</a:t>
            </a:r>
          </a:p>
        </p:txBody>
      </p:sp>
      <p:sp>
        <p:nvSpPr>
          <p:cNvPr id="16" name="TextBox 15"/>
          <p:cNvSpPr txBox="1"/>
          <p:nvPr/>
        </p:nvSpPr>
        <p:spPr>
          <a:xfrm>
            <a:off x="3419856" y="2862072"/>
            <a:ext cx="2560320" cy="987552"/>
          </a:xfrm>
          <a:prstGeom prst="rect">
            <a:avLst/>
          </a:prstGeom>
          <a:noFill/>
        </p:spPr>
        <p:txBody>
          <a:bodyPr wrap="square">
            <a:spAutoFit/>
          </a:bodyPr>
          <a:lstStyle/>
          <a:p>
            <a:pPr algn="l"/>
            <a:r>
              <a:rPr sz="1000" b="0" i="0">
                <a:solidFill>
                  <a:srgbClr val="4B5563"/>
                </a:solidFill>
              </a:rPr>
              <a:t>Bids update live on screen. Customers see every new bid the moment it is placed — no refreshing required.</a:t>
            </a:r>
          </a:p>
        </p:txBody>
      </p:sp>
      <p:sp>
        <p:nvSpPr>
          <p:cNvPr id="17" name="Rectangle 16"/>
          <p:cNvSpPr/>
          <p:nvPr/>
        </p:nvSpPr>
        <p:spPr>
          <a:xfrm>
            <a:off x="6272784" y="2331720"/>
            <a:ext cx="2788920" cy="1627632"/>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72784" y="2331720"/>
            <a:ext cx="45720" cy="162763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82512" y="2441448"/>
            <a:ext cx="457200" cy="411480"/>
          </a:xfrm>
          <a:prstGeom prst="rect">
            <a:avLst/>
          </a:prstGeom>
          <a:noFill/>
        </p:spPr>
        <p:txBody>
          <a:bodyPr wrap="square">
            <a:spAutoFit/>
          </a:bodyPr>
          <a:lstStyle/>
          <a:p>
            <a:pPr algn="l"/>
            <a:r>
              <a:rPr sz="2000" b="0" i="0">
                <a:solidFill>
                  <a:srgbClr val="C9A84C"/>
                </a:solidFill>
              </a:rPr>
              <a:t>🔴</a:t>
            </a:r>
          </a:p>
        </p:txBody>
      </p:sp>
      <p:sp>
        <p:nvSpPr>
          <p:cNvPr id="20" name="TextBox 19"/>
          <p:cNvSpPr txBox="1"/>
          <p:nvPr/>
        </p:nvSpPr>
        <p:spPr>
          <a:xfrm>
            <a:off x="6867144" y="2441448"/>
            <a:ext cx="2057400" cy="347472"/>
          </a:xfrm>
          <a:prstGeom prst="rect">
            <a:avLst/>
          </a:prstGeom>
          <a:noFill/>
        </p:spPr>
        <p:txBody>
          <a:bodyPr wrap="square">
            <a:spAutoFit/>
          </a:bodyPr>
          <a:lstStyle/>
          <a:p>
            <a:pPr algn="l"/>
            <a:r>
              <a:rPr sz="1200" b="1" i="0">
                <a:solidFill>
                  <a:srgbClr val="0A0A0A"/>
                </a:solidFill>
              </a:rPr>
              <a:t>Instant Outbid Alerts</a:t>
            </a:r>
          </a:p>
        </p:txBody>
      </p:sp>
      <p:sp>
        <p:nvSpPr>
          <p:cNvPr id="21" name="TextBox 20"/>
          <p:cNvSpPr txBox="1"/>
          <p:nvPr/>
        </p:nvSpPr>
        <p:spPr>
          <a:xfrm>
            <a:off x="6382512" y="2862072"/>
            <a:ext cx="2560320" cy="987552"/>
          </a:xfrm>
          <a:prstGeom prst="rect">
            <a:avLst/>
          </a:prstGeom>
          <a:noFill/>
        </p:spPr>
        <p:txBody>
          <a:bodyPr wrap="square">
            <a:spAutoFit/>
          </a:bodyPr>
          <a:lstStyle/>
          <a:p>
            <a:pPr algn="l"/>
            <a:r>
              <a:rPr sz="1000" b="0" i="0">
                <a:solidFill>
                  <a:srgbClr val="4B5563"/>
                </a:solidFill>
              </a:rPr>
              <a:t>Push notifications fire the moment a customer is outbid. They are brought back to the app to counter-bid immediately.</a:t>
            </a:r>
          </a:p>
        </p:txBody>
      </p:sp>
      <p:sp>
        <p:nvSpPr>
          <p:cNvPr id="22" name="Rectangle 21"/>
          <p:cNvSpPr/>
          <p:nvPr/>
        </p:nvSpPr>
        <p:spPr>
          <a:xfrm>
            <a:off x="9235440" y="2331720"/>
            <a:ext cx="2788920" cy="1627632"/>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235440" y="2331720"/>
            <a:ext cx="45720" cy="162763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45168" y="2441448"/>
            <a:ext cx="457200" cy="411480"/>
          </a:xfrm>
          <a:prstGeom prst="rect">
            <a:avLst/>
          </a:prstGeom>
          <a:noFill/>
        </p:spPr>
        <p:txBody>
          <a:bodyPr wrap="square">
            <a:spAutoFit/>
          </a:bodyPr>
          <a:lstStyle/>
          <a:p>
            <a:pPr algn="l"/>
            <a:r>
              <a:rPr sz="2000" b="0" i="0">
                <a:solidFill>
                  <a:srgbClr val="C9A84C"/>
                </a:solidFill>
              </a:rPr>
              <a:t>📌</a:t>
            </a:r>
          </a:p>
        </p:txBody>
      </p:sp>
      <p:sp>
        <p:nvSpPr>
          <p:cNvPr id="25" name="TextBox 24"/>
          <p:cNvSpPr txBox="1"/>
          <p:nvPr/>
        </p:nvSpPr>
        <p:spPr>
          <a:xfrm>
            <a:off x="9829800" y="2441448"/>
            <a:ext cx="2057400" cy="347472"/>
          </a:xfrm>
          <a:prstGeom prst="rect">
            <a:avLst/>
          </a:prstGeom>
          <a:noFill/>
        </p:spPr>
        <p:txBody>
          <a:bodyPr wrap="square">
            <a:spAutoFit/>
          </a:bodyPr>
          <a:lstStyle/>
          <a:p>
            <a:pPr algn="l"/>
            <a:r>
              <a:rPr sz="1200" b="1" i="0">
                <a:solidFill>
                  <a:srgbClr val="0A0A0A"/>
                </a:solidFill>
              </a:rPr>
              <a:t>Pin Favourite Stores</a:t>
            </a:r>
          </a:p>
        </p:txBody>
      </p:sp>
      <p:sp>
        <p:nvSpPr>
          <p:cNvPr id="26" name="TextBox 25"/>
          <p:cNvSpPr txBox="1"/>
          <p:nvPr/>
        </p:nvSpPr>
        <p:spPr>
          <a:xfrm>
            <a:off x="9345168" y="2862072"/>
            <a:ext cx="2560320" cy="987552"/>
          </a:xfrm>
          <a:prstGeom prst="rect">
            <a:avLst/>
          </a:prstGeom>
          <a:noFill/>
        </p:spPr>
        <p:txBody>
          <a:bodyPr wrap="square">
            <a:spAutoFit/>
          </a:bodyPr>
          <a:lstStyle/>
          <a:p>
            <a:pPr algn="l"/>
            <a:r>
              <a:rPr sz="1000" b="0" i="0">
                <a:solidFill>
                  <a:srgbClr val="4B5563"/>
                </a:solidFill>
              </a:rPr>
              <a:t>Customers pin their favourite store for prominent home screen placement and enhanced notification visibility.</a:t>
            </a:r>
          </a:p>
        </p:txBody>
      </p:sp>
      <p:sp>
        <p:nvSpPr>
          <p:cNvPr id="27" name="Rectangle 26"/>
          <p:cNvSpPr/>
          <p:nvPr/>
        </p:nvSpPr>
        <p:spPr>
          <a:xfrm>
            <a:off x="347472" y="4069079"/>
            <a:ext cx="2788920" cy="1627632"/>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47472" y="4069079"/>
            <a:ext cx="45720" cy="162763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4178807"/>
            <a:ext cx="457200" cy="411480"/>
          </a:xfrm>
          <a:prstGeom prst="rect">
            <a:avLst/>
          </a:prstGeom>
          <a:noFill/>
        </p:spPr>
        <p:txBody>
          <a:bodyPr wrap="square">
            <a:spAutoFit/>
          </a:bodyPr>
          <a:lstStyle/>
          <a:p>
            <a:pPr algn="l"/>
            <a:r>
              <a:rPr sz="2000" b="0" i="0">
                <a:solidFill>
                  <a:srgbClr val="C9A84C"/>
                </a:solidFill>
              </a:rPr>
              <a:t>🗂️</a:t>
            </a:r>
          </a:p>
        </p:txBody>
      </p:sp>
      <p:sp>
        <p:nvSpPr>
          <p:cNvPr id="30" name="TextBox 29"/>
          <p:cNvSpPr txBox="1"/>
          <p:nvPr/>
        </p:nvSpPr>
        <p:spPr>
          <a:xfrm>
            <a:off x="941832" y="4178807"/>
            <a:ext cx="2057400" cy="347472"/>
          </a:xfrm>
          <a:prstGeom prst="rect">
            <a:avLst/>
          </a:prstGeom>
          <a:noFill/>
        </p:spPr>
        <p:txBody>
          <a:bodyPr wrap="square">
            <a:spAutoFit/>
          </a:bodyPr>
          <a:lstStyle/>
          <a:p>
            <a:pPr algn="l"/>
            <a:r>
              <a:rPr sz="1200" b="1" i="0">
                <a:solidFill>
                  <a:srgbClr val="0A0A0A"/>
                </a:solidFill>
              </a:rPr>
              <a:t>Active Bids Panel</a:t>
            </a:r>
          </a:p>
        </p:txBody>
      </p:sp>
      <p:sp>
        <p:nvSpPr>
          <p:cNvPr id="31" name="TextBox 30"/>
          <p:cNvSpPr txBox="1"/>
          <p:nvPr/>
        </p:nvSpPr>
        <p:spPr>
          <a:xfrm>
            <a:off x="457200" y="4599431"/>
            <a:ext cx="2560320" cy="987552"/>
          </a:xfrm>
          <a:prstGeom prst="rect">
            <a:avLst/>
          </a:prstGeom>
          <a:noFill/>
        </p:spPr>
        <p:txBody>
          <a:bodyPr wrap="square">
            <a:spAutoFit/>
          </a:bodyPr>
          <a:lstStyle/>
          <a:p>
            <a:pPr algn="l"/>
            <a:r>
              <a:rPr sz="1000" b="0" i="0">
                <a:solidFill>
                  <a:srgbClr val="4B5563"/>
                </a:solidFill>
              </a:rPr>
              <a:t>A slide-out panel shows all active bids across all stores simultaneously. Customers manage multiple auctions without navigating away.</a:t>
            </a:r>
          </a:p>
        </p:txBody>
      </p:sp>
      <p:sp>
        <p:nvSpPr>
          <p:cNvPr id="32" name="Rectangle 31"/>
          <p:cNvSpPr/>
          <p:nvPr/>
        </p:nvSpPr>
        <p:spPr>
          <a:xfrm>
            <a:off x="3310128" y="4069079"/>
            <a:ext cx="2788920" cy="1627632"/>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10128" y="4069079"/>
            <a:ext cx="45720" cy="162763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19856" y="4178807"/>
            <a:ext cx="457200" cy="411480"/>
          </a:xfrm>
          <a:prstGeom prst="rect">
            <a:avLst/>
          </a:prstGeom>
          <a:noFill/>
        </p:spPr>
        <p:txBody>
          <a:bodyPr wrap="square">
            <a:spAutoFit/>
          </a:bodyPr>
          <a:lstStyle/>
          <a:p>
            <a:pPr algn="l"/>
            <a:r>
              <a:rPr sz="2000" b="0" i="0">
                <a:solidFill>
                  <a:srgbClr val="C9A84C"/>
                </a:solidFill>
              </a:rPr>
              <a:t>↗️</a:t>
            </a:r>
          </a:p>
        </p:txBody>
      </p:sp>
      <p:sp>
        <p:nvSpPr>
          <p:cNvPr id="35" name="TextBox 34"/>
          <p:cNvSpPr txBox="1"/>
          <p:nvPr/>
        </p:nvSpPr>
        <p:spPr>
          <a:xfrm>
            <a:off x="3904488" y="4178807"/>
            <a:ext cx="2057400" cy="347472"/>
          </a:xfrm>
          <a:prstGeom prst="rect">
            <a:avLst/>
          </a:prstGeom>
          <a:noFill/>
        </p:spPr>
        <p:txBody>
          <a:bodyPr wrap="square">
            <a:spAutoFit/>
          </a:bodyPr>
          <a:lstStyle/>
          <a:p>
            <a:pPr algn="l"/>
            <a:r>
              <a:rPr sz="1200" b="1" i="0">
                <a:solidFill>
                  <a:srgbClr val="0A0A0A"/>
                </a:solidFill>
              </a:rPr>
              <a:t>Share Deals &amp; Auctions</a:t>
            </a:r>
          </a:p>
        </p:txBody>
      </p:sp>
      <p:sp>
        <p:nvSpPr>
          <p:cNvPr id="36" name="TextBox 35"/>
          <p:cNvSpPr txBox="1"/>
          <p:nvPr/>
        </p:nvSpPr>
        <p:spPr>
          <a:xfrm>
            <a:off x="3419856" y="4599431"/>
            <a:ext cx="2560320" cy="987552"/>
          </a:xfrm>
          <a:prstGeom prst="rect">
            <a:avLst/>
          </a:prstGeom>
          <a:noFill/>
        </p:spPr>
        <p:txBody>
          <a:bodyPr wrap="square">
            <a:spAutoFit/>
          </a:bodyPr>
          <a:lstStyle/>
          <a:p>
            <a:pPr algn="l"/>
            <a:r>
              <a:rPr sz="1000" b="0" i="0">
                <a:solidFill>
                  <a:srgbClr val="4B5563"/>
                </a:solidFill>
              </a:rPr>
              <a:t>One tap to share any deal or auction to WhatsApp, Instagram, or any app on their phone. Every share promotes your store.</a:t>
            </a:r>
          </a:p>
        </p:txBody>
      </p:sp>
      <p:sp>
        <p:nvSpPr>
          <p:cNvPr id="37" name="Rectangle 36"/>
          <p:cNvSpPr/>
          <p:nvPr/>
        </p:nvSpPr>
        <p:spPr>
          <a:xfrm>
            <a:off x="6272784" y="4069079"/>
            <a:ext cx="2788920" cy="1627632"/>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272784" y="4069079"/>
            <a:ext cx="45720" cy="162763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82512" y="4178807"/>
            <a:ext cx="457200" cy="411480"/>
          </a:xfrm>
          <a:prstGeom prst="rect">
            <a:avLst/>
          </a:prstGeom>
          <a:noFill/>
        </p:spPr>
        <p:txBody>
          <a:bodyPr wrap="square">
            <a:spAutoFit/>
          </a:bodyPr>
          <a:lstStyle/>
          <a:p>
            <a:pPr algn="l"/>
            <a:r>
              <a:rPr sz="2000" b="0" i="0">
                <a:solidFill>
                  <a:srgbClr val="C9A84C"/>
                </a:solidFill>
              </a:rPr>
              <a:t>🏷️</a:t>
            </a:r>
          </a:p>
        </p:txBody>
      </p:sp>
      <p:sp>
        <p:nvSpPr>
          <p:cNvPr id="40" name="TextBox 39"/>
          <p:cNvSpPr txBox="1"/>
          <p:nvPr/>
        </p:nvSpPr>
        <p:spPr>
          <a:xfrm>
            <a:off x="6867144" y="4178807"/>
            <a:ext cx="2057400" cy="347472"/>
          </a:xfrm>
          <a:prstGeom prst="rect">
            <a:avLst/>
          </a:prstGeom>
          <a:noFill/>
        </p:spPr>
        <p:txBody>
          <a:bodyPr wrap="square">
            <a:spAutoFit/>
          </a:bodyPr>
          <a:lstStyle/>
          <a:p>
            <a:pPr algn="l"/>
            <a:r>
              <a:rPr sz="1200" b="1" i="0">
                <a:solidFill>
                  <a:srgbClr val="0A0A0A"/>
                </a:solidFill>
              </a:rPr>
              <a:t>Like &amp; Save Deals</a:t>
            </a:r>
          </a:p>
        </p:txBody>
      </p:sp>
      <p:sp>
        <p:nvSpPr>
          <p:cNvPr id="41" name="TextBox 40"/>
          <p:cNvSpPr txBox="1"/>
          <p:nvPr/>
        </p:nvSpPr>
        <p:spPr>
          <a:xfrm>
            <a:off x="6382512" y="4599431"/>
            <a:ext cx="2560320" cy="987552"/>
          </a:xfrm>
          <a:prstGeom prst="rect">
            <a:avLst/>
          </a:prstGeom>
          <a:noFill/>
        </p:spPr>
        <p:txBody>
          <a:bodyPr wrap="square">
            <a:spAutoFit/>
          </a:bodyPr>
          <a:lstStyle/>
          <a:p>
            <a:pPr algn="l"/>
            <a:r>
              <a:rPr sz="1000" b="0" i="0">
                <a:solidFill>
                  <a:srgbClr val="4B5563"/>
                </a:solidFill>
              </a:rPr>
              <a:t>Customers like deals they are interested in. High like counts signal popular products and drive walk-in intent.</a:t>
            </a:r>
          </a:p>
        </p:txBody>
      </p:sp>
      <p:sp>
        <p:nvSpPr>
          <p:cNvPr id="42" name="Rectangle 41"/>
          <p:cNvSpPr/>
          <p:nvPr/>
        </p:nvSpPr>
        <p:spPr>
          <a:xfrm>
            <a:off x="9235440" y="4069079"/>
            <a:ext cx="2788920" cy="1627632"/>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235440" y="4069079"/>
            <a:ext cx="45720" cy="162763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345168" y="4178807"/>
            <a:ext cx="457200" cy="411480"/>
          </a:xfrm>
          <a:prstGeom prst="rect">
            <a:avLst/>
          </a:prstGeom>
          <a:noFill/>
        </p:spPr>
        <p:txBody>
          <a:bodyPr wrap="square">
            <a:spAutoFit/>
          </a:bodyPr>
          <a:lstStyle/>
          <a:p>
            <a:pPr algn="l"/>
            <a:r>
              <a:rPr sz="2000" b="0" i="0">
                <a:solidFill>
                  <a:srgbClr val="C9A84C"/>
                </a:solidFill>
              </a:rPr>
              <a:t>🔑</a:t>
            </a:r>
          </a:p>
        </p:txBody>
      </p:sp>
      <p:sp>
        <p:nvSpPr>
          <p:cNvPr id="45" name="TextBox 44"/>
          <p:cNvSpPr txBox="1"/>
          <p:nvPr/>
        </p:nvSpPr>
        <p:spPr>
          <a:xfrm>
            <a:off x="9829800" y="4178807"/>
            <a:ext cx="2057400" cy="347472"/>
          </a:xfrm>
          <a:prstGeom prst="rect">
            <a:avLst/>
          </a:prstGeom>
          <a:noFill/>
        </p:spPr>
        <p:txBody>
          <a:bodyPr wrap="square">
            <a:spAutoFit/>
          </a:bodyPr>
          <a:lstStyle/>
          <a:p>
            <a:pPr algn="l"/>
            <a:r>
              <a:rPr sz="1200" b="1" i="0">
                <a:solidFill>
                  <a:srgbClr val="0A0A0A"/>
                </a:solidFill>
              </a:rPr>
              <a:t>Unique Collection Code</a:t>
            </a:r>
          </a:p>
        </p:txBody>
      </p:sp>
      <p:sp>
        <p:nvSpPr>
          <p:cNvPr id="46" name="TextBox 45"/>
          <p:cNvSpPr txBox="1"/>
          <p:nvPr/>
        </p:nvSpPr>
        <p:spPr>
          <a:xfrm>
            <a:off x="9345168" y="4599431"/>
            <a:ext cx="2560320" cy="987552"/>
          </a:xfrm>
          <a:prstGeom prst="rect">
            <a:avLst/>
          </a:prstGeom>
          <a:noFill/>
        </p:spPr>
        <p:txBody>
          <a:bodyPr wrap="square">
            <a:spAutoFit/>
          </a:bodyPr>
          <a:lstStyle/>
          <a:p>
            <a:pPr algn="l"/>
            <a:r>
              <a:rPr sz="1000" b="0" i="0">
                <a:solidFill>
                  <a:srgbClr val="4B5563"/>
                </a:solidFill>
              </a:rPr>
              <a:t>Every auction winner receives a unique code on their phone to present at your cashier — secure, simple, fraud-proof.</a:t>
            </a:r>
          </a:p>
        </p:txBody>
      </p:sp>
      <p:sp>
        <p:nvSpPr>
          <p:cNvPr id="47" name="TextBox 46"/>
          <p:cNvSpPr txBox="1"/>
          <p:nvPr/>
        </p:nvSpPr>
        <p:spPr>
          <a:xfrm>
            <a:off x="11247120" y="6492240"/>
            <a:ext cx="914400" cy="320040"/>
          </a:xfrm>
          <a:prstGeom prst="rect">
            <a:avLst/>
          </a:prstGeom>
          <a:noFill/>
        </p:spPr>
        <p:txBody>
          <a:bodyPr wrap="square">
            <a:spAutoFit/>
          </a:bodyPr>
          <a:lstStyle/>
          <a:p>
            <a:pPr algn="r"/>
            <a:r>
              <a:rPr sz="900" b="0" i="0">
                <a:solidFill>
                  <a:srgbClr val="9CA3AF"/>
                </a:solidFill>
              </a:rPr>
              <a:t>11 / 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41248"/>
            <a:ext cx="12188952" cy="640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2286000" cy="502920"/>
          </a:xfrm>
          <a:prstGeom prst="rect">
            <a:avLst/>
          </a:prstGeom>
          <a:noFill/>
        </p:spPr>
        <p:txBody>
          <a:bodyPr wrap="none">
            <a:spAutoFit/>
          </a:bodyPr>
          <a:lstStyle/>
          <a:p>
            <a:r>
              <a:rPr sz="2200" b="1">
                <a:solidFill>
                  <a:srgbClr val="0A0A0A"/>
                </a:solidFill>
              </a:rPr>
              <a:t>Bizi</a:t>
            </a:r>
            <a:r>
              <a:rPr sz="2200" b="1">
                <a:solidFill>
                  <a:srgbClr val="C9A84C"/>
                </a:solidFill>
              </a:rPr>
              <a:t>Bid</a:t>
            </a:r>
          </a:p>
        </p:txBody>
      </p:sp>
      <p:sp>
        <p:nvSpPr>
          <p:cNvPr id="4" name="TextBox 3"/>
          <p:cNvSpPr txBox="1"/>
          <p:nvPr/>
        </p:nvSpPr>
        <p:spPr>
          <a:xfrm>
            <a:off x="457200" y="960120"/>
            <a:ext cx="7315200" cy="292608"/>
          </a:xfrm>
          <a:prstGeom prst="rect">
            <a:avLst/>
          </a:prstGeom>
          <a:noFill/>
        </p:spPr>
        <p:txBody>
          <a:bodyPr wrap="square">
            <a:spAutoFit/>
          </a:bodyPr>
          <a:lstStyle/>
          <a:p>
            <a:pPr algn="l"/>
            <a:r>
              <a:rPr sz="900" b="1" i="0">
                <a:solidFill>
                  <a:srgbClr val="C9A84C"/>
                </a:solidFill>
              </a:rPr>
              <a:t>PARTNERSHIP PRICING</a:t>
            </a:r>
          </a:p>
        </p:txBody>
      </p:sp>
      <p:sp>
        <p:nvSpPr>
          <p:cNvPr id="5" name="TextBox 4"/>
          <p:cNvSpPr txBox="1"/>
          <p:nvPr/>
        </p:nvSpPr>
        <p:spPr>
          <a:xfrm>
            <a:off x="457200" y="1325880"/>
            <a:ext cx="11247120" cy="777240"/>
          </a:xfrm>
          <a:prstGeom prst="rect">
            <a:avLst/>
          </a:prstGeom>
          <a:noFill/>
        </p:spPr>
        <p:txBody>
          <a:bodyPr wrap="square">
            <a:spAutoFit/>
          </a:bodyPr>
          <a:lstStyle/>
          <a:p>
            <a:pPr algn="l"/>
            <a:r>
              <a:rPr sz="3000" b="1" i="0">
                <a:solidFill>
                  <a:srgbClr val="0A0A0A"/>
                </a:solidFill>
              </a:rPr>
              <a:t>Simple, Transparent Pricing (BBD)</a:t>
            </a:r>
          </a:p>
        </p:txBody>
      </p:sp>
      <p:sp>
        <p:nvSpPr>
          <p:cNvPr id="6" name="TextBox 5"/>
          <p:cNvSpPr txBox="1"/>
          <p:nvPr/>
        </p:nvSpPr>
        <p:spPr>
          <a:xfrm>
            <a:off x="457200" y="1920240"/>
            <a:ext cx="11247120" cy="411480"/>
          </a:xfrm>
          <a:prstGeom prst="rect">
            <a:avLst/>
          </a:prstGeom>
          <a:noFill/>
        </p:spPr>
        <p:txBody>
          <a:bodyPr wrap="square">
            <a:spAutoFit/>
          </a:bodyPr>
          <a:lstStyle/>
          <a:p>
            <a:pPr algn="l"/>
            <a:r>
              <a:rPr sz="1500" b="0" i="0">
                <a:solidFill>
                  <a:srgbClr val="4B5563"/>
                </a:solidFill>
              </a:rPr>
              <a:t>All rates are fixed for the first 12 months for founding partners. No hidden fees.</a:t>
            </a:r>
          </a:p>
        </p:txBody>
      </p:sp>
      <p:sp>
        <p:nvSpPr>
          <p:cNvPr id="7" name="Rectangle 6"/>
          <p:cNvSpPr/>
          <p:nvPr/>
        </p:nvSpPr>
        <p:spPr>
          <a:xfrm>
            <a:off x="457200" y="2194560"/>
            <a:ext cx="11247120" cy="128016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194560"/>
            <a:ext cx="54864" cy="12801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267712"/>
            <a:ext cx="2286000" cy="457200"/>
          </a:xfrm>
          <a:prstGeom prst="rect">
            <a:avLst/>
          </a:prstGeom>
          <a:noFill/>
        </p:spPr>
        <p:txBody>
          <a:bodyPr wrap="square">
            <a:spAutoFit/>
          </a:bodyPr>
          <a:lstStyle/>
          <a:p>
            <a:pPr algn="l"/>
            <a:r>
              <a:rPr sz="2200" b="1" i="0">
                <a:solidFill>
                  <a:srgbClr val="C9A84C"/>
                </a:solidFill>
              </a:rPr>
              <a:t>60 DAYS FREE</a:t>
            </a:r>
          </a:p>
        </p:txBody>
      </p:sp>
      <p:sp>
        <p:nvSpPr>
          <p:cNvPr id="10" name="TextBox 9"/>
          <p:cNvSpPr txBox="1"/>
          <p:nvPr/>
        </p:nvSpPr>
        <p:spPr>
          <a:xfrm>
            <a:off x="3017520" y="2286000"/>
            <a:ext cx="8503920" cy="1097280"/>
          </a:xfrm>
          <a:prstGeom prst="rect">
            <a:avLst/>
          </a:prstGeom>
          <a:noFill/>
        </p:spPr>
        <p:txBody>
          <a:bodyPr wrap="square">
            <a:spAutoFit/>
          </a:bodyPr>
          <a:lstStyle/>
          <a:p>
            <a:pPr algn="l"/>
            <a:r>
              <a:rPr sz="1200" b="0" i="0">
                <a:solidFill>
                  <a:srgbClr val="FFFFFF"/>
                </a:solidFill>
              </a:rPr>
              <a:t>No monthly cost for the first 60 days. A $500.00 BBD deposit secures your primary advertisement placement within the app — guaranteeing your store is featured prominently to all registered users from day one.</a:t>
            </a:r>
          </a:p>
        </p:txBody>
      </p:sp>
      <p:sp>
        <p:nvSpPr>
          <p:cNvPr id="11" name="Rectangle 10"/>
          <p:cNvSpPr/>
          <p:nvPr/>
        </p:nvSpPr>
        <p:spPr>
          <a:xfrm>
            <a:off x="457200" y="3611880"/>
            <a:ext cx="3474720" cy="34747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657600"/>
            <a:ext cx="3337560" cy="274320"/>
          </a:xfrm>
          <a:prstGeom prst="rect">
            <a:avLst/>
          </a:prstGeom>
          <a:noFill/>
        </p:spPr>
        <p:txBody>
          <a:bodyPr wrap="square">
            <a:spAutoFit/>
          </a:bodyPr>
          <a:lstStyle/>
          <a:p>
            <a:pPr algn="l"/>
            <a:r>
              <a:rPr sz="1100" b="1" i="0">
                <a:solidFill>
                  <a:srgbClr val="FFFFFF"/>
                </a:solidFill>
              </a:rPr>
              <a:t>Service</a:t>
            </a:r>
          </a:p>
        </p:txBody>
      </p:sp>
      <p:sp>
        <p:nvSpPr>
          <p:cNvPr id="13" name="Rectangle 12"/>
          <p:cNvSpPr/>
          <p:nvPr/>
        </p:nvSpPr>
        <p:spPr>
          <a:xfrm>
            <a:off x="3931920" y="3611880"/>
            <a:ext cx="5669280" cy="34747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23359" y="3657600"/>
            <a:ext cx="5532120" cy="274320"/>
          </a:xfrm>
          <a:prstGeom prst="rect">
            <a:avLst/>
          </a:prstGeom>
          <a:noFill/>
        </p:spPr>
        <p:txBody>
          <a:bodyPr wrap="square">
            <a:spAutoFit/>
          </a:bodyPr>
          <a:lstStyle/>
          <a:p>
            <a:pPr algn="l"/>
            <a:r>
              <a:rPr sz="1100" b="1" i="0">
                <a:solidFill>
                  <a:srgbClr val="FFFFFF"/>
                </a:solidFill>
              </a:rPr>
              <a:t>Description</a:t>
            </a:r>
          </a:p>
        </p:txBody>
      </p:sp>
      <p:sp>
        <p:nvSpPr>
          <p:cNvPr id="15" name="Rectangle 14"/>
          <p:cNvSpPr/>
          <p:nvPr/>
        </p:nvSpPr>
        <p:spPr>
          <a:xfrm>
            <a:off x="9601200" y="3611880"/>
            <a:ext cx="1920240" cy="34747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0" y="3657600"/>
            <a:ext cx="1783080" cy="274320"/>
          </a:xfrm>
          <a:prstGeom prst="rect">
            <a:avLst/>
          </a:prstGeom>
          <a:noFill/>
        </p:spPr>
        <p:txBody>
          <a:bodyPr wrap="square">
            <a:spAutoFit/>
          </a:bodyPr>
          <a:lstStyle/>
          <a:p>
            <a:pPr algn="l"/>
            <a:r>
              <a:rPr sz="1100" b="1" i="0">
                <a:solidFill>
                  <a:srgbClr val="FFFFFF"/>
                </a:solidFill>
              </a:rPr>
              <a:t>Rate (BBD)</a:t>
            </a:r>
          </a:p>
        </p:txBody>
      </p:sp>
      <p:sp>
        <p:nvSpPr>
          <p:cNvPr id="17" name="Rectangle 16"/>
          <p:cNvSpPr/>
          <p:nvPr/>
        </p:nvSpPr>
        <p:spPr>
          <a:xfrm>
            <a:off x="457200" y="3959352"/>
            <a:ext cx="3474720" cy="475488"/>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4023360"/>
            <a:ext cx="3337560" cy="384048"/>
          </a:xfrm>
          <a:prstGeom prst="rect">
            <a:avLst/>
          </a:prstGeom>
          <a:noFill/>
        </p:spPr>
        <p:txBody>
          <a:bodyPr wrap="square">
            <a:spAutoFit/>
          </a:bodyPr>
          <a:lstStyle/>
          <a:p>
            <a:pPr algn="l"/>
            <a:r>
              <a:rPr sz="1100" b="0" i="0">
                <a:solidFill>
                  <a:srgbClr val="0A0A0A"/>
                </a:solidFill>
              </a:rPr>
              <a:t>Base Listing Package</a:t>
            </a:r>
          </a:p>
        </p:txBody>
      </p:sp>
      <p:sp>
        <p:nvSpPr>
          <p:cNvPr id="19" name="Rectangle 18"/>
          <p:cNvSpPr/>
          <p:nvPr/>
        </p:nvSpPr>
        <p:spPr>
          <a:xfrm>
            <a:off x="3931920" y="3959352"/>
            <a:ext cx="5669280" cy="475488"/>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023359" y="4023360"/>
            <a:ext cx="5532120" cy="384048"/>
          </a:xfrm>
          <a:prstGeom prst="rect">
            <a:avLst/>
          </a:prstGeom>
          <a:noFill/>
        </p:spPr>
        <p:txBody>
          <a:bodyPr wrap="square">
            <a:spAutoFit/>
          </a:bodyPr>
          <a:lstStyle/>
          <a:p>
            <a:pPr algn="l"/>
            <a:r>
              <a:rPr sz="1100" b="0" i="0">
                <a:solidFill>
                  <a:srgbClr val="0A0A0A"/>
                </a:solidFill>
              </a:rPr>
              <a:t>Up to 25 items listed per week on the app</a:t>
            </a:r>
          </a:p>
        </p:txBody>
      </p:sp>
      <p:sp>
        <p:nvSpPr>
          <p:cNvPr id="21" name="Rectangle 20"/>
          <p:cNvSpPr/>
          <p:nvPr/>
        </p:nvSpPr>
        <p:spPr>
          <a:xfrm>
            <a:off x="9601200" y="3959352"/>
            <a:ext cx="1920240" cy="475488"/>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0" y="4023360"/>
            <a:ext cx="1783080" cy="384048"/>
          </a:xfrm>
          <a:prstGeom prst="rect">
            <a:avLst/>
          </a:prstGeom>
          <a:noFill/>
        </p:spPr>
        <p:txBody>
          <a:bodyPr wrap="square">
            <a:spAutoFit/>
          </a:bodyPr>
          <a:lstStyle/>
          <a:p>
            <a:pPr algn="l"/>
            <a:r>
              <a:rPr sz="1100" b="1" i="0">
                <a:solidFill>
                  <a:srgbClr val="0B1F3A"/>
                </a:solidFill>
              </a:rPr>
              <a:t>$450.00 / month</a:t>
            </a:r>
          </a:p>
        </p:txBody>
      </p:sp>
      <p:sp>
        <p:nvSpPr>
          <p:cNvPr id="23" name="Rectangle 22"/>
          <p:cNvSpPr/>
          <p:nvPr/>
        </p:nvSpPr>
        <p:spPr>
          <a:xfrm>
            <a:off x="457200" y="4434840"/>
            <a:ext cx="347472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498848"/>
            <a:ext cx="3337560" cy="384048"/>
          </a:xfrm>
          <a:prstGeom prst="rect">
            <a:avLst/>
          </a:prstGeom>
          <a:noFill/>
        </p:spPr>
        <p:txBody>
          <a:bodyPr wrap="square">
            <a:spAutoFit/>
          </a:bodyPr>
          <a:lstStyle/>
          <a:p>
            <a:pPr algn="l"/>
            <a:r>
              <a:rPr sz="1100" b="0" i="0">
                <a:solidFill>
                  <a:srgbClr val="0A0A0A"/>
                </a:solidFill>
              </a:rPr>
              <a:t>Additional Items</a:t>
            </a:r>
          </a:p>
        </p:txBody>
      </p:sp>
      <p:sp>
        <p:nvSpPr>
          <p:cNvPr id="25" name="Rectangle 24"/>
          <p:cNvSpPr/>
          <p:nvPr/>
        </p:nvSpPr>
        <p:spPr>
          <a:xfrm>
            <a:off x="3931920" y="4434840"/>
            <a:ext cx="566928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023359" y="4498848"/>
            <a:ext cx="5532120" cy="384048"/>
          </a:xfrm>
          <a:prstGeom prst="rect">
            <a:avLst/>
          </a:prstGeom>
          <a:noFill/>
        </p:spPr>
        <p:txBody>
          <a:bodyPr wrap="square">
            <a:spAutoFit/>
          </a:bodyPr>
          <a:lstStyle/>
          <a:p>
            <a:pPr algn="l"/>
            <a:r>
              <a:rPr sz="1100" b="0" i="0">
                <a:solidFill>
                  <a:srgbClr val="0A0A0A"/>
                </a:solidFill>
              </a:rPr>
              <a:t>Per additional 10 items above the 25-item base</a:t>
            </a:r>
          </a:p>
        </p:txBody>
      </p:sp>
      <p:sp>
        <p:nvSpPr>
          <p:cNvPr id="27" name="Rectangle 26"/>
          <p:cNvSpPr/>
          <p:nvPr/>
        </p:nvSpPr>
        <p:spPr>
          <a:xfrm>
            <a:off x="9601200" y="4434840"/>
            <a:ext cx="192024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92640" y="4498848"/>
            <a:ext cx="1783080" cy="384048"/>
          </a:xfrm>
          <a:prstGeom prst="rect">
            <a:avLst/>
          </a:prstGeom>
          <a:noFill/>
        </p:spPr>
        <p:txBody>
          <a:bodyPr wrap="square">
            <a:spAutoFit/>
          </a:bodyPr>
          <a:lstStyle/>
          <a:p>
            <a:pPr algn="l"/>
            <a:r>
              <a:rPr sz="1100" b="1" i="0">
                <a:solidFill>
                  <a:srgbClr val="0B1F3A"/>
                </a:solidFill>
              </a:rPr>
              <a:t>$150.00 / month</a:t>
            </a:r>
          </a:p>
        </p:txBody>
      </p:sp>
      <p:sp>
        <p:nvSpPr>
          <p:cNvPr id="29" name="Rectangle 28"/>
          <p:cNvSpPr/>
          <p:nvPr/>
        </p:nvSpPr>
        <p:spPr>
          <a:xfrm>
            <a:off x="457200" y="4910328"/>
            <a:ext cx="3474720" cy="475488"/>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4974336"/>
            <a:ext cx="3337560" cy="384048"/>
          </a:xfrm>
          <a:prstGeom prst="rect">
            <a:avLst/>
          </a:prstGeom>
          <a:noFill/>
        </p:spPr>
        <p:txBody>
          <a:bodyPr wrap="square">
            <a:spAutoFit/>
          </a:bodyPr>
          <a:lstStyle/>
          <a:p>
            <a:pPr algn="l"/>
            <a:r>
              <a:rPr sz="1100" b="0" i="0">
                <a:solidFill>
                  <a:srgbClr val="0A0A0A"/>
                </a:solidFill>
              </a:rPr>
              <a:t>Deal of the Week</a:t>
            </a:r>
          </a:p>
        </p:txBody>
      </p:sp>
      <p:sp>
        <p:nvSpPr>
          <p:cNvPr id="31" name="Rectangle 30"/>
          <p:cNvSpPr/>
          <p:nvPr/>
        </p:nvSpPr>
        <p:spPr>
          <a:xfrm>
            <a:off x="3931920" y="4910328"/>
            <a:ext cx="5669280" cy="475488"/>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023359" y="4974336"/>
            <a:ext cx="5532120" cy="384048"/>
          </a:xfrm>
          <a:prstGeom prst="rect">
            <a:avLst/>
          </a:prstGeom>
          <a:noFill/>
        </p:spPr>
        <p:txBody>
          <a:bodyPr wrap="square">
            <a:spAutoFit/>
          </a:bodyPr>
          <a:lstStyle/>
          <a:p>
            <a:pPr algn="l"/>
            <a:r>
              <a:rPr sz="1100" b="0" i="0">
                <a:solidFill>
                  <a:srgbClr val="0A0A0A"/>
                </a:solidFill>
              </a:rPr>
              <a:t>Featured deal highlighted to all users for 7 days</a:t>
            </a:r>
          </a:p>
        </p:txBody>
      </p:sp>
      <p:sp>
        <p:nvSpPr>
          <p:cNvPr id="33" name="Rectangle 32"/>
          <p:cNvSpPr/>
          <p:nvPr/>
        </p:nvSpPr>
        <p:spPr>
          <a:xfrm>
            <a:off x="9601200" y="4910328"/>
            <a:ext cx="1920240" cy="475488"/>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92640" y="4974336"/>
            <a:ext cx="1783080" cy="384048"/>
          </a:xfrm>
          <a:prstGeom prst="rect">
            <a:avLst/>
          </a:prstGeom>
          <a:noFill/>
        </p:spPr>
        <p:txBody>
          <a:bodyPr wrap="square">
            <a:spAutoFit/>
          </a:bodyPr>
          <a:lstStyle/>
          <a:p>
            <a:pPr algn="l"/>
            <a:r>
              <a:rPr sz="1100" b="1" i="0">
                <a:solidFill>
                  <a:srgbClr val="0B1F3A"/>
                </a:solidFill>
              </a:rPr>
              <a:t>$150.00 / week</a:t>
            </a:r>
          </a:p>
        </p:txBody>
      </p:sp>
      <p:sp>
        <p:nvSpPr>
          <p:cNvPr id="35" name="Rectangle 34"/>
          <p:cNvSpPr/>
          <p:nvPr/>
        </p:nvSpPr>
        <p:spPr>
          <a:xfrm>
            <a:off x="457200" y="5385816"/>
            <a:ext cx="347472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 y="5449824"/>
            <a:ext cx="3337560" cy="384048"/>
          </a:xfrm>
          <a:prstGeom prst="rect">
            <a:avLst/>
          </a:prstGeom>
          <a:noFill/>
        </p:spPr>
        <p:txBody>
          <a:bodyPr wrap="square">
            <a:spAutoFit/>
          </a:bodyPr>
          <a:lstStyle/>
          <a:p>
            <a:pPr algn="l"/>
            <a:r>
              <a:rPr sz="1100" b="0" i="0">
                <a:solidFill>
                  <a:srgbClr val="0A0A0A"/>
                </a:solidFill>
              </a:rPr>
              <a:t>Deal of the Month</a:t>
            </a:r>
          </a:p>
        </p:txBody>
      </p:sp>
      <p:sp>
        <p:nvSpPr>
          <p:cNvPr id="37" name="Rectangle 36"/>
          <p:cNvSpPr/>
          <p:nvPr/>
        </p:nvSpPr>
        <p:spPr>
          <a:xfrm>
            <a:off x="3931920" y="5385816"/>
            <a:ext cx="566928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023359" y="5449824"/>
            <a:ext cx="5532120" cy="384048"/>
          </a:xfrm>
          <a:prstGeom prst="rect">
            <a:avLst/>
          </a:prstGeom>
          <a:noFill/>
        </p:spPr>
        <p:txBody>
          <a:bodyPr wrap="square">
            <a:spAutoFit/>
          </a:bodyPr>
          <a:lstStyle/>
          <a:p>
            <a:pPr algn="l"/>
            <a:r>
              <a:rPr sz="1100" b="0" i="0">
                <a:solidFill>
                  <a:srgbClr val="0A0A0A"/>
                </a:solidFill>
              </a:rPr>
              <a:t>Premium featured deal — top placement for full month</a:t>
            </a:r>
          </a:p>
        </p:txBody>
      </p:sp>
      <p:sp>
        <p:nvSpPr>
          <p:cNvPr id="39" name="Rectangle 38"/>
          <p:cNvSpPr/>
          <p:nvPr/>
        </p:nvSpPr>
        <p:spPr>
          <a:xfrm>
            <a:off x="9601200" y="5385816"/>
            <a:ext cx="192024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692640" y="5449824"/>
            <a:ext cx="1783080" cy="384048"/>
          </a:xfrm>
          <a:prstGeom prst="rect">
            <a:avLst/>
          </a:prstGeom>
          <a:noFill/>
        </p:spPr>
        <p:txBody>
          <a:bodyPr wrap="square">
            <a:spAutoFit/>
          </a:bodyPr>
          <a:lstStyle/>
          <a:p>
            <a:pPr algn="l"/>
            <a:r>
              <a:rPr sz="1100" b="1" i="0">
                <a:solidFill>
                  <a:srgbClr val="0B1F3A"/>
                </a:solidFill>
              </a:rPr>
              <a:t>$200.00 / month</a:t>
            </a:r>
          </a:p>
        </p:txBody>
      </p:sp>
      <p:sp>
        <p:nvSpPr>
          <p:cNvPr id="41" name="TextBox 40"/>
          <p:cNvSpPr txBox="1"/>
          <p:nvPr/>
        </p:nvSpPr>
        <p:spPr>
          <a:xfrm>
            <a:off x="457200" y="6400800"/>
            <a:ext cx="11247120" cy="347472"/>
          </a:xfrm>
          <a:prstGeom prst="rect">
            <a:avLst/>
          </a:prstGeom>
          <a:noFill/>
        </p:spPr>
        <p:txBody>
          <a:bodyPr wrap="square">
            <a:spAutoFit/>
          </a:bodyPr>
          <a:lstStyle/>
          <a:p>
            <a:pPr algn="l"/>
            <a:r>
              <a:rPr sz="1000" b="0" i="1">
                <a:solidFill>
                  <a:srgbClr val="9CA3AF"/>
                </a:solidFill>
              </a:rPr>
              <a:t>All pricing in Barbados Dollars (BBD). Rates fixed for the first 12 months for founding partners. Keypad placement and banner ad pricing available on request.</a:t>
            </a:r>
          </a:p>
        </p:txBody>
      </p:sp>
      <p:sp>
        <p:nvSpPr>
          <p:cNvPr id="42" name="TextBox 41"/>
          <p:cNvSpPr txBox="1"/>
          <p:nvPr/>
        </p:nvSpPr>
        <p:spPr>
          <a:xfrm>
            <a:off x="11247120" y="6492240"/>
            <a:ext cx="914400" cy="320040"/>
          </a:xfrm>
          <a:prstGeom prst="rect">
            <a:avLst/>
          </a:prstGeom>
          <a:noFill/>
        </p:spPr>
        <p:txBody>
          <a:bodyPr wrap="square">
            <a:spAutoFit/>
          </a:bodyPr>
          <a:lstStyle/>
          <a:p>
            <a:pPr algn="r"/>
            <a:r>
              <a:rPr sz="900" b="0" i="0">
                <a:solidFill>
                  <a:srgbClr val="9CA3AF"/>
                </a:solidFill>
              </a:rPr>
              <a:t>12 / 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41248"/>
            <a:ext cx="12188952" cy="640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2286000" cy="502920"/>
          </a:xfrm>
          <a:prstGeom prst="rect">
            <a:avLst/>
          </a:prstGeom>
          <a:noFill/>
        </p:spPr>
        <p:txBody>
          <a:bodyPr wrap="none">
            <a:spAutoFit/>
          </a:bodyPr>
          <a:lstStyle/>
          <a:p>
            <a:r>
              <a:rPr sz="2200" b="1">
                <a:solidFill>
                  <a:srgbClr val="0A0A0A"/>
                </a:solidFill>
              </a:rPr>
              <a:t>Bizi</a:t>
            </a:r>
            <a:r>
              <a:rPr sz="2200" b="1">
                <a:solidFill>
                  <a:srgbClr val="C9A84C"/>
                </a:solidFill>
              </a:rPr>
              <a:t>Bid</a:t>
            </a:r>
          </a:p>
        </p:txBody>
      </p:sp>
      <p:sp>
        <p:nvSpPr>
          <p:cNvPr id="4" name="TextBox 3"/>
          <p:cNvSpPr txBox="1"/>
          <p:nvPr/>
        </p:nvSpPr>
        <p:spPr>
          <a:xfrm>
            <a:off x="457200" y="960120"/>
            <a:ext cx="7315200" cy="292608"/>
          </a:xfrm>
          <a:prstGeom prst="rect">
            <a:avLst/>
          </a:prstGeom>
          <a:noFill/>
        </p:spPr>
        <p:txBody>
          <a:bodyPr wrap="square">
            <a:spAutoFit/>
          </a:bodyPr>
          <a:lstStyle/>
          <a:p>
            <a:pPr algn="l"/>
            <a:r>
              <a:rPr sz="900" b="1" i="0">
                <a:solidFill>
                  <a:srgbClr val="C9A84C"/>
                </a:solidFill>
              </a:rPr>
              <a:t>WHY BIZIBID?</a:t>
            </a:r>
          </a:p>
        </p:txBody>
      </p:sp>
      <p:sp>
        <p:nvSpPr>
          <p:cNvPr id="5" name="TextBox 4"/>
          <p:cNvSpPr txBox="1"/>
          <p:nvPr/>
        </p:nvSpPr>
        <p:spPr>
          <a:xfrm>
            <a:off x="457200" y="1325880"/>
            <a:ext cx="11247120" cy="777240"/>
          </a:xfrm>
          <a:prstGeom prst="rect">
            <a:avLst/>
          </a:prstGeom>
          <a:noFill/>
        </p:spPr>
        <p:txBody>
          <a:bodyPr wrap="square">
            <a:spAutoFit/>
          </a:bodyPr>
          <a:lstStyle/>
          <a:p>
            <a:pPr algn="l"/>
            <a:r>
              <a:rPr sz="3000" b="1" i="0">
                <a:solidFill>
                  <a:srgbClr val="0A0A0A"/>
                </a:solidFill>
              </a:rPr>
              <a:t>Built for Barbados Retail. Starting Today.</a:t>
            </a:r>
          </a:p>
        </p:txBody>
      </p:sp>
      <p:sp>
        <p:nvSpPr>
          <p:cNvPr id="6" name="Rectangle 5"/>
          <p:cNvSpPr/>
          <p:nvPr/>
        </p:nvSpPr>
        <p:spPr>
          <a:xfrm>
            <a:off x="365760" y="2331720"/>
            <a:ext cx="3703320" cy="1664208"/>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2331720"/>
            <a:ext cx="45720" cy="16642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2441448"/>
            <a:ext cx="457200" cy="411480"/>
          </a:xfrm>
          <a:prstGeom prst="rect">
            <a:avLst/>
          </a:prstGeom>
          <a:noFill/>
        </p:spPr>
        <p:txBody>
          <a:bodyPr wrap="square">
            <a:spAutoFit/>
          </a:bodyPr>
          <a:lstStyle/>
          <a:p>
            <a:pPr algn="l"/>
            <a:r>
              <a:rPr sz="2000" b="0" i="0">
                <a:solidFill>
                  <a:srgbClr val="C9A84C"/>
                </a:solidFill>
              </a:rPr>
              <a:t>🏝️</a:t>
            </a:r>
          </a:p>
        </p:txBody>
      </p:sp>
      <p:sp>
        <p:nvSpPr>
          <p:cNvPr id="9" name="TextBox 8"/>
          <p:cNvSpPr txBox="1"/>
          <p:nvPr/>
        </p:nvSpPr>
        <p:spPr>
          <a:xfrm>
            <a:off x="960120" y="2441448"/>
            <a:ext cx="2971800" cy="347472"/>
          </a:xfrm>
          <a:prstGeom prst="rect">
            <a:avLst/>
          </a:prstGeom>
          <a:noFill/>
        </p:spPr>
        <p:txBody>
          <a:bodyPr wrap="square">
            <a:spAutoFit/>
          </a:bodyPr>
          <a:lstStyle/>
          <a:p>
            <a:pPr algn="l"/>
            <a:r>
              <a:rPr sz="1200" b="1" i="0">
                <a:solidFill>
                  <a:srgbClr val="0A0A0A"/>
                </a:solidFill>
              </a:rPr>
              <a:t>Barbados First</a:t>
            </a:r>
          </a:p>
        </p:txBody>
      </p:sp>
      <p:sp>
        <p:nvSpPr>
          <p:cNvPr id="10" name="TextBox 9"/>
          <p:cNvSpPr txBox="1"/>
          <p:nvPr/>
        </p:nvSpPr>
        <p:spPr>
          <a:xfrm>
            <a:off x="475488" y="2862072"/>
            <a:ext cx="3474720" cy="1024128"/>
          </a:xfrm>
          <a:prstGeom prst="rect">
            <a:avLst/>
          </a:prstGeom>
          <a:noFill/>
        </p:spPr>
        <p:txBody>
          <a:bodyPr wrap="square">
            <a:spAutoFit/>
          </a:bodyPr>
          <a:lstStyle/>
          <a:p>
            <a:pPr algn="l"/>
            <a:r>
              <a:rPr sz="1000" b="0" i="0">
                <a:solidFill>
                  <a:srgbClr val="4B5563"/>
                </a:solidFill>
              </a:rPr>
              <a:t>BiziBid is built specifically for the Barbados market — the culture, the community, the retail landscape. Not a foreign platform adapted for the island.</a:t>
            </a:r>
          </a:p>
        </p:txBody>
      </p:sp>
      <p:sp>
        <p:nvSpPr>
          <p:cNvPr id="11" name="Rectangle 10"/>
          <p:cNvSpPr/>
          <p:nvPr/>
        </p:nvSpPr>
        <p:spPr>
          <a:xfrm>
            <a:off x="4297680" y="2331720"/>
            <a:ext cx="3703320" cy="1664208"/>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97680" y="2331720"/>
            <a:ext cx="45720" cy="16642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07408" y="2441448"/>
            <a:ext cx="457200" cy="411480"/>
          </a:xfrm>
          <a:prstGeom prst="rect">
            <a:avLst/>
          </a:prstGeom>
          <a:noFill/>
        </p:spPr>
        <p:txBody>
          <a:bodyPr wrap="square">
            <a:spAutoFit/>
          </a:bodyPr>
          <a:lstStyle/>
          <a:p>
            <a:pPr algn="l"/>
            <a:r>
              <a:rPr sz="2000" b="0" i="0">
                <a:solidFill>
                  <a:srgbClr val="C9A84C"/>
                </a:solidFill>
              </a:rPr>
              <a:t>📲</a:t>
            </a:r>
          </a:p>
        </p:txBody>
      </p:sp>
      <p:sp>
        <p:nvSpPr>
          <p:cNvPr id="14" name="TextBox 13"/>
          <p:cNvSpPr txBox="1"/>
          <p:nvPr/>
        </p:nvSpPr>
        <p:spPr>
          <a:xfrm>
            <a:off x="4892040" y="2441448"/>
            <a:ext cx="2971800" cy="347472"/>
          </a:xfrm>
          <a:prstGeom prst="rect">
            <a:avLst/>
          </a:prstGeom>
          <a:noFill/>
        </p:spPr>
        <p:txBody>
          <a:bodyPr wrap="square">
            <a:spAutoFit/>
          </a:bodyPr>
          <a:lstStyle/>
          <a:p>
            <a:pPr algn="l"/>
            <a:r>
              <a:rPr sz="1200" b="1" i="0">
                <a:solidFill>
                  <a:srgbClr val="0A0A0A"/>
                </a:solidFill>
              </a:rPr>
              <a:t>Zero Technical Effort</a:t>
            </a:r>
          </a:p>
        </p:txBody>
      </p:sp>
      <p:sp>
        <p:nvSpPr>
          <p:cNvPr id="15" name="TextBox 14"/>
          <p:cNvSpPr txBox="1"/>
          <p:nvPr/>
        </p:nvSpPr>
        <p:spPr>
          <a:xfrm>
            <a:off x="4407408" y="2862072"/>
            <a:ext cx="3474720" cy="1024128"/>
          </a:xfrm>
          <a:prstGeom prst="rect">
            <a:avLst/>
          </a:prstGeom>
          <a:noFill/>
        </p:spPr>
        <p:txBody>
          <a:bodyPr wrap="square">
            <a:spAutoFit/>
          </a:bodyPr>
          <a:lstStyle/>
          <a:p>
            <a:pPr algn="l"/>
            <a:r>
              <a:rPr sz="1000" b="0" i="0">
                <a:solidFill>
                  <a:srgbClr val="4B5563"/>
                </a:solidFill>
              </a:rPr>
              <a:t>You upload products and set prices. INTERXDB operates the entire platform — the app, the hosting, the technology, the maintenance. Nothing more is required from you.</a:t>
            </a:r>
          </a:p>
        </p:txBody>
      </p:sp>
      <p:sp>
        <p:nvSpPr>
          <p:cNvPr id="16" name="Rectangle 15"/>
          <p:cNvSpPr/>
          <p:nvPr/>
        </p:nvSpPr>
        <p:spPr>
          <a:xfrm>
            <a:off x="8229600" y="2331720"/>
            <a:ext cx="3703320" cy="1664208"/>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0" y="2331720"/>
            <a:ext cx="45720" cy="16642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39327" y="2441448"/>
            <a:ext cx="457200" cy="411480"/>
          </a:xfrm>
          <a:prstGeom prst="rect">
            <a:avLst/>
          </a:prstGeom>
          <a:noFill/>
        </p:spPr>
        <p:txBody>
          <a:bodyPr wrap="square">
            <a:spAutoFit/>
          </a:bodyPr>
          <a:lstStyle/>
          <a:p>
            <a:pPr algn="l"/>
            <a:r>
              <a:rPr sz="2000" b="0" i="0">
                <a:solidFill>
                  <a:srgbClr val="C9A84C"/>
                </a:solidFill>
              </a:rPr>
              <a:t>📈</a:t>
            </a:r>
          </a:p>
        </p:txBody>
      </p:sp>
      <p:sp>
        <p:nvSpPr>
          <p:cNvPr id="19" name="TextBox 18"/>
          <p:cNvSpPr txBox="1"/>
          <p:nvPr/>
        </p:nvSpPr>
        <p:spPr>
          <a:xfrm>
            <a:off x="8823960" y="2441448"/>
            <a:ext cx="2971800" cy="347472"/>
          </a:xfrm>
          <a:prstGeom prst="rect">
            <a:avLst/>
          </a:prstGeom>
          <a:noFill/>
        </p:spPr>
        <p:txBody>
          <a:bodyPr wrap="square">
            <a:spAutoFit/>
          </a:bodyPr>
          <a:lstStyle/>
          <a:p>
            <a:pPr algn="l"/>
            <a:r>
              <a:rPr sz="1200" b="1" i="0">
                <a:solidFill>
                  <a:srgbClr val="0A0A0A"/>
                </a:solidFill>
              </a:rPr>
              <a:t>Keep Your Store Relevant</a:t>
            </a:r>
          </a:p>
        </p:txBody>
      </p:sp>
      <p:sp>
        <p:nvSpPr>
          <p:cNvPr id="20" name="TextBox 19"/>
          <p:cNvSpPr txBox="1"/>
          <p:nvPr/>
        </p:nvSpPr>
        <p:spPr>
          <a:xfrm>
            <a:off x="8339327" y="2862072"/>
            <a:ext cx="3474720" cy="1024128"/>
          </a:xfrm>
          <a:prstGeom prst="rect">
            <a:avLst/>
          </a:prstGeom>
          <a:noFill/>
        </p:spPr>
        <p:txBody>
          <a:bodyPr wrap="square">
            <a:spAutoFit/>
          </a:bodyPr>
          <a:lstStyle/>
          <a:p>
            <a:pPr algn="l"/>
            <a:r>
              <a:rPr sz="1000" b="0" i="0">
                <a:solidFill>
                  <a:srgbClr val="4B5563"/>
                </a:solidFill>
              </a:rPr>
              <a:t>Digital shopping is growing. BiziBid gives your store a daily digital presence that keeps you competitive with online alternatives — without the cost of building your own platform.</a:t>
            </a:r>
          </a:p>
        </p:txBody>
      </p:sp>
      <p:sp>
        <p:nvSpPr>
          <p:cNvPr id="21" name="Rectangle 20"/>
          <p:cNvSpPr/>
          <p:nvPr/>
        </p:nvSpPr>
        <p:spPr>
          <a:xfrm>
            <a:off x="365760" y="4160520"/>
            <a:ext cx="3703320" cy="1664208"/>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5760" y="4160520"/>
            <a:ext cx="45720" cy="16642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5488" y="4270248"/>
            <a:ext cx="457200" cy="411480"/>
          </a:xfrm>
          <a:prstGeom prst="rect">
            <a:avLst/>
          </a:prstGeom>
          <a:noFill/>
        </p:spPr>
        <p:txBody>
          <a:bodyPr wrap="square">
            <a:spAutoFit/>
          </a:bodyPr>
          <a:lstStyle/>
          <a:p>
            <a:pPr algn="l"/>
            <a:r>
              <a:rPr sz="2000" b="0" i="0">
                <a:solidFill>
                  <a:srgbClr val="C9A84C"/>
                </a:solidFill>
              </a:rPr>
              <a:t>🔒</a:t>
            </a:r>
          </a:p>
        </p:txBody>
      </p:sp>
      <p:sp>
        <p:nvSpPr>
          <p:cNvPr id="24" name="TextBox 23"/>
          <p:cNvSpPr txBox="1"/>
          <p:nvPr/>
        </p:nvSpPr>
        <p:spPr>
          <a:xfrm>
            <a:off x="960120" y="4270248"/>
            <a:ext cx="2971800" cy="347472"/>
          </a:xfrm>
          <a:prstGeom prst="rect">
            <a:avLst/>
          </a:prstGeom>
          <a:noFill/>
        </p:spPr>
        <p:txBody>
          <a:bodyPr wrap="square">
            <a:spAutoFit/>
          </a:bodyPr>
          <a:lstStyle/>
          <a:p>
            <a:pPr algn="l"/>
            <a:r>
              <a:rPr sz="1200" b="1" i="0">
                <a:solidFill>
                  <a:srgbClr val="0A0A0A"/>
                </a:solidFill>
              </a:rPr>
              <a:t>Exclusive &amp; Professional</a:t>
            </a:r>
          </a:p>
        </p:txBody>
      </p:sp>
      <p:sp>
        <p:nvSpPr>
          <p:cNvPr id="25" name="TextBox 24"/>
          <p:cNvSpPr txBox="1"/>
          <p:nvPr/>
        </p:nvSpPr>
        <p:spPr>
          <a:xfrm>
            <a:off x="475488" y="4690872"/>
            <a:ext cx="3474720" cy="1024128"/>
          </a:xfrm>
          <a:prstGeom prst="rect">
            <a:avLst/>
          </a:prstGeom>
          <a:noFill/>
        </p:spPr>
        <p:txBody>
          <a:bodyPr wrap="square">
            <a:spAutoFit/>
          </a:bodyPr>
          <a:lstStyle/>
          <a:p>
            <a:pPr algn="l"/>
            <a:r>
              <a:rPr sz="1000" b="0" i="0">
                <a:solidFill>
                  <a:srgbClr val="4B5563"/>
                </a:solidFill>
              </a:rPr>
              <a:t>Only verified, registered businesses may list products on BiziBid. No individual sellers. No flea-market feel. A premium marketplace that reflects well on your brand.</a:t>
            </a:r>
          </a:p>
        </p:txBody>
      </p:sp>
      <p:sp>
        <p:nvSpPr>
          <p:cNvPr id="26" name="Rectangle 25"/>
          <p:cNvSpPr/>
          <p:nvPr/>
        </p:nvSpPr>
        <p:spPr>
          <a:xfrm>
            <a:off x="4297680" y="4160520"/>
            <a:ext cx="3703320" cy="1664208"/>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297680" y="4160520"/>
            <a:ext cx="45720" cy="16642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07408" y="4270248"/>
            <a:ext cx="457200" cy="411480"/>
          </a:xfrm>
          <a:prstGeom prst="rect">
            <a:avLst/>
          </a:prstGeom>
          <a:noFill/>
        </p:spPr>
        <p:txBody>
          <a:bodyPr wrap="square">
            <a:spAutoFit/>
          </a:bodyPr>
          <a:lstStyle/>
          <a:p>
            <a:pPr algn="l"/>
            <a:r>
              <a:rPr sz="2000" b="0" i="0">
                <a:solidFill>
                  <a:srgbClr val="C9A84C"/>
                </a:solidFill>
              </a:rPr>
              <a:t>👨‍👩‍👧</a:t>
            </a:r>
          </a:p>
        </p:txBody>
      </p:sp>
      <p:sp>
        <p:nvSpPr>
          <p:cNvPr id="29" name="TextBox 28"/>
          <p:cNvSpPr txBox="1"/>
          <p:nvPr/>
        </p:nvSpPr>
        <p:spPr>
          <a:xfrm>
            <a:off x="4892040" y="4270248"/>
            <a:ext cx="2971800" cy="347472"/>
          </a:xfrm>
          <a:prstGeom prst="rect">
            <a:avLst/>
          </a:prstGeom>
          <a:noFill/>
        </p:spPr>
        <p:txBody>
          <a:bodyPr wrap="square">
            <a:spAutoFit/>
          </a:bodyPr>
          <a:lstStyle/>
          <a:p>
            <a:pPr algn="l"/>
            <a:r>
              <a:rPr sz="1200" b="1" i="0">
                <a:solidFill>
                  <a:srgbClr val="0A0A0A"/>
                </a:solidFill>
              </a:rPr>
              <a:t>Your Target Market</a:t>
            </a:r>
          </a:p>
        </p:txBody>
      </p:sp>
      <p:sp>
        <p:nvSpPr>
          <p:cNvPr id="30" name="TextBox 29"/>
          <p:cNvSpPr txBox="1"/>
          <p:nvPr/>
        </p:nvSpPr>
        <p:spPr>
          <a:xfrm>
            <a:off x="4407408" y="4690872"/>
            <a:ext cx="3474720" cy="1024128"/>
          </a:xfrm>
          <a:prstGeom prst="rect">
            <a:avLst/>
          </a:prstGeom>
          <a:noFill/>
        </p:spPr>
        <p:txBody>
          <a:bodyPr wrap="square">
            <a:spAutoFit/>
          </a:bodyPr>
          <a:lstStyle/>
          <a:p>
            <a:pPr algn="l"/>
            <a:r>
              <a:rPr sz="1000" b="0" i="0">
                <a:solidFill>
                  <a:srgbClr val="4B5563"/>
                </a:solidFill>
              </a:rPr>
              <a:t>BiziBid targets medium-to-high income earners and family units — the customers who already shop at your store. Reach them digitally where they are.</a:t>
            </a:r>
          </a:p>
        </p:txBody>
      </p:sp>
      <p:sp>
        <p:nvSpPr>
          <p:cNvPr id="31" name="Rectangle 30"/>
          <p:cNvSpPr/>
          <p:nvPr/>
        </p:nvSpPr>
        <p:spPr>
          <a:xfrm>
            <a:off x="8229600" y="4160520"/>
            <a:ext cx="3703320" cy="1664208"/>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229600" y="4160520"/>
            <a:ext cx="45720" cy="16642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9327" y="4270248"/>
            <a:ext cx="457200" cy="411480"/>
          </a:xfrm>
          <a:prstGeom prst="rect">
            <a:avLst/>
          </a:prstGeom>
          <a:noFill/>
        </p:spPr>
        <p:txBody>
          <a:bodyPr wrap="square">
            <a:spAutoFit/>
          </a:bodyPr>
          <a:lstStyle/>
          <a:p>
            <a:pPr algn="l"/>
            <a:r>
              <a:rPr sz="2000" b="0" i="0">
                <a:solidFill>
                  <a:srgbClr val="C9A84C"/>
                </a:solidFill>
              </a:rPr>
              <a:t>🌱</a:t>
            </a:r>
          </a:p>
        </p:txBody>
      </p:sp>
      <p:sp>
        <p:nvSpPr>
          <p:cNvPr id="34" name="TextBox 33"/>
          <p:cNvSpPr txBox="1"/>
          <p:nvPr/>
        </p:nvSpPr>
        <p:spPr>
          <a:xfrm>
            <a:off x="8823960" y="4270248"/>
            <a:ext cx="2971800" cy="347472"/>
          </a:xfrm>
          <a:prstGeom prst="rect">
            <a:avLst/>
          </a:prstGeom>
          <a:noFill/>
        </p:spPr>
        <p:txBody>
          <a:bodyPr wrap="square">
            <a:spAutoFit/>
          </a:bodyPr>
          <a:lstStyle/>
          <a:p>
            <a:pPr algn="l"/>
            <a:r>
              <a:rPr sz="1200" b="1" i="0">
                <a:solidFill>
                  <a:srgbClr val="0A0A0A"/>
                </a:solidFill>
              </a:rPr>
              <a:t>Founding Partner Advantage</a:t>
            </a:r>
          </a:p>
        </p:txBody>
      </p:sp>
      <p:sp>
        <p:nvSpPr>
          <p:cNvPr id="35" name="TextBox 34"/>
          <p:cNvSpPr txBox="1"/>
          <p:nvPr/>
        </p:nvSpPr>
        <p:spPr>
          <a:xfrm>
            <a:off x="8339327" y="4690872"/>
            <a:ext cx="3474720" cy="1024128"/>
          </a:xfrm>
          <a:prstGeom prst="rect">
            <a:avLst/>
          </a:prstGeom>
          <a:noFill/>
        </p:spPr>
        <p:txBody>
          <a:bodyPr wrap="square">
            <a:spAutoFit/>
          </a:bodyPr>
          <a:lstStyle/>
          <a:p>
            <a:pPr algn="l"/>
            <a:r>
              <a:rPr sz="1000" b="0" i="0">
                <a:solidFill>
                  <a:srgbClr val="4B5563"/>
                </a:solidFill>
              </a:rPr>
              <a:t>Founding partners lock in rates for 12 months and secure preferred keypad placement before the platform opens to all retailers. Act now — positions are limited.</a:t>
            </a:r>
          </a:p>
        </p:txBody>
      </p:sp>
      <p:sp>
        <p:nvSpPr>
          <p:cNvPr id="36" name="TextBox 35"/>
          <p:cNvSpPr txBox="1"/>
          <p:nvPr/>
        </p:nvSpPr>
        <p:spPr>
          <a:xfrm>
            <a:off x="11247120" y="6492240"/>
            <a:ext cx="914400" cy="320040"/>
          </a:xfrm>
          <a:prstGeom prst="rect">
            <a:avLst/>
          </a:prstGeom>
          <a:noFill/>
        </p:spPr>
        <p:txBody>
          <a:bodyPr wrap="square">
            <a:spAutoFit/>
          </a:bodyPr>
          <a:lstStyle/>
          <a:p>
            <a:pPr algn="r"/>
            <a:r>
              <a:rPr sz="900" b="0" i="0">
                <a:solidFill>
                  <a:srgbClr val="9CA3AF"/>
                </a:solidFill>
              </a:rPr>
              <a:t>13 / 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02920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0"/>
            <a:ext cx="12188952" cy="7315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
            <a:ext cx="10698480" cy="822960"/>
          </a:xfrm>
          <a:prstGeom prst="rect">
            <a:avLst/>
          </a:prstGeom>
          <a:noFill/>
        </p:spPr>
        <p:txBody>
          <a:bodyPr wrap="square">
            <a:spAutoFit/>
          </a:bodyPr>
          <a:lstStyle/>
          <a:p>
            <a:pPr algn="ctr"/>
            <a:r>
              <a:rPr sz="3600" b="1" i="0">
                <a:solidFill>
                  <a:srgbClr val="FFFFFF"/>
                </a:solidFill>
              </a:rPr>
              <a:t>Ready to Join BiziBid?</a:t>
            </a:r>
          </a:p>
        </p:txBody>
      </p:sp>
      <p:sp>
        <p:nvSpPr>
          <p:cNvPr id="5" name="TextBox 4"/>
          <p:cNvSpPr txBox="1"/>
          <p:nvPr/>
        </p:nvSpPr>
        <p:spPr>
          <a:xfrm>
            <a:off x="731520" y="1508760"/>
            <a:ext cx="10698480" cy="502920"/>
          </a:xfrm>
          <a:prstGeom prst="rect">
            <a:avLst/>
          </a:prstGeom>
          <a:noFill/>
        </p:spPr>
        <p:txBody>
          <a:bodyPr wrap="square">
            <a:spAutoFit/>
          </a:bodyPr>
          <a:lstStyle/>
          <a:p>
            <a:pPr algn="ctr"/>
            <a:r>
              <a:rPr sz="1600" b="0" i="0">
                <a:solidFill>
                  <a:srgbClr val="9CA3AF"/>
                </a:solidFill>
              </a:rPr>
              <a:t>Secure your founding partner status today — positions are limited.</a:t>
            </a:r>
          </a:p>
        </p:txBody>
      </p:sp>
      <p:sp>
        <p:nvSpPr>
          <p:cNvPr id="6" name="Rectangle 5"/>
          <p:cNvSpPr/>
          <p:nvPr/>
        </p:nvSpPr>
        <p:spPr>
          <a:xfrm>
            <a:off x="731520" y="2331720"/>
            <a:ext cx="3337560" cy="2423160"/>
          </a:xfrm>
          <a:prstGeom prst="rect">
            <a:avLst/>
          </a:prstGeom>
          <a:solidFill>
            <a:srgbClr val="12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2331720"/>
            <a:ext cx="333756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2423160"/>
            <a:ext cx="502920" cy="457200"/>
          </a:xfrm>
          <a:prstGeom prst="rect">
            <a:avLst/>
          </a:prstGeom>
          <a:noFill/>
        </p:spPr>
        <p:txBody>
          <a:bodyPr wrap="square">
            <a:spAutoFit/>
          </a:bodyPr>
          <a:lstStyle/>
          <a:p>
            <a:pPr algn="l"/>
            <a:r>
              <a:rPr sz="2200" b="0" i="0">
                <a:solidFill>
                  <a:srgbClr val="C9A84C"/>
                </a:solidFill>
              </a:rPr>
              <a:t>📞</a:t>
            </a:r>
          </a:p>
        </p:txBody>
      </p:sp>
      <p:sp>
        <p:nvSpPr>
          <p:cNvPr id="9" name="TextBox 8"/>
          <p:cNvSpPr txBox="1"/>
          <p:nvPr/>
        </p:nvSpPr>
        <p:spPr>
          <a:xfrm>
            <a:off x="896112" y="2944368"/>
            <a:ext cx="3017520" cy="457200"/>
          </a:xfrm>
          <a:prstGeom prst="rect">
            <a:avLst/>
          </a:prstGeom>
          <a:noFill/>
        </p:spPr>
        <p:txBody>
          <a:bodyPr wrap="square">
            <a:spAutoFit/>
          </a:bodyPr>
          <a:lstStyle/>
          <a:p>
            <a:pPr algn="l"/>
            <a:r>
              <a:rPr sz="1200" b="1" i="0">
                <a:solidFill>
                  <a:srgbClr val="FFFFFF"/>
                </a:solidFill>
              </a:rPr>
              <a:t>Schedule a Presentation</a:t>
            </a:r>
          </a:p>
        </p:txBody>
      </p:sp>
      <p:sp>
        <p:nvSpPr>
          <p:cNvPr id="10" name="TextBox 9"/>
          <p:cNvSpPr txBox="1"/>
          <p:nvPr/>
        </p:nvSpPr>
        <p:spPr>
          <a:xfrm>
            <a:off x="896112" y="3401568"/>
            <a:ext cx="3017520" cy="1188720"/>
          </a:xfrm>
          <a:prstGeom prst="rect">
            <a:avLst/>
          </a:prstGeom>
          <a:noFill/>
        </p:spPr>
        <p:txBody>
          <a:bodyPr wrap="square">
            <a:spAutoFit/>
          </a:bodyPr>
          <a:lstStyle/>
          <a:p>
            <a:pPr algn="l"/>
            <a:r>
              <a:rPr sz="1000" b="0" i="0">
                <a:solidFill>
                  <a:srgbClr val="9CA3AF"/>
                </a:solidFill>
              </a:rPr>
              <a:t>We will come to you. A personalised walkthrough of the platform tailored to your store — at your convenience.</a:t>
            </a:r>
          </a:p>
        </p:txBody>
      </p:sp>
      <p:sp>
        <p:nvSpPr>
          <p:cNvPr id="11" name="Rectangle 10"/>
          <p:cNvSpPr/>
          <p:nvPr/>
        </p:nvSpPr>
        <p:spPr>
          <a:xfrm>
            <a:off x="4343400" y="2331720"/>
            <a:ext cx="3337560" cy="2423160"/>
          </a:xfrm>
          <a:prstGeom prst="rect">
            <a:avLst/>
          </a:prstGeom>
          <a:solidFill>
            <a:srgbClr val="12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43400" y="2331720"/>
            <a:ext cx="333756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07992" y="2423160"/>
            <a:ext cx="502920" cy="457200"/>
          </a:xfrm>
          <a:prstGeom prst="rect">
            <a:avLst/>
          </a:prstGeom>
          <a:noFill/>
        </p:spPr>
        <p:txBody>
          <a:bodyPr wrap="square">
            <a:spAutoFit/>
          </a:bodyPr>
          <a:lstStyle/>
          <a:p>
            <a:pPr algn="l"/>
            <a:r>
              <a:rPr sz="2200" b="0" i="0">
                <a:solidFill>
                  <a:srgbClr val="C9A84C"/>
                </a:solidFill>
              </a:rPr>
              <a:t>🌐</a:t>
            </a:r>
          </a:p>
        </p:txBody>
      </p:sp>
      <p:sp>
        <p:nvSpPr>
          <p:cNvPr id="14" name="TextBox 13"/>
          <p:cNvSpPr txBox="1"/>
          <p:nvPr/>
        </p:nvSpPr>
        <p:spPr>
          <a:xfrm>
            <a:off x="4507992" y="2944368"/>
            <a:ext cx="3017520" cy="457200"/>
          </a:xfrm>
          <a:prstGeom prst="rect">
            <a:avLst/>
          </a:prstGeom>
          <a:noFill/>
        </p:spPr>
        <p:txBody>
          <a:bodyPr wrap="square">
            <a:spAutoFit/>
          </a:bodyPr>
          <a:lstStyle/>
          <a:p>
            <a:pPr algn="l"/>
            <a:r>
              <a:rPr sz="1200" b="1" i="0">
                <a:solidFill>
                  <a:srgbClr val="FFFFFF"/>
                </a:solidFill>
              </a:rPr>
              <a:t>View Your Interactive Demo</a:t>
            </a:r>
          </a:p>
        </p:txBody>
      </p:sp>
      <p:sp>
        <p:nvSpPr>
          <p:cNvPr id="15" name="TextBox 14"/>
          <p:cNvSpPr txBox="1"/>
          <p:nvPr/>
        </p:nvSpPr>
        <p:spPr>
          <a:xfrm>
            <a:off x="4507992" y="3401568"/>
            <a:ext cx="3017520" cy="1188720"/>
          </a:xfrm>
          <a:prstGeom prst="rect">
            <a:avLst/>
          </a:prstGeom>
          <a:noFill/>
        </p:spPr>
        <p:txBody>
          <a:bodyPr wrap="square">
            <a:spAutoFit/>
          </a:bodyPr>
          <a:lstStyle/>
          <a:p>
            <a:pPr algn="l"/>
            <a:r>
              <a:rPr sz="1000" b="0" i="0">
                <a:solidFill>
                  <a:srgbClr val="9CA3AF"/>
                </a:solidFill>
              </a:rPr>
              <a:t>A personalised before-and-after demonstration of how BiziBid would represent your store has been prepared for you.</a:t>
            </a:r>
          </a:p>
        </p:txBody>
      </p:sp>
      <p:sp>
        <p:nvSpPr>
          <p:cNvPr id="16" name="Rectangle 15"/>
          <p:cNvSpPr/>
          <p:nvPr/>
        </p:nvSpPr>
        <p:spPr>
          <a:xfrm>
            <a:off x="7955280" y="2331720"/>
            <a:ext cx="3337560" cy="2423160"/>
          </a:xfrm>
          <a:prstGeom prst="rect">
            <a:avLst/>
          </a:prstGeom>
          <a:solidFill>
            <a:srgbClr val="12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955280" y="2331720"/>
            <a:ext cx="333756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19872" y="2423160"/>
            <a:ext cx="502920" cy="457200"/>
          </a:xfrm>
          <a:prstGeom prst="rect">
            <a:avLst/>
          </a:prstGeom>
          <a:noFill/>
        </p:spPr>
        <p:txBody>
          <a:bodyPr wrap="square">
            <a:spAutoFit/>
          </a:bodyPr>
          <a:lstStyle/>
          <a:p>
            <a:pPr algn="l"/>
            <a:r>
              <a:rPr sz="2200" b="0" i="0">
                <a:solidFill>
                  <a:srgbClr val="C9A84C"/>
                </a:solidFill>
              </a:rPr>
              <a:t>✉️</a:t>
            </a:r>
          </a:p>
        </p:txBody>
      </p:sp>
      <p:sp>
        <p:nvSpPr>
          <p:cNvPr id="19" name="TextBox 18"/>
          <p:cNvSpPr txBox="1"/>
          <p:nvPr/>
        </p:nvSpPr>
        <p:spPr>
          <a:xfrm>
            <a:off x="8119872" y="2944368"/>
            <a:ext cx="3017520" cy="457200"/>
          </a:xfrm>
          <a:prstGeom prst="rect">
            <a:avLst/>
          </a:prstGeom>
          <a:noFill/>
        </p:spPr>
        <p:txBody>
          <a:bodyPr wrap="square">
            <a:spAutoFit/>
          </a:bodyPr>
          <a:lstStyle/>
          <a:p>
            <a:pPr algn="l"/>
            <a:r>
              <a:rPr sz="1200" b="1" i="0">
                <a:solidFill>
                  <a:srgbClr val="FFFFFF"/>
                </a:solidFill>
              </a:rPr>
              <a:t>Contact Us Directly</a:t>
            </a:r>
          </a:p>
        </p:txBody>
      </p:sp>
      <p:sp>
        <p:nvSpPr>
          <p:cNvPr id="20" name="TextBox 19"/>
          <p:cNvSpPr txBox="1"/>
          <p:nvPr/>
        </p:nvSpPr>
        <p:spPr>
          <a:xfrm>
            <a:off x="8119872" y="3401568"/>
            <a:ext cx="3017520" cy="1188720"/>
          </a:xfrm>
          <a:prstGeom prst="rect">
            <a:avLst/>
          </a:prstGeom>
          <a:noFill/>
        </p:spPr>
        <p:txBody>
          <a:bodyPr wrap="square">
            <a:spAutoFit/>
          </a:bodyPr>
          <a:lstStyle/>
          <a:p>
            <a:pPr algn="l"/>
            <a:r>
              <a:rPr sz="1000" b="0" i="0">
                <a:solidFill>
                  <a:srgbClr val="9CA3AF"/>
                </a:solidFill>
              </a:rPr>
              <a:t>Our team is ready to answer any questions and walk you through the partnership terms at your pace.</a:t>
            </a:r>
          </a:p>
        </p:txBody>
      </p:sp>
      <p:sp>
        <p:nvSpPr>
          <p:cNvPr id="21" name="TextBox 20"/>
          <p:cNvSpPr txBox="1"/>
          <p:nvPr/>
        </p:nvSpPr>
        <p:spPr>
          <a:xfrm>
            <a:off x="731520" y="5257800"/>
            <a:ext cx="10698480" cy="502920"/>
          </a:xfrm>
          <a:prstGeom prst="rect">
            <a:avLst/>
          </a:prstGeom>
          <a:noFill/>
        </p:spPr>
        <p:txBody>
          <a:bodyPr wrap="none">
            <a:spAutoFit/>
          </a:bodyPr>
          <a:lstStyle/>
          <a:p>
            <a:pPr algn="ctr"/>
            <a:r>
              <a:rPr sz="1800" b="1">
                <a:solidFill>
                  <a:srgbClr val="0A0A0A"/>
                </a:solidFill>
              </a:rPr>
              <a:t>Bizi</a:t>
            </a:r>
            <a:r>
              <a:rPr sz="1800" b="1">
                <a:solidFill>
                  <a:srgbClr val="C9A84C"/>
                </a:solidFill>
              </a:rPr>
              <a:t>Bid</a:t>
            </a:r>
            <a:r>
              <a:rPr sz="1200">
                <a:solidFill>
                  <a:srgbClr val="4B5563"/>
                </a:solidFill>
              </a:rPr>
              <a:t>  ·  Operated by INTERXDB</a:t>
            </a:r>
          </a:p>
        </p:txBody>
      </p:sp>
      <p:sp>
        <p:nvSpPr>
          <p:cNvPr id="22" name="TextBox 21"/>
          <p:cNvSpPr txBox="1"/>
          <p:nvPr/>
        </p:nvSpPr>
        <p:spPr>
          <a:xfrm>
            <a:off x="731520" y="5870448"/>
            <a:ext cx="10698480" cy="365760"/>
          </a:xfrm>
          <a:prstGeom prst="rect">
            <a:avLst/>
          </a:prstGeom>
          <a:noFill/>
        </p:spPr>
        <p:txBody>
          <a:bodyPr wrap="square">
            <a:spAutoFit/>
          </a:bodyPr>
          <a:lstStyle/>
          <a:p>
            <a:pPr algn="ctr"/>
            <a:r>
              <a:rPr sz="1200" b="0" i="0">
                <a:solidFill>
                  <a:srgbClr val="4B5563"/>
                </a:solidFill>
              </a:rPr>
              <a:t>contact@interxdb.com   ·   Tel 1(246) 241-3771   ·   BiziBid.com</a:t>
            </a:r>
          </a:p>
        </p:txBody>
      </p:sp>
      <p:sp>
        <p:nvSpPr>
          <p:cNvPr id="23" name="TextBox 22"/>
          <p:cNvSpPr txBox="1"/>
          <p:nvPr/>
        </p:nvSpPr>
        <p:spPr>
          <a:xfrm>
            <a:off x="731520" y="6309360"/>
            <a:ext cx="10698480" cy="320040"/>
          </a:xfrm>
          <a:prstGeom prst="rect">
            <a:avLst/>
          </a:prstGeom>
          <a:noFill/>
        </p:spPr>
        <p:txBody>
          <a:bodyPr wrap="square">
            <a:spAutoFit/>
          </a:bodyPr>
          <a:lstStyle/>
          <a:p>
            <a:pPr algn="ctr"/>
            <a:r>
              <a:rPr sz="1000" b="0" i="1">
                <a:solidFill>
                  <a:srgbClr val="9CA3AF"/>
                </a:solidFill>
              </a:rPr>
              <a:t>Confidential — For Addressee Only</a:t>
            </a:r>
          </a:p>
        </p:txBody>
      </p:sp>
      <p:sp>
        <p:nvSpPr>
          <p:cNvPr id="24" name="TextBox 23"/>
          <p:cNvSpPr txBox="1"/>
          <p:nvPr/>
        </p:nvSpPr>
        <p:spPr>
          <a:xfrm>
            <a:off x="11247120" y="6492240"/>
            <a:ext cx="914400" cy="320040"/>
          </a:xfrm>
          <a:prstGeom prst="rect">
            <a:avLst/>
          </a:prstGeom>
          <a:noFill/>
        </p:spPr>
        <p:txBody>
          <a:bodyPr wrap="square">
            <a:spAutoFit/>
          </a:bodyPr>
          <a:lstStyle/>
          <a:p>
            <a:pPr algn="r"/>
            <a:r>
              <a:rPr sz="900" b="0" i="0">
                <a:solidFill>
                  <a:srgbClr val="9CA3AF"/>
                </a:solidFill>
              </a:rPr>
              <a:t>14 / 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