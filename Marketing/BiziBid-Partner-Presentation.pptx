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47548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0"/>
            <a:ext cx="12188952" cy="731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05840"/>
            <a:ext cx="10058400" cy="1645920"/>
          </a:xfrm>
          <a:prstGeom prst="rect">
            <a:avLst/>
          </a:prstGeom>
          <a:noFill/>
        </p:spPr>
        <p:txBody>
          <a:bodyPr wrap="none">
            <a:spAutoFit/>
          </a:bodyPr>
          <a:lstStyle/>
          <a:p>
            <a:pPr algn="ctr"/>
            <a:r>
              <a:rPr sz="8000" b="1">
                <a:solidFill>
                  <a:srgbClr val="FFFFFF"/>
                </a:solidFill>
              </a:rPr>
              <a:t>Bizi</a:t>
            </a:r>
            <a:r>
              <a:rPr sz="8000" b="1">
                <a:solidFill>
                  <a:srgbClr val="C9A84C"/>
                </a:solidFill>
              </a:rPr>
              <a:t>Bid</a:t>
            </a:r>
          </a:p>
        </p:txBody>
      </p:sp>
      <p:sp>
        <p:nvSpPr>
          <p:cNvPr id="5" name="TextBox 4"/>
          <p:cNvSpPr txBox="1"/>
          <p:nvPr/>
        </p:nvSpPr>
        <p:spPr>
          <a:xfrm>
            <a:off x="914400" y="2788920"/>
            <a:ext cx="10332720" cy="548640"/>
          </a:xfrm>
          <a:prstGeom prst="rect">
            <a:avLst/>
          </a:prstGeom>
          <a:noFill/>
        </p:spPr>
        <p:txBody>
          <a:bodyPr wrap="square">
            <a:spAutoFit/>
          </a:bodyPr>
          <a:lstStyle/>
          <a:p>
            <a:pPr algn="ctr"/>
            <a:r>
              <a:rPr sz="2000" b="0" i="0">
                <a:solidFill>
                  <a:srgbClr val="C0C8D8"/>
                </a:solidFill>
              </a:rPr>
              <a:t>Barbados' First Retail Auction &amp; Deals Platform</a:t>
            </a:r>
          </a:p>
        </p:txBody>
      </p:sp>
      <p:sp>
        <p:nvSpPr>
          <p:cNvPr id="6" name="TextBox 5"/>
          <p:cNvSpPr txBox="1"/>
          <p:nvPr/>
        </p:nvSpPr>
        <p:spPr>
          <a:xfrm>
            <a:off x="914400" y="3429000"/>
            <a:ext cx="10332720" cy="457200"/>
          </a:xfrm>
          <a:prstGeom prst="rect">
            <a:avLst/>
          </a:prstGeom>
          <a:noFill/>
        </p:spPr>
        <p:txBody>
          <a:bodyPr wrap="square">
            <a:spAutoFit/>
          </a:bodyPr>
          <a:lstStyle/>
          <a:p>
            <a:pPr algn="ctr"/>
            <a:r>
              <a:rPr sz="1300" b="0" i="1">
                <a:solidFill>
                  <a:srgbClr val="5A6678"/>
                </a:solidFill>
              </a:rPr>
              <a:t>Partnership Opportunity  ·  Confidential</a:t>
            </a:r>
          </a:p>
        </p:txBody>
      </p:sp>
      <p:sp>
        <p:nvSpPr>
          <p:cNvPr id="7" name="TextBox 6"/>
          <p:cNvSpPr txBox="1"/>
          <p:nvPr/>
        </p:nvSpPr>
        <p:spPr>
          <a:xfrm>
            <a:off x="914400" y="5029200"/>
            <a:ext cx="10332720" cy="411480"/>
          </a:xfrm>
          <a:prstGeom prst="rect">
            <a:avLst/>
          </a:prstGeom>
          <a:noFill/>
        </p:spPr>
        <p:txBody>
          <a:bodyPr wrap="square">
            <a:spAutoFit/>
          </a:bodyPr>
          <a:lstStyle/>
          <a:p>
            <a:pPr algn="ctr"/>
            <a:r>
              <a:rPr sz="1100" b="0" i="0">
                <a:solidFill>
                  <a:srgbClr val="4B5563"/>
                </a:solidFill>
              </a:rPr>
              <a:t>Presented by INTERXDB  ·  Digital Retail &amp; Auction Platform  ·  Barbados</a:t>
            </a:r>
          </a:p>
        </p:txBody>
      </p:sp>
      <p:sp>
        <p:nvSpPr>
          <p:cNvPr id="8" name="TextBox 7"/>
          <p:cNvSpPr txBox="1"/>
          <p:nvPr/>
        </p:nvSpPr>
        <p:spPr>
          <a:xfrm>
            <a:off x="914400" y="5486400"/>
            <a:ext cx="10332720" cy="365760"/>
          </a:xfrm>
          <a:prstGeom prst="rect">
            <a:avLst/>
          </a:prstGeom>
          <a:noFill/>
        </p:spPr>
        <p:txBody>
          <a:bodyPr wrap="square">
            <a:spAutoFit/>
          </a:bodyPr>
          <a:lstStyle/>
          <a:p>
            <a:pPr algn="ctr"/>
            <a:r>
              <a:rPr sz="1100" b="0" i="0">
                <a:solidFill>
                  <a:srgbClr val="9CA3AF"/>
                </a:solidFill>
              </a:rPr>
              <a:t>bizibid.com  ·  contact@interxdb.com  ·  Tel 1(246) 241-3771</a:t>
            </a:r>
          </a:p>
        </p:txBody>
      </p:sp>
      <p:sp>
        <p:nvSpPr>
          <p:cNvPr id="9" name="TextBox 8"/>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 / 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PLATFORM OVERVIEW</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What is BiziBid?</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A mobile-first auction and deals platform built exclusively for Barbados' retail market.</a:t>
            </a:r>
          </a:p>
        </p:txBody>
      </p:sp>
      <p:sp>
        <p:nvSpPr>
          <p:cNvPr id="7" name="Rectangle 6"/>
          <p:cNvSpPr/>
          <p:nvPr/>
        </p:nvSpPr>
        <p:spPr>
          <a:xfrm>
            <a:off x="457200" y="2468880"/>
            <a:ext cx="3749039" cy="237744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468880"/>
            <a:ext cx="45720" cy="23774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78608"/>
            <a:ext cx="457200" cy="411480"/>
          </a:xfrm>
          <a:prstGeom prst="rect">
            <a:avLst/>
          </a:prstGeom>
          <a:noFill/>
        </p:spPr>
        <p:txBody>
          <a:bodyPr wrap="square">
            <a:spAutoFit/>
          </a:bodyPr>
          <a:lstStyle/>
          <a:p>
            <a:pPr algn="l"/>
            <a:r>
              <a:rPr sz="2000" b="0" i="0">
                <a:solidFill>
                  <a:srgbClr val="C9A84C"/>
                </a:solidFill>
              </a:rPr>
              <a:t>★</a:t>
            </a:r>
          </a:p>
        </p:txBody>
      </p:sp>
      <p:sp>
        <p:nvSpPr>
          <p:cNvPr id="10" name="TextBox 9"/>
          <p:cNvSpPr txBox="1"/>
          <p:nvPr/>
        </p:nvSpPr>
        <p:spPr>
          <a:xfrm>
            <a:off x="1051560" y="2578608"/>
            <a:ext cx="3017520" cy="347472"/>
          </a:xfrm>
          <a:prstGeom prst="rect">
            <a:avLst/>
          </a:prstGeom>
          <a:noFill/>
        </p:spPr>
        <p:txBody>
          <a:bodyPr wrap="square">
            <a:spAutoFit/>
          </a:bodyPr>
          <a:lstStyle/>
          <a:p>
            <a:pPr algn="l"/>
            <a:r>
              <a:rPr sz="1200" b="1" i="0">
                <a:solidFill>
                  <a:srgbClr val="0A0A0A"/>
                </a:solidFill>
              </a:rPr>
              <a:t>The BiziBid Mobile App</a:t>
            </a:r>
          </a:p>
        </p:txBody>
      </p:sp>
      <p:sp>
        <p:nvSpPr>
          <p:cNvPr id="11" name="TextBox 10"/>
          <p:cNvSpPr txBox="1"/>
          <p:nvPr/>
        </p:nvSpPr>
        <p:spPr>
          <a:xfrm>
            <a:off x="566928" y="2999232"/>
            <a:ext cx="3520439" cy="1737360"/>
          </a:xfrm>
          <a:prstGeom prst="rect">
            <a:avLst/>
          </a:prstGeom>
          <a:noFill/>
        </p:spPr>
        <p:txBody>
          <a:bodyPr wrap="square">
            <a:spAutoFit/>
          </a:bodyPr>
          <a:lstStyle/>
          <a:p>
            <a:pPr algn="l"/>
            <a:r>
              <a:rPr sz="1000" b="0" i="0">
                <a:solidFill>
                  <a:srgbClr val="4B5563"/>
                </a:solidFill>
              </a:rPr>
              <a:t>A free app (iOS &amp; Android) where registered customers browse live auctions and exclusive deals — 24 hours a day, 7 days a week.</a:t>
            </a:r>
          </a:p>
        </p:txBody>
      </p:sp>
      <p:sp>
        <p:nvSpPr>
          <p:cNvPr id="12" name="Rectangle 11"/>
          <p:cNvSpPr/>
          <p:nvPr/>
        </p:nvSpPr>
        <p:spPr>
          <a:xfrm>
            <a:off x="4389120" y="2468880"/>
            <a:ext cx="3749039" cy="237744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2468880"/>
            <a:ext cx="45720" cy="23774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578608"/>
            <a:ext cx="457200" cy="411480"/>
          </a:xfrm>
          <a:prstGeom prst="rect">
            <a:avLst/>
          </a:prstGeom>
          <a:noFill/>
        </p:spPr>
        <p:txBody>
          <a:bodyPr wrap="square">
            <a:spAutoFit/>
          </a:bodyPr>
          <a:lstStyle/>
          <a:p>
            <a:pPr algn="l"/>
            <a:r>
              <a:rPr sz="2000" b="0" i="0">
                <a:solidFill>
                  <a:srgbClr val="C9A84C"/>
                </a:solidFill>
              </a:rPr>
              <a:t>★</a:t>
            </a:r>
          </a:p>
        </p:txBody>
      </p:sp>
      <p:sp>
        <p:nvSpPr>
          <p:cNvPr id="15" name="TextBox 14"/>
          <p:cNvSpPr txBox="1"/>
          <p:nvPr/>
        </p:nvSpPr>
        <p:spPr>
          <a:xfrm>
            <a:off x="4983480" y="2578608"/>
            <a:ext cx="3017520" cy="347472"/>
          </a:xfrm>
          <a:prstGeom prst="rect">
            <a:avLst/>
          </a:prstGeom>
          <a:noFill/>
        </p:spPr>
        <p:txBody>
          <a:bodyPr wrap="square">
            <a:spAutoFit/>
          </a:bodyPr>
          <a:lstStyle/>
          <a:p>
            <a:pPr algn="l"/>
            <a:r>
              <a:rPr sz="1200" b="1" i="0">
                <a:solidFill>
                  <a:srgbClr val="0A0A0A"/>
                </a:solidFill>
              </a:rPr>
              <a:t>Your Back-Office Portal</a:t>
            </a:r>
          </a:p>
        </p:txBody>
      </p:sp>
      <p:sp>
        <p:nvSpPr>
          <p:cNvPr id="16" name="TextBox 15"/>
          <p:cNvSpPr txBox="1"/>
          <p:nvPr/>
        </p:nvSpPr>
        <p:spPr>
          <a:xfrm>
            <a:off x="4498848" y="2999232"/>
            <a:ext cx="3520439" cy="1737360"/>
          </a:xfrm>
          <a:prstGeom prst="rect">
            <a:avLst/>
          </a:prstGeom>
          <a:noFill/>
        </p:spPr>
        <p:txBody>
          <a:bodyPr wrap="square">
            <a:spAutoFit/>
          </a:bodyPr>
          <a:lstStyle/>
          <a:p>
            <a:pPr algn="l"/>
            <a:r>
              <a:rPr sz="1000" b="0" i="0">
                <a:solidFill>
                  <a:srgbClr val="4B5563"/>
                </a:solidFill>
              </a:rPr>
              <a:t>A private management portal at BiziBid.com. Upload products, create deals, review auction results, and track performance — from any browser.</a:t>
            </a:r>
          </a:p>
        </p:txBody>
      </p:sp>
      <p:sp>
        <p:nvSpPr>
          <p:cNvPr id="17" name="Rectangle 16"/>
          <p:cNvSpPr/>
          <p:nvPr/>
        </p:nvSpPr>
        <p:spPr>
          <a:xfrm>
            <a:off x="8321040" y="2468880"/>
            <a:ext cx="3749039" cy="237744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40" y="2468880"/>
            <a:ext cx="45720" cy="23774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30767" y="2578608"/>
            <a:ext cx="457200" cy="411480"/>
          </a:xfrm>
          <a:prstGeom prst="rect">
            <a:avLst/>
          </a:prstGeom>
          <a:noFill/>
        </p:spPr>
        <p:txBody>
          <a:bodyPr wrap="square">
            <a:spAutoFit/>
          </a:bodyPr>
          <a:lstStyle/>
          <a:p>
            <a:pPr algn="l"/>
            <a:r>
              <a:rPr sz="2000" b="0" i="0">
                <a:solidFill>
                  <a:srgbClr val="C9A84C"/>
                </a:solidFill>
              </a:rPr>
              <a:t>★</a:t>
            </a:r>
          </a:p>
        </p:txBody>
      </p:sp>
      <p:sp>
        <p:nvSpPr>
          <p:cNvPr id="20" name="TextBox 19"/>
          <p:cNvSpPr txBox="1"/>
          <p:nvPr/>
        </p:nvSpPr>
        <p:spPr>
          <a:xfrm>
            <a:off x="8915400" y="2578608"/>
            <a:ext cx="3017520" cy="347472"/>
          </a:xfrm>
          <a:prstGeom prst="rect">
            <a:avLst/>
          </a:prstGeom>
          <a:noFill/>
        </p:spPr>
        <p:txBody>
          <a:bodyPr wrap="square">
            <a:spAutoFit/>
          </a:bodyPr>
          <a:lstStyle/>
          <a:p>
            <a:pPr algn="l"/>
            <a:r>
              <a:rPr sz="1200" b="1" i="0">
                <a:solidFill>
                  <a:srgbClr val="0A0A0A"/>
                </a:solidFill>
              </a:rPr>
              <a:t>Fully Operated by INTERXDB</a:t>
            </a:r>
          </a:p>
        </p:txBody>
      </p:sp>
      <p:sp>
        <p:nvSpPr>
          <p:cNvPr id="21" name="TextBox 20"/>
          <p:cNvSpPr txBox="1"/>
          <p:nvPr/>
        </p:nvSpPr>
        <p:spPr>
          <a:xfrm>
            <a:off x="8430767" y="2999232"/>
            <a:ext cx="3520439" cy="1737360"/>
          </a:xfrm>
          <a:prstGeom prst="rect">
            <a:avLst/>
          </a:prstGeom>
          <a:noFill/>
        </p:spPr>
        <p:txBody>
          <a:bodyPr wrap="square">
            <a:spAutoFit/>
          </a:bodyPr>
          <a:lstStyle/>
          <a:p>
            <a:pPr algn="l"/>
            <a:r>
              <a:rPr sz="1000" b="0" i="0">
                <a:solidFill>
                  <a:srgbClr val="4B5563"/>
                </a:solidFill>
              </a:rPr>
              <a:t>INTERXDB owns and operates every part of the platform — the app, the servers, the technology. You simply list your products. We handle everything else.</a:t>
            </a:r>
          </a:p>
        </p:txBody>
      </p:sp>
      <p:sp>
        <p:nvSpPr>
          <p:cNvPr id="22" name="TextBox 21"/>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2 / 18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122A"/>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2286000" cy="502920"/>
          </a:xfrm>
          <a:prstGeom prst="rect">
            <a:avLst/>
          </a:prstGeom>
          <a:noFill/>
        </p:spPr>
        <p:txBody>
          <a:bodyPr wrap="none">
            <a:spAutoFit/>
          </a:bodyPr>
          <a:lstStyle/>
          <a:p>
            <a:r>
              <a:rPr sz="2200" b="1">
                <a:solidFill>
                  <a:srgbClr val="FFFFFF"/>
                </a:solidFill>
              </a:rPr>
              <a:t>Bizi</a:t>
            </a:r>
            <a:r>
              <a:rPr sz="2200" b="1">
                <a:solidFill>
                  <a:srgbClr val="C9A84C"/>
                </a:solidFill>
              </a:rPr>
              <a:t>Bid</a:t>
            </a:r>
          </a:p>
        </p:txBody>
      </p:sp>
      <p:sp>
        <p:nvSpPr>
          <p:cNvPr id="4" name="Rectangle 3"/>
          <p:cNvSpPr/>
          <p:nvPr/>
        </p:nvSpPr>
        <p:spPr>
          <a:xfrm>
            <a:off x="457200" y="804672"/>
            <a:ext cx="3108960" cy="347472"/>
          </a:xfrm>
          <a:prstGeom prst="rect">
            <a:avLst/>
          </a:prstGeom>
          <a:solidFill>
            <a:srgbClr val="1E50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832104"/>
            <a:ext cx="2926080" cy="292608"/>
          </a:xfrm>
          <a:prstGeom prst="rect">
            <a:avLst/>
          </a:prstGeom>
          <a:noFill/>
        </p:spPr>
        <p:txBody>
          <a:bodyPr wrap="square">
            <a:spAutoFit/>
          </a:bodyPr>
          <a:lstStyle/>
          <a:p>
            <a:pPr algn="l"/>
            <a:r>
              <a:rPr sz="900" b="1" i="0">
                <a:solidFill>
                  <a:srgbClr val="FFFFFF"/>
                </a:solidFill>
              </a:rPr>
              <a:t>SOMETHING NEW IS COMING TO BARBADOS</a:t>
            </a:r>
          </a:p>
        </p:txBody>
      </p:sp>
      <p:sp>
        <p:nvSpPr>
          <p:cNvPr id="6" name="TextBox 5"/>
          <p:cNvSpPr txBox="1"/>
          <p:nvPr/>
        </p:nvSpPr>
        <p:spPr>
          <a:xfrm>
            <a:off x="457200" y="1280160"/>
            <a:ext cx="11247120" cy="1005840"/>
          </a:xfrm>
          <a:prstGeom prst="rect">
            <a:avLst/>
          </a:prstGeom>
          <a:noFill/>
        </p:spPr>
        <p:txBody>
          <a:bodyPr wrap="square">
            <a:spAutoFit/>
          </a:bodyPr>
          <a:lstStyle/>
          <a:p>
            <a:pPr algn="l"/>
            <a:r>
              <a:rPr sz="5200" b="1" i="0">
                <a:solidFill>
                  <a:srgbClr val="FFFFFF"/>
                </a:solidFill>
              </a:rPr>
              <a:t>Wake the Market.</a:t>
            </a:r>
          </a:p>
        </p:txBody>
      </p:sp>
      <p:sp>
        <p:nvSpPr>
          <p:cNvPr id="7" name="TextBox 6"/>
          <p:cNvSpPr txBox="1"/>
          <p:nvPr/>
        </p:nvSpPr>
        <p:spPr>
          <a:xfrm>
            <a:off x="457200" y="2331720"/>
            <a:ext cx="9601200" cy="594360"/>
          </a:xfrm>
          <a:prstGeom prst="rect">
            <a:avLst/>
          </a:prstGeom>
          <a:noFill/>
        </p:spPr>
        <p:txBody>
          <a:bodyPr wrap="square">
            <a:spAutoFit/>
          </a:bodyPr>
          <a:lstStyle/>
          <a:p>
            <a:pPr algn="l"/>
            <a:r>
              <a:rPr sz="1800" b="0" i="0">
                <a:solidFill>
                  <a:srgbClr val="C0C8D8"/>
                </a:solidFill>
              </a:rPr>
              <a:t>Your customers are ready for something exciting — are you first?</a:t>
            </a:r>
          </a:p>
        </p:txBody>
      </p:sp>
      <p:sp>
        <p:nvSpPr>
          <p:cNvPr id="8" name="Rectangle 7"/>
          <p:cNvSpPr/>
          <p:nvPr/>
        </p:nvSpPr>
        <p:spPr>
          <a:xfrm>
            <a:off x="457200" y="3127248"/>
            <a:ext cx="3703320" cy="2578608"/>
          </a:xfrm>
          <a:prstGeom prst="rect">
            <a:avLst/>
          </a:prstGeom>
          <a:solidFill>
            <a:srgbClr val="0D1E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3127248"/>
            <a:ext cx="54864" cy="25786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3504" y="3236976"/>
            <a:ext cx="3429000" cy="384048"/>
          </a:xfrm>
          <a:prstGeom prst="rect">
            <a:avLst/>
          </a:prstGeom>
          <a:noFill/>
        </p:spPr>
        <p:txBody>
          <a:bodyPr wrap="square">
            <a:spAutoFit/>
          </a:bodyPr>
          <a:lstStyle/>
          <a:p>
            <a:pPr algn="l"/>
            <a:r>
              <a:rPr sz="1300" b="1" i="0">
                <a:solidFill>
                  <a:srgbClr val="F59E0B"/>
                </a:solidFill>
              </a:rPr>
              <a:t>The buzz is building.</a:t>
            </a:r>
          </a:p>
        </p:txBody>
      </p:sp>
      <p:sp>
        <p:nvSpPr>
          <p:cNvPr id="11" name="TextBox 10"/>
          <p:cNvSpPr txBox="1"/>
          <p:nvPr/>
        </p:nvSpPr>
        <p:spPr>
          <a:xfrm>
            <a:off x="603504" y="3657600"/>
            <a:ext cx="3429000" cy="1920240"/>
          </a:xfrm>
          <a:prstGeom prst="rect">
            <a:avLst/>
          </a:prstGeom>
          <a:noFill/>
        </p:spPr>
        <p:txBody>
          <a:bodyPr wrap="square">
            <a:spAutoFit/>
          </a:bodyPr>
          <a:lstStyle/>
          <a:p>
            <a:pPr algn="l"/>
            <a:r>
              <a:rPr sz="1100" b="0" i="0">
                <a:solidFill>
                  <a:srgbClr val="C0C8D8"/>
                </a:solidFill>
              </a:rPr>
              <a:t>Barbados' retail customers are craving deals, excitement, and a reason to engage with their favourite stores again. BiziBid is that reason.</a:t>
            </a:r>
          </a:p>
        </p:txBody>
      </p:sp>
      <p:sp>
        <p:nvSpPr>
          <p:cNvPr id="12" name="Rectangle 11"/>
          <p:cNvSpPr/>
          <p:nvPr/>
        </p:nvSpPr>
        <p:spPr>
          <a:xfrm>
            <a:off x="4370832" y="3127248"/>
            <a:ext cx="3703320" cy="2578608"/>
          </a:xfrm>
          <a:prstGeom prst="rect">
            <a:avLst/>
          </a:prstGeom>
          <a:solidFill>
            <a:srgbClr val="0D1E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70832" y="3127248"/>
            <a:ext cx="54864" cy="25786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3236976"/>
            <a:ext cx="3429000" cy="384048"/>
          </a:xfrm>
          <a:prstGeom prst="rect">
            <a:avLst/>
          </a:prstGeom>
          <a:noFill/>
        </p:spPr>
        <p:txBody>
          <a:bodyPr wrap="square">
            <a:spAutoFit/>
          </a:bodyPr>
          <a:lstStyle/>
          <a:p>
            <a:pPr algn="l"/>
            <a:r>
              <a:rPr sz="1300" b="1" i="0">
                <a:solidFill>
                  <a:srgbClr val="F59E0B"/>
                </a:solidFill>
              </a:rPr>
              <a:t>First mover wins.</a:t>
            </a:r>
          </a:p>
        </p:txBody>
      </p:sp>
      <p:sp>
        <p:nvSpPr>
          <p:cNvPr id="15" name="TextBox 14"/>
          <p:cNvSpPr txBox="1"/>
          <p:nvPr/>
        </p:nvSpPr>
        <p:spPr>
          <a:xfrm>
            <a:off x="4517136" y="3657600"/>
            <a:ext cx="3429000" cy="1920240"/>
          </a:xfrm>
          <a:prstGeom prst="rect">
            <a:avLst/>
          </a:prstGeom>
          <a:noFill/>
        </p:spPr>
        <p:txBody>
          <a:bodyPr wrap="square">
            <a:spAutoFit/>
          </a:bodyPr>
          <a:lstStyle/>
          <a:p>
            <a:pPr algn="l"/>
            <a:r>
              <a:rPr sz="1100" b="0" i="0">
                <a:solidFill>
                  <a:srgbClr val="C0C8D8"/>
                </a:solidFill>
              </a:rPr>
              <a:t>Founding retail partners secure the most visible positions in the app before it opens to competitors. The stores that join first are the stores that dominate.</a:t>
            </a:r>
          </a:p>
        </p:txBody>
      </p:sp>
      <p:sp>
        <p:nvSpPr>
          <p:cNvPr id="16" name="Rectangle 15"/>
          <p:cNvSpPr/>
          <p:nvPr/>
        </p:nvSpPr>
        <p:spPr>
          <a:xfrm>
            <a:off x="8284464" y="3127248"/>
            <a:ext cx="3703320" cy="2578608"/>
          </a:xfrm>
          <a:prstGeom prst="rect">
            <a:avLst/>
          </a:prstGeom>
          <a:solidFill>
            <a:srgbClr val="0D1E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84464" y="3127248"/>
            <a:ext cx="54864" cy="257860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30768" y="3236976"/>
            <a:ext cx="3429000" cy="384048"/>
          </a:xfrm>
          <a:prstGeom prst="rect">
            <a:avLst/>
          </a:prstGeom>
          <a:noFill/>
        </p:spPr>
        <p:txBody>
          <a:bodyPr wrap="square">
            <a:spAutoFit/>
          </a:bodyPr>
          <a:lstStyle/>
          <a:p>
            <a:pPr algn="l"/>
            <a:r>
              <a:rPr sz="1300" b="1" i="0">
                <a:solidFill>
                  <a:srgbClr val="F59E0B"/>
                </a:solidFill>
              </a:rPr>
              <a:t>Your brand stays alive 24/7.</a:t>
            </a:r>
          </a:p>
        </p:txBody>
      </p:sp>
      <p:sp>
        <p:nvSpPr>
          <p:cNvPr id="19" name="TextBox 18"/>
          <p:cNvSpPr txBox="1"/>
          <p:nvPr/>
        </p:nvSpPr>
        <p:spPr>
          <a:xfrm>
            <a:off x="8430768" y="3657600"/>
            <a:ext cx="3429000" cy="1920240"/>
          </a:xfrm>
          <a:prstGeom prst="rect">
            <a:avLst/>
          </a:prstGeom>
          <a:noFill/>
        </p:spPr>
        <p:txBody>
          <a:bodyPr wrap="square">
            <a:spAutoFit/>
          </a:bodyPr>
          <a:lstStyle/>
          <a:p>
            <a:pPr algn="l"/>
            <a:r>
              <a:rPr sz="1100" b="0" i="0">
                <a:solidFill>
                  <a:srgbClr val="C0C8D8"/>
                </a:solidFill>
              </a:rPr>
              <a:t>Even when your store doors are closed, your name, your products, and your deals are on every customer's phone — generating excitement around the clock.</a:t>
            </a:r>
          </a:p>
        </p:txBody>
      </p:sp>
      <p:sp>
        <p:nvSpPr>
          <p:cNvPr id="20" name="TextBox 19"/>
          <p:cNvSpPr txBox="1"/>
          <p:nvPr/>
        </p:nvSpPr>
        <p:spPr>
          <a:xfrm>
            <a:off x="457200" y="5897880"/>
            <a:ext cx="11247120" cy="347472"/>
          </a:xfrm>
          <a:prstGeom prst="rect">
            <a:avLst/>
          </a:prstGeom>
          <a:noFill/>
        </p:spPr>
        <p:txBody>
          <a:bodyPr wrap="square">
            <a:spAutoFit/>
          </a:bodyPr>
          <a:lstStyle/>
          <a:p>
            <a:pPr algn="ctr"/>
            <a:r>
              <a:rPr sz="1100" b="1" i="0">
                <a:solidFill>
                  <a:srgbClr val="C9A84C"/>
                </a:solidFill>
              </a:rPr>
              <a:t>Early partners lock in rates and placement for 12 months. Positions are limited.</a:t>
            </a:r>
          </a:p>
        </p:txBody>
      </p:sp>
      <p:sp>
        <p:nvSpPr>
          <p:cNvPr id="21" name="TextBox 20"/>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3 / 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CUSTOMER INTELLIGENCE</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Know Your Customers Before They Walk In</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Every BiziBid user registers with verified personal details — giving your store valuable demographic intelligence.</a:t>
            </a:r>
          </a:p>
        </p:txBody>
      </p:sp>
      <p:sp>
        <p:nvSpPr>
          <p:cNvPr id="7" name="TextBox 6"/>
          <p:cNvSpPr txBox="1"/>
          <p:nvPr/>
        </p:nvSpPr>
        <p:spPr>
          <a:xfrm>
            <a:off x="457200" y="2331720"/>
            <a:ext cx="8732520" cy="3931920"/>
          </a:xfrm>
          <a:prstGeom prst="rect">
            <a:avLst/>
          </a:prstGeom>
          <a:noFill/>
        </p:spPr>
        <p:txBody>
          <a:bodyPr wrap="square">
            <a:spAutoFit/>
          </a:bodyPr>
          <a:lstStyle/>
          <a:p>
            <a:pPr>
              <a:spcBef>
                <a:spcPts val="500"/>
              </a:spcBef>
            </a:pPr>
            <a:r>
              <a:rPr sz="1300">
                <a:solidFill>
                  <a:srgbClr val="0A0A0A"/>
                </a:solidFill>
              </a:rPr>
              <a:t>★  Full name, verified email, and mobile number collected at registration</a:t>
            </a:r>
          </a:p>
          <a:p>
            <a:pPr>
              <a:spcBef>
                <a:spcPts val="500"/>
              </a:spcBef>
            </a:pPr>
            <a:r>
              <a:rPr sz="1300">
                <a:solidFill>
                  <a:srgbClr val="0A0A0A"/>
                </a:solidFill>
              </a:rPr>
              <a:t>★  Date of birth — every user must be 18 or older — you know your age demographic</a:t>
            </a:r>
          </a:p>
          <a:p>
            <a:pPr>
              <a:spcBef>
                <a:spcPts val="500"/>
              </a:spcBef>
            </a:pPr>
            <a:r>
              <a:rPr sz="1300">
                <a:solidFill>
                  <a:srgbClr val="0A0A0A"/>
                </a:solidFill>
              </a:rPr>
              <a:t>★  Parish / address — you see exactly which areas your customers come from</a:t>
            </a:r>
          </a:p>
          <a:p>
            <a:pPr>
              <a:spcBef>
                <a:spcPts val="500"/>
              </a:spcBef>
            </a:pPr>
            <a:r>
              <a:rPr sz="1300">
                <a:solidFill>
                  <a:srgbClr val="0A0A0A"/>
                </a:solidFill>
              </a:rPr>
              <a:t>★  All data is aggregated and visible in your back-office statistics dashboard</a:t>
            </a:r>
          </a:p>
          <a:p>
            <a:pPr>
              <a:spcBef>
                <a:spcPts val="500"/>
              </a:spcBef>
            </a:pPr>
            <a:r>
              <a:rPr sz="1300">
                <a:solidFill>
                  <a:srgbClr val="0A0A0A"/>
                </a:solidFill>
              </a:rPr>
              <a:t>★  Track which age groups bid most, which parishes are most active, and more</a:t>
            </a:r>
          </a:p>
          <a:p>
            <a:pPr>
              <a:spcBef>
                <a:spcPts val="500"/>
              </a:spcBef>
            </a:pPr>
            <a:r>
              <a:rPr sz="1300">
                <a:solidFill>
                  <a:srgbClr val="0A0A0A"/>
                </a:solidFill>
              </a:rPr>
              <a:t>★  No other advertising platform in Barbados gives retail stores this level of insight</a:t>
            </a:r>
          </a:p>
        </p:txBody>
      </p:sp>
      <p:sp>
        <p:nvSpPr>
          <p:cNvPr id="8" name="Rectangle 7"/>
          <p:cNvSpPr/>
          <p:nvPr/>
        </p:nvSpPr>
        <p:spPr>
          <a:xfrm>
            <a:off x="457200" y="5852160"/>
            <a:ext cx="8732520" cy="65836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5852160"/>
            <a:ext cx="54864" cy="65836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5907024"/>
            <a:ext cx="8503920" cy="566928"/>
          </a:xfrm>
          <a:prstGeom prst="rect">
            <a:avLst/>
          </a:prstGeom>
          <a:noFill/>
        </p:spPr>
        <p:txBody>
          <a:bodyPr wrap="square">
            <a:spAutoFit/>
          </a:bodyPr>
          <a:lstStyle/>
          <a:p>
            <a:pPr algn="l"/>
            <a:r>
              <a:rPr sz="1000" b="0" i="1">
                <a:solidFill>
                  <a:srgbClr val="4B5563"/>
                </a:solidFill>
              </a:rPr>
              <a:t>Every registered user is a real, verified person — not an anonymous click. Your store sees the name, age group, and parish of every customer who follows, bids on, or likes your products.</a:t>
            </a:r>
          </a:p>
        </p:txBody>
      </p:sp>
      <p:sp>
        <p:nvSpPr>
          <p:cNvPr id="11" name="Rectangle 10"/>
          <p:cNvSpPr/>
          <p:nvPr/>
        </p:nvSpPr>
        <p:spPr>
          <a:xfrm>
            <a:off x="9464040" y="1188720"/>
            <a:ext cx="2304288" cy="4792919"/>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583862" y="1400714"/>
            <a:ext cx="2064642" cy="4391972"/>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0327134" y="1248078"/>
            <a:ext cx="578099" cy="4663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368426" y="5917395"/>
            <a:ext cx="495514" cy="26453"/>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583862" y="1400714"/>
            <a:ext cx="2064642" cy="439197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583862" y="1400714"/>
            <a:ext cx="2064642"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20438" y="1405286"/>
            <a:ext cx="619392" cy="96012"/>
          </a:xfrm>
          <a:prstGeom prst="rect">
            <a:avLst/>
          </a:prstGeom>
          <a:noFill/>
        </p:spPr>
        <p:txBody>
          <a:bodyPr wrap="square">
            <a:spAutoFit/>
          </a:bodyPr>
          <a:lstStyle/>
          <a:p>
            <a:pPr algn="l"/>
            <a:r>
              <a:rPr sz="450" b="1" i="0">
                <a:solidFill>
                  <a:srgbClr val="FFFFFF"/>
                </a:solidFill>
              </a:rPr>
              <a:t>9:41</a:t>
            </a:r>
          </a:p>
        </p:txBody>
      </p:sp>
      <p:sp>
        <p:nvSpPr>
          <p:cNvPr id="18" name="TextBox 17"/>
          <p:cNvSpPr txBox="1"/>
          <p:nvPr/>
        </p:nvSpPr>
        <p:spPr>
          <a:xfrm>
            <a:off x="10719416" y="1405286"/>
            <a:ext cx="887796" cy="96012"/>
          </a:xfrm>
          <a:prstGeom prst="rect">
            <a:avLst/>
          </a:prstGeom>
          <a:noFill/>
        </p:spPr>
        <p:txBody>
          <a:bodyPr wrap="square">
            <a:spAutoFit/>
          </a:bodyPr>
          <a:lstStyle/>
          <a:p>
            <a:pPr algn="r"/>
            <a:r>
              <a:rPr sz="400" b="0" i="0">
                <a:solidFill>
                  <a:srgbClr val="FFFFFF"/>
                </a:solidFill>
              </a:rPr>
              <a:t>|||  100%</a:t>
            </a:r>
          </a:p>
        </p:txBody>
      </p:sp>
      <p:sp>
        <p:nvSpPr>
          <p:cNvPr id="19" name="Rectangle 18"/>
          <p:cNvSpPr/>
          <p:nvPr/>
        </p:nvSpPr>
        <p:spPr>
          <a:xfrm>
            <a:off x="9583862" y="1496726"/>
            <a:ext cx="2064642"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11294" y="1533302"/>
            <a:ext cx="2009778" cy="141731"/>
          </a:xfrm>
          <a:prstGeom prst="rect">
            <a:avLst/>
          </a:prstGeom>
          <a:noFill/>
        </p:spPr>
        <p:txBody>
          <a:bodyPr wrap="square">
            <a:spAutoFit/>
          </a:bodyPr>
          <a:lstStyle/>
          <a:p>
            <a:pPr algn="ctr"/>
            <a:r>
              <a:rPr sz="650" b="1" i="0">
                <a:solidFill>
                  <a:srgbClr val="0A0A0A"/>
                </a:solidFill>
              </a:rPr>
              <a:t>Create Account</a:t>
            </a:r>
          </a:p>
        </p:txBody>
      </p:sp>
      <p:sp>
        <p:nvSpPr>
          <p:cNvPr id="21" name="TextBox 20"/>
          <p:cNvSpPr txBox="1"/>
          <p:nvPr/>
        </p:nvSpPr>
        <p:spPr>
          <a:xfrm>
            <a:off x="9620438" y="1720754"/>
            <a:ext cx="2009778" cy="91440"/>
          </a:xfrm>
          <a:prstGeom prst="rect">
            <a:avLst/>
          </a:prstGeom>
          <a:noFill/>
        </p:spPr>
        <p:txBody>
          <a:bodyPr wrap="square">
            <a:spAutoFit/>
          </a:bodyPr>
          <a:lstStyle/>
          <a:p>
            <a:pPr algn="l"/>
            <a:r>
              <a:rPr sz="380" b="0" i="0">
                <a:solidFill>
                  <a:srgbClr val="9CA3AF"/>
                </a:solidFill>
              </a:rPr>
              <a:t>Tell us about yourself</a:t>
            </a:r>
          </a:p>
        </p:txBody>
      </p:sp>
      <p:sp>
        <p:nvSpPr>
          <p:cNvPr id="22" name="Rectangle 21"/>
          <p:cNvSpPr/>
          <p:nvPr/>
        </p:nvSpPr>
        <p:spPr>
          <a:xfrm>
            <a:off x="9583862" y="1812194"/>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9582" y="1821338"/>
            <a:ext cx="1991490" cy="73152"/>
          </a:xfrm>
          <a:prstGeom prst="rect">
            <a:avLst/>
          </a:prstGeom>
          <a:noFill/>
        </p:spPr>
        <p:txBody>
          <a:bodyPr wrap="square">
            <a:spAutoFit/>
          </a:bodyPr>
          <a:lstStyle/>
          <a:p>
            <a:pPr algn="l"/>
            <a:r>
              <a:rPr sz="380" b="0" i="0">
                <a:solidFill>
                  <a:srgbClr val="9CA3AF"/>
                </a:solidFill>
              </a:rPr>
              <a:t>First Name</a:t>
            </a:r>
          </a:p>
        </p:txBody>
      </p:sp>
      <p:sp>
        <p:nvSpPr>
          <p:cNvPr id="24" name="TextBox 23"/>
          <p:cNvSpPr txBox="1"/>
          <p:nvPr/>
        </p:nvSpPr>
        <p:spPr>
          <a:xfrm>
            <a:off x="9629582" y="1894490"/>
            <a:ext cx="1991490" cy="82296"/>
          </a:xfrm>
          <a:prstGeom prst="rect">
            <a:avLst/>
          </a:prstGeom>
          <a:noFill/>
        </p:spPr>
        <p:txBody>
          <a:bodyPr wrap="square">
            <a:spAutoFit/>
          </a:bodyPr>
          <a:lstStyle/>
          <a:p>
            <a:pPr algn="l"/>
            <a:r>
              <a:rPr sz="500" b="1" i="0">
                <a:solidFill>
                  <a:srgbClr val="FFFFFF"/>
                </a:solidFill>
              </a:rPr>
              <a:t>John</a:t>
            </a:r>
          </a:p>
        </p:txBody>
      </p:sp>
      <p:sp>
        <p:nvSpPr>
          <p:cNvPr id="25" name="Rectangle 24"/>
          <p:cNvSpPr/>
          <p:nvPr/>
        </p:nvSpPr>
        <p:spPr>
          <a:xfrm>
            <a:off x="9583862" y="1977700"/>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583862" y="1984101"/>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629582" y="1993245"/>
            <a:ext cx="1991490" cy="73152"/>
          </a:xfrm>
          <a:prstGeom prst="rect">
            <a:avLst/>
          </a:prstGeom>
          <a:noFill/>
        </p:spPr>
        <p:txBody>
          <a:bodyPr wrap="square">
            <a:spAutoFit/>
          </a:bodyPr>
          <a:lstStyle/>
          <a:p>
            <a:pPr algn="l"/>
            <a:r>
              <a:rPr sz="380" b="0" i="0">
                <a:solidFill>
                  <a:srgbClr val="9CA3AF"/>
                </a:solidFill>
              </a:rPr>
              <a:t>Last Name</a:t>
            </a:r>
          </a:p>
        </p:txBody>
      </p:sp>
      <p:sp>
        <p:nvSpPr>
          <p:cNvPr id="28" name="TextBox 27"/>
          <p:cNvSpPr txBox="1"/>
          <p:nvPr/>
        </p:nvSpPr>
        <p:spPr>
          <a:xfrm>
            <a:off x="9629582" y="2066397"/>
            <a:ext cx="1991490" cy="82296"/>
          </a:xfrm>
          <a:prstGeom prst="rect">
            <a:avLst/>
          </a:prstGeom>
          <a:noFill/>
        </p:spPr>
        <p:txBody>
          <a:bodyPr wrap="square">
            <a:spAutoFit/>
          </a:bodyPr>
          <a:lstStyle/>
          <a:p>
            <a:pPr algn="l"/>
            <a:r>
              <a:rPr sz="500" b="1" i="0">
                <a:solidFill>
                  <a:srgbClr val="FFFFFF"/>
                </a:solidFill>
              </a:rPr>
              <a:t>Husbands</a:t>
            </a:r>
          </a:p>
        </p:txBody>
      </p:sp>
      <p:sp>
        <p:nvSpPr>
          <p:cNvPr id="29" name="Rectangle 28"/>
          <p:cNvSpPr/>
          <p:nvPr/>
        </p:nvSpPr>
        <p:spPr>
          <a:xfrm>
            <a:off x="9583862" y="2149608"/>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83862" y="2156008"/>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29582" y="2165152"/>
            <a:ext cx="1991490" cy="73152"/>
          </a:xfrm>
          <a:prstGeom prst="rect">
            <a:avLst/>
          </a:prstGeom>
          <a:noFill/>
        </p:spPr>
        <p:txBody>
          <a:bodyPr wrap="square">
            <a:spAutoFit/>
          </a:bodyPr>
          <a:lstStyle/>
          <a:p>
            <a:pPr algn="l"/>
            <a:r>
              <a:rPr sz="380" b="0" i="0">
                <a:solidFill>
                  <a:srgbClr val="9CA3AF"/>
                </a:solidFill>
              </a:rPr>
              <a:t>Date of Birth (18+ required)</a:t>
            </a:r>
          </a:p>
        </p:txBody>
      </p:sp>
      <p:sp>
        <p:nvSpPr>
          <p:cNvPr id="32" name="TextBox 31"/>
          <p:cNvSpPr txBox="1"/>
          <p:nvPr/>
        </p:nvSpPr>
        <p:spPr>
          <a:xfrm>
            <a:off x="9629582" y="2238304"/>
            <a:ext cx="1991490" cy="82296"/>
          </a:xfrm>
          <a:prstGeom prst="rect">
            <a:avLst/>
          </a:prstGeom>
          <a:noFill/>
        </p:spPr>
        <p:txBody>
          <a:bodyPr wrap="square">
            <a:spAutoFit/>
          </a:bodyPr>
          <a:lstStyle/>
          <a:p>
            <a:pPr algn="l"/>
            <a:r>
              <a:rPr sz="500" b="1" i="0">
                <a:solidFill>
                  <a:srgbClr val="FFFFFF"/>
                </a:solidFill>
              </a:rPr>
              <a:t>15 / 04 / 1992</a:t>
            </a:r>
          </a:p>
        </p:txBody>
      </p:sp>
      <p:sp>
        <p:nvSpPr>
          <p:cNvPr id="33" name="Rectangle 32"/>
          <p:cNvSpPr/>
          <p:nvPr/>
        </p:nvSpPr>
        <p:spPr>
          <a:xfrm>
            <a:off x="9583862" y="2321515"/>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83862" y="2327916"/>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29582" y="2337060"/>
            <a:ext cx="1991490" cy="73152"/>
          </a:xfrm>
          <a:prstGeom prst="rect">
            <a:avLst/>
          </a:prstGeom>
          <a:noFill/>
        </p:spPr>
        <p:txBody>
          <a:bodyPr wrap="square">
            <a:spAutoFit/>
          </a:bodyPr>
          <a:lstStyle/>
          <a:p>
            <a:pPr algn="l"/>
            <a:r>
              <a:rPr sz="380" b="0" i="0">
                <a:solidFill>
                  <a:srgbClr val="9CA3AF"/>
                </a:solidFill>
              </a:rPr>
              <a:t>Parish</a:t>
            </a:r>
          </a:p>
        </p:txBody>
      </p:sp>
      <p:sp>
        <p:nvSpPr>
          <p:cNvPr id="36" name="TextBox 35"/>
          <p:cNvSpPr txBox="1"/>
          <p:nvPr/>
        </p:nvSpPr>
        <p:spPr>
          <a:xfrm>
            <a:off x="9629582" y="2410212"/>
            <a:ext cx="1991490" cy="82296"/>
          </a:xfrm>
          <a:prstGeom prst="rect">
            <a:avLst/>
          </a:prstGeom>
          <a:noFill/>
        </p:spPr>
        <p:txBody>
          <a:bodyPr wrap="square">
            <a:spAutoFit/>
          </a:bodyPr>
          <a:lstStyle/>
          <a:p>
            <a:pPr algn="l"/>
            <a:r>
              <a:rPr sz="500" b="1" i="0">
                <a:solidFill>
                  <a:srgbClr val="FFFFFF"/>
                </a:solidFill>
              </a:rPr>
              <a:t>St. Michael</a:t>
            </a:r>
          </a:p>
        </p:txBody>
      </p:sp>
      <p:sp>
        <p:nvSpPr>
          <p:cNvPr id="37" name="Rectangle 36"/>
          <p:cNvSpPr/>
          <p:nvPr/>
        </p:nvSpPr>
        <p:spPr>
          <a:xfrm>
            <a:off x="9583862" y="2493422"/>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583862" y="2499823"/>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629582" y="2508967"/>
            <a:ext cx="1991490" cy="73152"/>
          </a:xfrm>
          <a:prstGeom prst="rect">
            <a:avLst/>
          </a:prstGeom>
          <a:noFill/>
        </p:spPr>
        <p:txBody>
          <a:bodyPr wrap="square">
            <a:spAutoFit/>
          </a:bodyPr>
          <a:lstStyle/>
          <a:p>
            <a:pPr algn="l"/>
            <a:r>
              <a:rPr sz="380" b="0" i="0">
                <a:solidFill>
                  <a:srgbClr val="9CA3AF"/>
                </a:solidFill>
              </a:rPr>
              <a:t>Email Address</a:t>
            </a:r>
          </a:p>
        </p:txBody>
      </p:sp>
      <p:sp>
        <p:nvSpPr>
          <p:cNvPr id="40" name="TextBox 39"/>
          <p:cNvSpPr txBox="1"/>
          <p:nvPr/>
        </p:nvSpPr>
        <p:spPr>
          <a:xfrm>
            <a:off x="9629582" y="2582119"/>
            <a:ext cx="1991490" cy="82296"/>
          </a:xfrm>
          <a:prstGeom prst="rect">
            <a:avLst/>
          </a:prstGeom>
          <a:noFill/>
        </p:spPr>
        <p:txBody>
          <a:bodyPr wrap="square">
            <a:spAutoFit/>
          </a:bodyPr>
          <a:lstStyle/>
          <a:p>
            <a:pPr algn="l"/>
            <a:r>
              <a:rPr sz="500" b="1" i="0">
                <a:solidFill>
                  <a:srgbClr val="FFFFFF"/>
                </a:solidFill>
              </a:rPr>
              <a:t>john@gmail.com</a:t>
            </a:r>
          </a:p>
        </p:txBody>
      </p:sp>
      <p:sp>
        <p:nvSpPr>
          <p:cNvPr id="41" name="Rectangle 40"/>
          <p:cNvSpPr/>
          <p:nvPr/>
        </p:nvSpPr>
        <p:spPr>
          <a:xfrm>
            <a:off x="9583862" y="2665329"/>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83862" y="2671730"/>
            <a:ext cx="2064642" cy="17190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29582" y="2680874"/>
            <a:ext cx="1991490" cy="73152"/>
          </a:xfrm>
          <a:prstGeom prst="rect">
            <a:avLst/>
          </a:prstGeom>
          <a:noFill/>
        </p:spPr>
        <p:txBody>
          <a:bodyPr wrap="square">
            <a:spAutoFit/>
          </a:bodyPr>
          <a:lstStyle/>
          <a:p>
            <a:pPr algn="l"/>
            <a:r>
              <a:rPr sz="380" b="0" i="0">
                <a:solidFill>
                  <a:srgbClr val="9CA3AF"/>
                </a:solidFill>
              </a:rPr>
              <a:t>Mobile Number</a:t>
            </a:r>
          </a:p>
        </p:txBody>
      </p:sp>
      <p:sp>
        <p:nvSpPr>
          <p:cNvPr id="44" name="TextBox 43"/>
          <p:cNvSpPr txBox="1"/>
          <p:nvPr/>
        </p:nvSpPr>
        <p:spPr>
          <a:xfrm>
            <a:off x="9629582" y="2754026"/>
            <a:ext cx="1991490" cy="82296"/>
          </a:xfrm>
          <a:prstGeom prst="rect">
            <a:avLst/>
          </a:prstGeom>
          <a:noFill/>
        </p:spPr>
        <p:txBody>
          <a:bodyPr wrap="square">
            <a:spAutoFit/>
          </a:bodyPr>
          <a:lstStyle/>
          <a:p>
            <a:pPr algn="l"/>
            <a:r>
              <a:rPr sz="500" b="1" i="0">
                <a:solidFill>
                  <a:srgbClr val="FFFFFF"/>
                </a:solidFill>
              </a:rPr>
              <a:t>+1 (246) 256-8821</a:t>
            </a:r>
          </a:p>
        </p:txBody>
      </p:sp>
      <p:sp>
        <p:nvSpPr>
          <p:cNvPr id="45" name="Rectangle 44"/>
          <p:cNvSpPr/>
          <p:nvPr/>
        </p:nvSpPr>
        <p:spPr>
          <a:xfrm>
            <a:off x="9583862" y="2837236"/>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769680" y="2898501"/>
            <a:ext cx="1693006" cy="1600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9769680" y="2925933"/>
            <a:ext cx="1693006" cy="123443"/>
          </a:xfrm>
          <a:prstGeom prst="rect">
            <a:avLst/>
          </a:prstGeom>
          <a:noFill/>
        </p:spPr>
        <p:txBody>
          <a:bodyPr wrap="square">
            <a:spAutoFit/>
          </a:bodyPr>
          <a:lstStyle/>
          <a:p>
            <a:pPr algn="ctr"/>
            <a:r>
              <a:rPr sz="550" b="1" i="0">
                <a:solidFill>
                  <a:srgbClr val="0A0A0A"/>
                </a:solidFill>
              </a:rPr>
              <a:t>REGISTER FREE</a:t>
            </a:r>
          </a:p>
        </p:txBody>
      </p:sp>
      <p:sp>
        <p:nvSpPr>
          <p:cNvPr id="48" name="TextBox 47"/>
          <p:cNvSpPr txBox="1"/>
          <p:nvPr/>
        </p:nvSpPr>
        <p:spPr>
          <a:xfrm>
            <a:off x="10012680" y="2788920"/>
            <a:ext cx="2011680" cy="274320"/>
          </a:xfrm>
          <a:prstGeom prst="rect">
            <a:avLst/>
          </a:prstGeom>
          <a:noFill/>
        </p:spPr>
        <p:txBody>
          <a:bodyPr wrap="square">
            <a:spAutoFit/>
          </a:bodyPr>
          <a:lstStyle/>
          <a:p>
            <a:pPr algn="l"/>
            <a:r>
              <a:rPr sz="800" b="1" i="0">
                <a:solidFill>
                  <a:srgbClr val="1E50D8"/>
                </a:solidFill>
              </a:rPr>
              <a:t>← Age verified (18+)</a:t>
            </a:r>
          </a:p>
        </p:txBody>
      </p:sp>
      <p:sp>
        <p:nvSpPr>
          <p:cNvPr id="49" name="TextBox 48"/>
          <p:cNvSpPr txBox="1"/>
          <p:nvPr/>
        </p:nvSpPr>
        <p:spPr>
          <a:xfrm>
            <a:off x="10012680" y="3493008"/>
            <a:ext cx="2011680" cy="274320"/>
          </a:xfrm>
          <a:prstGeom prst="rect">
            <a:avLst/>
          </a:prstGeom>
          <a:noFill/>
        </p:spPr>
        <p:txBody>
          <a:bodyPr wrap="square">
            <a:spAutoFit/>
          </a:bodyPr>
          <a:lstStyle/>
          <a:p>
            <a:pPr algn="l"/>
            <a:r>
              <a:rPr sz="800" b="1" i="0">
                <a:solidFill>
                  <a:srgbClr val="1E50D8"/>
                </a:solidFill>
              </a:rPr>
              <a:t>← Parish captured</a:t>
            </a:r>
          </a:p>
        </p:txBody>
      </p:sp>
      <p:sp>
        <p:nvSpPr>
          <p:cNvPr id="50" name="TextBox 49"/>
          <p:cNvSpPr txBox="1"/>
          <p:nvPr/>
        </p:nvSpPr>
        <p:spPr>
          <a:xfrm>
            <a:off x="10012680" y="4187952"/>
            <a:ext cx="2011680" cy="274320"/>
          </a:xfrm>
          <a:prstGeom prst="rect">
            <a:avLst/>
          </a:prstGeom>
          <a:noFill/>
        </p:spPr>
        <p:txBody>
          <a:bodyPr wrap="square">
            <a:spAutoFit/>
          </a:bodyPr>
          <a:lstStyle/>
          <a:p>
            <a:pPr algn="l"/>
            <a:r>
              <a:rPr sz="800" b="1" i="0">
                <a:solidFill>
                  <a:srgbClr val="1E50D8"/>
                </a:solidFill>
              </a:rPr>
              <a:t>← Real contact info</a:t>
            </a:r>
          </a:p>
        </p:txBody>
      </p:sp>
      <p:sp>
        <p:nvSpPr>
          <p:cNvPr id="51" name="TextBox 50"/>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4 / 18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THE BIZIBID APP</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Inside the App — Your Store on Every Screen</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The BiziBid home screen is a live keypad of retail stores — your logo always visible, always active.</a:t>
            </a:r>
          </a:p>
        </p:txBody>
      </p:sp>
      <p:sp>
        <p:nvSpPr>
          <p:cNvPr id="7" name="Rectangle 6"/>
          <p:cNvSpPr/>
          <p:nvPr/>
        </p:nvSpPr>
        <p:spPr>
          <a:xfrm>
            <a:off x="365760" y="2331720"/>
            <a:ext cx="6126480" cy="960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331720"/>
            <a:ext cx="45720" cy="9601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395727"/>
            <a:ext cx="5852160" cy="237744"/>
          </a:xfrm>
          <a:prstGeom prst="rect">
            <a:avLst/>
          </a:prstGeom>
          <a:noFill/>
        </p:spPr>
        <p:txBody>
          <a:bodyPr wrap="square">
            <a:spAutoFit/>
          </a:bodyPr>
          <a:lstStyle/>
          <a:p>
            <a:pPr algn="l"/>
            <a:r>
              <a:rPr sz="900" b="1" i="0">
                <a:solidFill>
                  <a:srgbClr val="C9A84C"/>
                </a:solidFill>
              </a:rPr>
              <a:t>PINNED STORE</a:t>
            </a:r>
          </a:p>
        </p:txBody>
      </p:sp>
      <p:sp>
        <p:nvSpPr>
          <p:cNvPr id="10" name="TextBox 9"/>
          <p:cNvSpPr txBox="1"/>
          <p:nvPr/>
        </p:nvSpPr>
        <p:spPr>
          <a:xfrm>
            <a:off x="502920" y="2642615"/>
            <a:ext cx="5852160" cy="585216"/>
          </a:xfrm>
          <a:prstGeom prst="rect">
            <a:avLst/>
          </a:prstGeom>
          <a:noFill/>
        </p:spPr>
        <p:txBody>
          <a:bodyPr wrap="square">
            <a:spAutoFit/>
          </a:bodyPr>
          <a:lstStyle/>
          <a:p>
            <a:pPr algn="l"/>
            <a:r>
              <a:rPr sz="1000" b="0" i="0">
                <a:solidFill>
                  <a:srgbClr val="4B5563"/>
                </a:solidFill>
              </a:rPr>
              <a:t>Customers pin their favourite store at the top — maximum visibility every time they open the app.</a:t>
            </a:r>
          </a:p>
        </p:txBody>
      </p:sp>
      <p:sp>
        <p:nvSpPr>
          <p:cNvPr id="11" name="Rectangle 10"/>
          <p:cNvSpPr/>
          <p:nvPr/>
        </p:nvSpPr>
        <p:spPr>
          <a:xfrm>
            <a:off x="365760" y="3401568"/>
            <a:ext cx="6126480" cy="960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 y="3401568"/>
            <a:ext cx="45720" cy="9601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465575"/>
            <a:ext cx="5852160" cy="237744"/>
          </a:xfrm>
          <a:prstGeom prst="rect">
            <a:avLst/>
          </a:prstGeom>
          <a:noFill/>
        </p:spPr>
        <p:txBody>
          <a:bodyPr wrap="square">
            <a:spAutoFit/>
          </a:bodyPr>
          <a:lstStyle/>
          <a:p>
            <a:pPr algn="l"/>
            <a:r>
              <a:rPr sz="900" b="1" i="0">
                <a:solidFill>
                  <a:srgbClr val="C9A84C"/>
                </a:solidFill>
              </a:rPr>
              <a:t>LIVE BADGE</a:t>
            </a:r>
          </a:p>
        </p:txBody>
      </p:sp>
      <p:sp>
        <p:nvSpPr>
          <p:cNvPr id="14" name="TextBox 13"/>
          <p:cNvSpPr txBox="1"/>
          <p:nvPr/>
        </p:nvSpPr>
        <p:spPr>
          <a:xfrm>
            <a:off x="502920" y="3712463"/>
            <a:ext cx="5852160" cy="585216"/>
          </a:xfrm>
          <a:prstGeom prst="rect">
            <a:avLst/>
          </a:prstGeom>
          <a:noFill/>
        </p:spPr>
        <p:txBody>
          <a:bodyPr wrap="square">
            <a:spAutoFit/>
          </a:bodyPr>
          <a:lstStyle/>
          <a:p>
            <a:pPr algn="l"/>
            <a:r>
              <a:rPr sz="1000" b="0" i="0">
                <a:solidFill>
                  <a:srgbClr val="4B5563"/>
                </a:solidFill>
              </a:rPr>
              <a:t>Colour-coded badge shows active bids, deals, and alerts on your store button — customers react immediately.</a:t>
            </a:r>
          </a:p>
        </p:txBody>
      </p:sp>
      <p:sp>
        <p:nvSpPr>
          <p:cNvPr id="15" name="Rectangle 14"/>
          <p:cNvSpPr/>
          <p:nvPr/>
        </p:nvSpPr>
        <p:spPr>
          <a:xfrm>
            <a:off x="365760" y="4471416"/>
            <a:ext cx="6126480" cy="960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4471416"/>
            <a:ext cx="45720" cy="9601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535424"/>
            <a:ext cx="5852160" cy="237744"/>
          </a:xfrm>
          <a:prstGeom prst="rect">
            <a:avLst/>
          </a:prstGeom>
          <a:noFill/>
        </p:spPr>
        <p:txBody>
          <a:bodyPr wrap="square">
            <a:spAutoFit/>
          </a:bodyPr>
          <a:lstStyle/>
          <a:p>
            <a:pPr algn="l"/>
            <a:r>
              <a:rPr sz="900" b="1" i="0">
                <a:solidFill>
                  <a:srgbClr val="C9A84C"/>
                </a:solidFill>
              </a:rPr>
              <a:t>STORE KEYPAD</a:t>
            </a:r>
          </a:p>
        </p:txBody>
      </p:sp>
      <p:sp>
        <p:nvSpPr>
          <p:cNvPr id="18" name="TextBox 17"/>
          <p:cNvSpPr txBox="1"/>
          <p:nvPr/>
        </p:nvSpPr>
        <p:spPr>
          <a:xfrm>
            <a:off x="502920" y="4782312"/>
            <a:ext cx="5852160" cy="585216"/>
          </a:xfrm>
          <a:prstGeom prst="rect">
            <a:avLst/>
          </a:prstGeom>
          <a:noFill/>
        </p:spPr>
        <p:txBody>
          <a:bodyPr wrap="square">
            <a:spAutoFit/>
          </a:bodyPr>
          <a:lstStyle/>
          <a:p>
            <a:pPr algn="l"/>
            <a:r>
              <a:rPr sz="1000" b="0" i="0">
                <a:solidFill>
                  <a:srgbClr val="4B5563"/>
                </a:solidFill>
              </a:rPr>
              <a:t>Your logo is a direct-tap button. One press opens your full auction and deals screen instantly.</a:t>
            </a:r>
          </a:p>
        </p:txBody>
      </p:sp>
      <p:sp>
        <p:nvSpPr>
          <p:cNvPr id="19" name="Rectangle 18"/>
          <p:cNvSpPr/>
          <p:nvPr/>
        </p:nvSpPr>
        <p:spPr>
          <a:xfrm>
            <a:off x="365760" y="5541264"/>
            <a:ext cx="6126480" cy="960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 y="5541264"/>
            <a:ext cx="45720" cy="9601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5605272"/>
            <a:ext cx="5852160" cy="237744"/>
          </a:xfrm>
          <a:prstGeom prst="rect">
            <a:avLst/>
          </a:prstGeom>
          <a:noFill/>
        </p:spPr>
        <p:txBody>
          <a:bodyPr wrap="square">
            <a:spAutoFit/>
          </a:bodyPr>
          <a:lstStyle/>
          <a:p>
            <a:pPr algn="l"/>
            <a:r>
              <a:rPr sz="900" b="1" i="0">
                <a:solidFill>
                  <a:srgbClr val="C9A84C"/>
                </a:solidFill>
              </a:rPr>
              <a:t>DEAL STRIP</a:t>
            </a:r>
          </a:p>
        </p:txBody>
      </p:sp>
      <p:sp>
        <p:nvSpPr>
          <p:cNvPr id="22" name="TextBox 21"/>
          <p:cNvSpPr txBox="1"/>
          <p:nvPr/>
        </p:nvSpPr>
        <p:spPr>
          <a:xfrm>
            <a:off x="502920" y="5852159"/>
            <a:ext cx="5852160" cy="585216"/>
          </a:xfrm>
          <a:prstGeom prst="rect">
            <a:avLst/>
          </a:prstGeom>
          <a:noFill/>
        </p:spPr>
        <p:txBody>
          <a:bodyPr wrap="square">
            <a:spAutoFit/>
          </a:bodyPr>
          <a:lstStyle/>
          <a:p>
            <a:pPr algn="l"/>
            <a:r>
              <a:rPr sz="1000" b="0" i="0">
                <a:solidFill>
                  <a:srgbClr val="4B5563"/>
                </a:solidFill>
              </a:rPr>
              <a:t>Active Deals of the Week and Month appear as a scrollable banner across the top of the feed.</a:t>
            </a:r>
          </a:p>
        </p:txBody>
      </p:sp>
      <p:sp>
        <p:nvSpPr>
          <p:cNvPr id="23" name="Rectangle 22"/>
          <p:cNvSpPr/>
          <p:nvPr/>
        </p:nvSpPr>
        <p:spPr>
          <a:xfrm>
            <a:off x="6812280" y="658368"/>
            <a:ext cx="2788920" cy="5800953"/>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57303" y="914948"/>
            <a:ext cx="2498872" cy="5315681"/>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856897" y="730210"/>
            <a:ext cx="699684" cy="56447"/>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906875" y="6381566"/>
            <a:ext cx="599729" cy="32016"/>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957303" y="914948"/>
            <a:ext cx="2498872" cy="5315681"/>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57303" y="914948"/>
            <a:ext cx="2498872"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93879" y="919520"/>
            <a:ext cx="749661" cy="96012"/>
          </a:xfrm>
          <a:prstGeom prst="rect">
            <a:avLst/>
          </a:prstGeom>
          <a:noFill/>
        </p:spPr>
        <p:txBody>
          <a:bodyPr wrap="square">
            <a:spAutoFit/>
          </a:bodyPr>
          <a:lstStyle/>
          <a:p>
            <a:pPr algn="l"/>
            <a:r>
              <a:rPr sz="450" b="1" i="0">
                <a:solidFill>
                  <a:srgbClr val="FFFFFF"/>
                </a:solidFill>
              </a:rPr>
              <a:t>9:41</a:t>
            </a:r>
          </a:p>
        </p:txBody>
      </p:sp>
      <p:sp>
        <p:nvSpPr>
          <p:cNvPr id="30" name="TextBox 29"/>
          <p:cNvSpPr txBox="1"/>
          <p:nvPr/>
        </p:nvSpPr>
        <p:spPr>
          <a:xfrm>
            <a:off x="8331683" y="919520"/>
            <a:ext cx="1074515" cy="96012"/>
          </a:xfrm>
          <a:prstGeom prst="rect">
            <a:avLst/>
          </a:prstGeom>
          <a:noFill/>
        </p:spPr>
        <p:txBody>
          <a:bodyPr wrap="square">
            <a:spAutoFit/>
          </a:bodyPr>
          <a:lstStyle/>
          <a:p>
            <a:pPr algn="r"/>
            <a:r>
              <a:rPr sz="400" b="0" i="0">
                <a:solidFill>
                  <a:srgbClr val="FFFFFF"/>
                </a:solidFill>
              </a:rPr>
              <a:t>|||  100%</a:t>
            </a:r>
          </a:p>
        </p:txBody>
      </p:sp>
      <p:sp>
        <p:nvSpPr>
          <p:cNvPr id="31" name="Rectangle 30"/>
          <p:cNvSpPr/>
          <p:nvPr/>
        </p:nvSpPr>
        <p:spPr>
          <a:xfrm>
            <a:off x="6957303" y="1010960"/>
            <a:ext cx="2498872"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84735" y="1047536"/>
            <a:ext cx="2444008" cy="141731"/>
          </a:xfrm>
          <a:prstGeom prst="rect">
            <a:avLst/>
          </a:prstGeom>
          <a:noFill/>
        </p:spPr>
        <p:txBody>
          <a:bodyPr wrap="square">
            <a:spAutoFit/>
          </a:bodyPr>
          <a:lstStyle/>
          <a:p>
            <a:pPr algn="ctr"/>
            <a:r>
              <a:rPr sz="650" b="1" i="0">
                <a:solidFill>
                  <a:srgbClr val="0A0A0A"/>
                </a:solidFill>
              </a:rPr>
              <a:t>BiziBid</a:t>
            </a:r>
          </a:p>
        </p:txBody>
      </p:sp>
      <p:sp>
        <p:nvSpPr>
          <p:cNvPr id="33" name="Rectangle 32"/>
          <p:cNvSpPr/>
          <p:nvPr/>
        </p:nvSpPr>
        <p:spPr>
          <a:xfrm>
            <a:off x="6957303" y="1198412"/>
            <a:ext cx="2498872" cy="164592"/>
          </a:xfrm>
          <a:prstGeom prst="rect">
            <a:avLst/>
          </a:prstGeom>
          <a:solidFill>
            <a:srgbClr val="0A1A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84735" y="1225844"/>
            <a:ext cx="2453152" cy="109728"/>
          </a:xfrm>
          <a:prstGeom prst="rect">
            <a:avLst/>
          </a:prstGeom>
          <a:noFill/>
        </p:spPr>
        <p:txBody>
          <a:bodyPr wrap="square">
            <a:spAutoFit/>
          </a:bodyPr>
          <a:lstStyle/>
          <a:p>
            <a:pPr algn="l"/>
            <a:r>
              <a:rPr sz="380" b="1" i="0">
                <a:solidFill>
                  <a:srgbClr val="C9A84C"/>
                </a:solidFill>
              </a:rPr>
              <a:t>DEAL OF THE WEEK: 32" Smart TV  $199</a:t>
            </a:r>
          </a:p>
        </p:txBody>
      </p:sp>
      <p:sp>
        <p:nvSpPr>
          <p:cNvPr id="35" name="TextBox 34"/>
          <p:cNvSpPr txBox="1"/>
          <p:nvPr/>
        </p:nvSpPr>
        <p:spPr>
          <a:xfrm>
            <a:off x="6993879" y="1381292"/>
            <a:ext cx="2444008" cy="91440"/>
          </a:xfrm>
          <a:prstGeom prst="rect">
            <a:avLst/>
          </a:prstGeom>
          <a:noFill/>
        </p:spPr>
        <p:txBody>
          <a:bodyPr wrap="square">
            <a:spAutoFit/>
          </a:bodyPr>
          <a:lstStyle/>
          <a:p>
            <a:pPr algn="l"/>
            <a:r>
              <a:rPr sz="380" b="0" i="0">
                <a:solidFill>
                  <a:srgbClr val="9CA3AF"/>
                </a:solidFill>
              </a:rPr>
              <a:t>YOUR STORES</a:t>
            </a:r>
          </a:p>
        </p:txBody>
      </p:sp>
      <p:sp>
        <p:nvSpPr>
          <p:cNvPr id="36" name="Rectangle 35"/>
          <p:cNvSpPr/>
          <p:nvPr/>
        </p:nvSpPr>
        <p:spPr>
          <a:xfrm>
            <a:off x="6957303" y="1481876"/>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22371" y="1556157"/>
            <a:ext cx="495202" cy="408542"/>
          </a:xfrm>
          <a:prstGeom prst="rect">
            <a:avLst/>
          </a:prstGeom>
          <a:noFill/>
        </p:spPr>
        <p:txBody>
          <a:bodyPr wrap="square">
            <a:spAutoFit/>
          </a:bodyPr>
          <a:lstStyle/>
          <a:p>
            <a:pPr algn="ctr"/>
            <a:r>
              <a:rPr sz="800" b="1" i="0">
                <a:solidFill>
                  <a:srgbClr val="C9A84C"/>
                </a:solidFill>
              </a:rPr>
              <a:t>M</a:t>
            </a:r>
          </a:p>
        </p:txBody>
      </p:sp>
      <p:sp>
        <p:nvSpPr>
          <p:cNvPr id="38" name="TextBox 37"/>
          <p:cNvSpPr txBox="1"/>
          <p:nvPr/>
        </p:nvSpPr>
        <p:spPr>
          <a:xfrm>
            <a:off x="6966447" y="1986983"/>
            <a:ext cx="807049" cy="207985"/>
          </a:xfrm>
          <a:prstGeom prst="rect">
            <a:avLst/>
          </a:prstGeom>
          <a:noFill/>
        </p:spPr>
        <p:txBody>
          <a:bodyPr wrap="square">
            <a:spAutoFit/>
          </a:bodyPr>
          <a:lstStyle/>
          <a:p>
            <a:pPr algn="ctr"/>
            <a:r>
              <a:rPr sz="320" b="0" i="0">
                <a:solidFill>
                  <a:srgbClr val="9CA3AF"/>
                </a:solidFill>
              </a:rPr>
              <a:t>Massy</a:t>
            </a:r>
          </a:p>
        </p:txBody>
      </p:sp>
      <p:sp>
        <p:nvSpPr>
          <p:cNvPr id="39" name="Rectangle 38"/>
          <p:cNvSpPr/>
          <p:nvPr/>
        </p:nvSpPr>
        <p:spPr>
          <a:xfrm>
            <a:off x="7691201" y="1491020"/>
            <a:ext cx="82296"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691201" y="1486448"/>
            <a:ext cx="82296" cy="64008"/>
          </a:xfrm>
          <a:prstGeom prst="rect">
            <a:avLst/>
          </a:prstGeom>
          <a:noFill/>
        </p:spPr>
        <p:txBody>
          <a:bodyPr wrap="square">
            <a:spAutoFit/>
          </a:bodyPr>
          <a:lstStyle/>
          <a:p>
            <a:pPr algn="ctr"/>
            <a:r>
              <a:rPr sz="280" b="1" i="0">
                <a:solidFill>
                  <a:srgbClr val="FFFFFF"/>
                </a:solidFill>
              </a:rPr>
              <a:t>5</a:t>
            </a:r>
          </a:p>
        </p:txBody>
      </p:sp>
      <p:sp>
        <p:nvSpPr>
          <p:cNvPr id="41" name="Rectangle 40"/>
          <p:cNvSpPr/>
          <p:nvPr/>
        </p:nvSpPr>
        <p:spPr>
          <a:xfrm>
            <a:off x="7791785" y="1481876"/>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956852" y="1556157"/>
            <a:ext cx="495202" cy="408542"/>
          </a:xfrm>
          <a:prstGeom prst="rect">
            <a:avLst/>
          </a:prstGeom>
          <a:noFill/>
        </p:spPr>
        <p:txBody>
          <a:bodyPr wrap="square">
            <a:spAutoFit/>
          </a:bodyPr>
          <a:lstStyle/>
          <a:p>
            <a:pPr algn="ctr"/>
            <a:r>
              <a:rPr sz="800" b="1" i="0">
                <a:solidFill>
                  <a:srgbClr val="C9A84C"/>
                </a:solidFill>
              </a:rPr>
              <a:t>C</a:t>
            </a:r>
          </a:p>
        </p:txBody>
      </p:sp>
      <p:sp>
        <p:nvSpPr>
          <p:cNvPr id="43" name="TextBox 42"/>
          <p:cNvSpPr txBox="1"/>
          <p:nvPr/>
        </p:nvSpPr>
        <p:spPr>
          <a:xfrm>
            <a:off x="7800929" y="1986983"/>
            <a:ext cx="807049" cy="207985"/>
          </a:xfrm>
          <a:prstGeom prst="rect">
            <a:avLst/>
          </a:prstGeom>
          <a:noFill/>
        </p:spPr>
        <p:txBody>
          <a:bodyPr wrap="square">
            <a:spAutoFit/>
          </a:bodyPr>
          <a:lstStyle/>
          <a:p>
            <a:pPr algn="ctr"/>
            <a:r>
              <a:rPr sz="320" b="0" i="0">
                <a:solidFill>
                  <a:srgbClr val="9CA3AF"/>
                </a:solidFill>
              </a:rPr>
              <a:t>Carters</a:t>
            </a:r>
          </a:p>
        </p:txBody>
      </p:sp>
      <p:sp>
        <p:nvSpPr>
          <p:cNvPr id="44" name="Rectangle 43"/>
          <p:cNvSpPr/>
          <p:nvPr/>
        </p:nvSpPr>
        <p:spPr>
          <a:xfrm>
            <a:off x="8525682" y="1491020"/>
            <a:ext cx="82296" cy="6400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25682" y="1486448"/>
            <a:ext cx="82296" cy="64008"/>
          </a:xfrm>
          <a:prstGeom prst="rect">
            <a:avLst/>
          </a:prstGeom>
          <a:noFill/>
        </p:spPr>
        <p:txBody>
          <a:bodyPr wrap="square">
            <a:spAutoFit/>
          </a:bodyPr>
          <a:lstStyle/>
          <a:p>
            <a:pPr algn="ctr"/>
            <a:r>
              <a:rPr sz="280" b="1" i="0">
                <a:solidFill>
                  <a:srgbClr val="FFFFFF"/>
                </a:solidFill>
              </a:rPr>
              <a:t>2</a:t>
            </a:r>
          </a:p>
        </p:txBody>
      </p:sp>
      <p:sp>
        <p:nvSpPr>
          <p:cNvPr id="46" name="Rectangle 45"/>
          <p:cNvSpPr/>
          <p:nvPr/>
        </p:nvSpPr>
        <p:spPr>
          <a:xfrm>
            <a:off x="8626266" y="1481876"/>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791334" y="1556157"/>
            <a:ext cx="495202" cy="408542"/>
          </a:xfrm>
          <a:prstGeom prst="rect">
            <a:avLst/>
          </a:prstGeom>
          <a:noFill/>
        </p:spPr>
        <p:txBody>
          <a:bodyPr wrap="square">
            <a:spAutoFit/>
          </a:bodyPr>
          <a:lstStyle/>
          <a:p>
            <a:pPr algn="ctr"/>
            <a:r>
              <a:rPr sz="800" b="1" i="0">
                <a:solidFill>
                  <a:srgbClr val="C9A84C"/>
                </a:solidFill>
              </a:rPr>
              <a:t>H</a:t>
            </a:r>
          </a:p>
        </p:txBody>
      </p:sp>
      <p:sp>
        <p:nvSpPr>
          <p:cNvPr id="48" name="TextBox 47"/>
          <p:cNvSpPr txBox="1"/>
          <p:nvPr/>
        </p:nvSpPr>
        <p:spPr>
          <a:xfrm>
            <a:off x="8635410" y="1986983"/>
            <a:ext cx="807049" cy="207985"/>
          </a:xfrm>
          <a:prstGeom prst="rect">
            <a:avLst/>
          </a:prstGeom>
          <a:noFill/>
        </p:spPr>
        <p:txBody>
          <a:bodyPr wrap="square">
            <a:spAutoFit/>
          </a:bodyPr>
          <a:lstStyle/>
          <a:p>
            <a:pPr algn="ctr"/>
            <a:r>
              <a:rPr sz="320" b="0" i="0">
                <a:solidFill>
                  <a:srgbClr val="9CA3AF"/>
                </a:solidFill>
              </a:rPr>
              <a:t>H&amp;B</a:t>
            </a:r>
          </a:p>
        </p:txBody>
      </p:sp>
      <p:sp>
        <p:nvSpPr>
          <p:cNvPr id="49" name="Rectangle 48"/>
          <p:cNvSpPr/>
          <p:nvPr/>
        </p:nvSpPr>
        <p:spPr>
          <a:xfrm>
            <a:off x="6957303" y="2233824"/>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122371" y="2308104"/>
            <a:ext cx="495202" cy="408542"/>
          </a:xfrm>
          <a:prstGeom prst="rect">
            <a:avLst/>
          </a:prstGeom>
          <a:noFill/>
        </p:spPr>
        <p:txBody>
          <a:bodyPr wrap="square">
            <a:spAutoFit/>
          </a:bodyPr>
          <a:lstStyle/>
          <a:p>
            <a:pPr algn="ctr"/>
            <a:r>
              <a:rPr sz="800" b="1" i="0">
                <a:solidFill>
                  <a:srgbClr val="C9A84C"/>
                </a:solidFill>
              </a:rPr>
              <a:t>P</a:t>
            </a:r>
          </a:p>
        </p:txBody>
      </p:sp>
      <p:sp>
        <p:nvSpPr>
          <p:cNvPr id="51" name="TextBox 50"/>
          <p:cNvSpPr txBox="1"/>
          <p:nvPr/>
        </p:nvSpPr>
        <p:spPr>
          <a:xfrm>
            <a:off x="6966447" y="2738930"/>
            <a:ext cx="807049" cy="207985"/>
          </a:xfrm>
          <a:prstGeom prst="rect">
            <a:avLst/>
          </a:prstGeom>
          <a:noFill/>
        </p:spPr>
        <p:txBody>
          <a:bodyPr wrap="square">
            <a:spAutoFit/>
          </a:bodyPr>
          <a:lstStyle/>
          <a:p>
            <a:pPr algn="ctr"/>
            <a:r>
              <a:rPr sz="320" b="0" i="0">
                <a:solidFill>
                  <a:srgbClr val="9CA3AF"/>
                </a:solidFill>
              </a:rPr>
              <a:t>Price-R</a:t>
            </a:r>
          </a:p>
        </p:txBody>
      </p:sp>
      <p:sp>
        <p:nvSpPr>
          <p:cNvPr id="52" name="Rectangle 51"/>
          <p:cNvSpPr/>
          <p:nvPr/>
        </p:nvSpPr>
        <p:spPr>
          <a:xfrm>
            <a:off x="7691201" y="2242968"/>
            <a:ext cx="82296"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691201" y="2238396"/>
            <a:ext cx="82296" cy="64008"/>
          </a:xfrm>
          <a:prstGeom prst="rect">
            <a:avLst/>
          </a:prstGeom>
          <a:noFill/>
        </p:spPr>
        <p:txBody>
          <a:bodyPr wrap="square">
            <a:spAutoFit/>
          </a:bodyPr>
          <a:lstStyle/>
          <a:p>
            <a:pPr algn="ctr"/>
            <a:r>
              <a:rPr sz="280" b="1" i="0">
                <a:solidFill>
                  <a:srgbClr val="FFFFFF"/>
                </a:solidFill>
              </a:rPr>
              <a:t>1</a:t>
            </a:r>
          </a:p>
        </p:txBody>
      </p:sp>
      <p:sp>
        <p:nvSpPr>
          <p:cNvPr id="54" name="Rectangle 53"/>
          <p:cNvSpPr/>
          <p:nvPr/>
        </p:nvSpPr>
        <p:spPr>
          <a:xfrm>
            <a:off x="7791785" y="2233824"/>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56852" y="2308104"/>
            <a:ext cx="495202" cy="408542"/>
          </a:xfrm>
          <a:prstGeom prst="rect">
            <a:avLst/>
          </a:prstGeom>
          <a:noFill/>
        </p:spPr>
        <p:txBody>
          <a:bodyPr wrap="square">
            <a:spAutoFit/>
          </a:bodyPr>
          <a:lstStyle/>
          <a:p>
            <a:pPr algn="ctr"/>
            <a:r>
              <a:rPr sz="800" b="1" i="0">
                <a:solidFill>
                  <a:srgbClr val="C9A84C"/>
                </a:solidFill>
              </a:rPr>
              <a:t>C</a:t>
            </a:r>
          </a:p>
        </p:txBody>
      </p:sp>
      <p:sp>
        <p:nvSpPr>
          <p:cNvPr id="56" name="TextBox 55"/>
          <p:cNvSpPr txBox="1"/>
          <p:nvPr/>
        </p:nvSpPr>
        <p:spPr>
          <a:xfrm>
            <a:off x="7800929" y="2738930"/>
            <a:ext cx="807049" cy="207985"/>
          </a:xfrm>
          <a:prstGeom prst="rect">
            <a:avLst/>
          </a:prstGeom>
          <a:noFill/>
        </p:spPr>
        <p:txBody>
          <a:bodyPr wrap="square">
            <a:spAutoFit/>
          </a:bodyPr>
          <a:lstStyle/>
          <a:p>
            <a:pPr algn="ctr"/>
            <a:r>
              <a:rPr sz="320" b="0" i="0">
                <a:solidFill>
                  <a:srgbClr val="9CA3AF"/>
                </a:solidFill>
              </a:rPr>
              <a:t>Courts</a:t>
            </a:r>
          </a:p>
        </p:txBody>
      </p:sp>
      <p:sp>
        <p:nvSpPr>
          <p:cNvPr id="57" name="Rectangle 56"/>
          <p:cNvSpPr/>
          <p:nvPr/>
        </p:nvSpPr>
        <p:spPr>
          <a:xfrm>
            <a:off x="8626266" y="2233824"/>
            <a:ext cx="825337" cy="742803"/>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791334" y="2308104"/>
            <a:ext cx="495202" cy="408542"/>
          </a:xfrm>
          <a:prstGeom prst="rect">
            <a:avLst/>
          </a:prstGeom>
          <a:noFill/>
        </p:spPr>
        <p:txBody>
          <a:bodyPr wrap="square">
            <a:spAutoFit/>
          </a:bodyPr>
          <a:lstStyle/>
          <a:p>
            <a:pPr algn="ctr"/>
            <a:r>
              <a:rPr sz="800" b="1" i="0">
                <a:solidFill>
                  <a:srgbClr val="C9A84C"/>
                </a:solidFill>
              </a:rPr>
              <a:t>M</a:t>
            </a:r>
          </a:p>
        </p:txBody>
      </p:sp>
      <p:sp>
        <p:nvSpPr>
          <p:cNvPr id="59" name="TextBox 58"/>
          <p:cNvSpPr txBox="1"/>
          <p:nvPr/>
        </p:nvSpPr>
        <p:spPr>
          <a:xfrm>
            <a:off x="8635410" y="2738930"/>
            <a:ext cx="807049" cy="207985"/>
          </a:xfrm>
          <a:prstGeom prst="rect">
            <a:avLst/>
          </a:prstGeom>
          <a:noFill/>
        </p:spPr>
        <p:txBody>
          <a:bodyPr wrap="square">
            <a:spAutoFit/>
          </a:bodyPr>
          <a:lstStyle/>
          <a:p>
            <a:pPr algn="ctr"/>
            <a:r>
              <a:rPr sz="320" b="0" i="0">
                <a:solidFill>
                  <a:srgbClr val="9CA3AF"/>
                </a:solidFill>
              </a:rPr>
              <a:t>MasonMrt</a:t>
            </a:r>
          </a:p>
        </p:txBody>
      </p:sp>
      <p:sp>
        <p:nvSpPr>
          <p:cNvPr id="60" name="Rectangle 59"/>
          <p:cNvSpPr/>
          <p:nvPr/>
        </p:nvSpPr>
        <p:spPr>
          <a:xfrm>
            <a:off x="9360164" y="2242968"/>
            <a:ext cx="82296" cy="6400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360164" y="2238396"/>
            <a:ext cx="82296" cy="64008"/>
          </a:xfrm>
          <a:prstGeom prst="rect">
            <a:avLst/>
          </a:prstGeom>
          <a:noFill/>
        </p:spPr>
        <p:txBody>
          <a:bodyPr wrap="square">
            <a:spAutoFit/>
          </a:bodyPr>
          <a:lstStyle/>
          <a:p>
            <a:pPr algn="ctr"/>
            <a:r>
              <a:rPr sz="280" b="1" i="0">
                <a:solidFill>
                  <a:srgbClr val="FFFFFF"/>
                </a:solidFill>
              </a:rPr>
              <a:t>3</a:t>
            </a:r>
          </a:p>
        </p:txBody>
      </p:sp>
      <p:sp>
        <p:nvSpPr>
          <p:cNvPr id="62" name="TextBox 61"/>
          <p:cNvSpPr txBox="1"/>
          <p:nvPr/>
        </p:nvSpPr>
        <p:spPr>
          <a:xfrm>
            <a:off x="6993879" y="3040636"/>
            <a:ext cx="2444008" cy="91440"/>
          </a:xfrm>
          <a:prstGeom prst="rect">
            <a:avLst/>
          </a:prstGeom>
          <a:noFill/>
        </p:spPr>
        <p:txBody>
          <a:bodyPr wrap="square">
            <a:spAutoFit/>
          </a:bodyPr>
          <a:lstStyle/>
          <a:p>
            <a:pPr algn="l"/>
            <a:r>
              <a:rPr sz="380" b="0" i="0">
                <a:solidFill>
                  <a:srgbClr val="9CA3AF"/>
                </a:solidFill>
              </a:rPr>
              <a:t>MY ACTIVE BIDS</a:t>
            </a:r>
          </a:p>
        </p:txBody>
      </p:sp>
      <p:sp>
        <p:nvSpPr>
          <p:cNvPr id="63" name="Rectangle 62"/>
          <p:cNvSpPr/>
          <p:nvPr/>
        </p:nvSpPr>
        <p:spPr>
          <a:xfrm>
            <a:off x="6957303" y="3132076"/>
            <a:ext cx="2498872" cy="135331"/>
          </a:xfrm>
          <a:prstGeom prst="rect">
            <a:avLst/>
          </a:prstGeom>
          <a:solidFill>
            <a:srgbClr val="18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993879" y="3159508"/>
            <a:ext cx="1374379" cy="82296"/>
          </a:xfrm>
          <a:prstGeom prst="rect">
            <a:avLst/>
          </a:prstGeom>
          <a:noFill/>
        </p:spPr>
        <p:txBody>
          <a:bodyPr wrap="square">
            <a:spAutoFit/>
          </a:bodyPr>
          <a:lstStyle/>
          <a:p>
            <a:pPr algn="l"/>
            <a:r>
              <a:rPr sz="380" b="0" i="0">
                <a:solidFill>
                  <a:srgbClr val="FFFFFF"/>
                </a:solidFill>
              </a:rPr>
              <a:t>32" Smart TV</a:t>
            </a:r>
          </a:p>
        </p:txBody>
      </p:sp>
      <p:sp>
        <p:nvSpPr>
          <p:cNvPr id="65" name="TextBox 64"/>
          <p:cNvSpPr txBox="1"/>
          <p:nvPr/>
        </p:nvSpPr>
        <p:spPr>
          <a:xfrm>
            <a:off x="8406649" y="3159508"/>
            <a:ext cx="999548" cy="82296"/>
          </a:xfrm>
          <a:prstGeom prst="rect">
            <a:avLst/>
          </a:prstGeom>
          <a:noFill/>
        </p:spPr>
        <p:txBody>
          <a:bodyPr wrap="square">
            <a:spAutoFit/>
          </a:bodyPr>
          <a:lstStyle/>
          <a:p>
            <a:pPr algn="r"/>
            <a:r>
              <a:rPr sz="450" b="1" i="0">
                <a:solidFill>
                  <a:srgbClr val="C9A84C"/>
                </a:solidFill>
              </a:rPr>
              <a:t>$215</a:t>
            </a:r>
          </a:p>
        </p:txBody>
      </p:sp>
      <p:sp>
        <p:nvSpPr>
          <p:cNvPr id="66" name="Rectangle 65"/>
          <p:cNvSpPr/>
          <p:nvPr/>
        </p:nvSpPr>
        <p:spPr>
          <a:xfrm>
            <a:off x="9437888" y="3132076"/>
            <a:ext cx="18288" cy="135331"/>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957303" y="3267407"/>
            <a:ext cx="249887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957303" y="3273808"/>
            <a:ext cx="2498872" cy="135331"/>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993879" y="3301240"/>
            <a:ext cx="1374379" cy="82296"/>
          </a:xfrm>
          <a:prstGeom prst="rect">
            <a:avLst/>
          </a:prstGeom>
          <a:noFill/>
        </p:spPr>
        <p:txBody>
          <a:bodyPr wrap="square">
            <a:spAutoFit/>
          </a:bodyPr>
          <a:lstStyle/>
          <a:p>
            <a:pPr algn="l"/>
            <a:r>
              <a:rPr sz="380" b="0" i="0">
                <a:solidFill>
                  <a:srgbClr val="9CA3AF"/>
                </a:solidFill>
              </a:rPr>
              <a:t>Gas BBQ Grill</a:t>
            </a:r>
          </a:p>
        </p:txBody>
      </p:sp>
      <p:sp>
        <p:nvSpPr>
          <p:cNvPr id="70" name="TextBox 69"/>
          <p:cNvSpPr txBox="1"/>
          <p:nvPr/>
        </p:nvSpPr>
        <p:spPr>
          <a:xfrm>
            <a:off x="8406649" y="3301240"/>
            <a:ext cx="999548" cy="82296"/>
          </a:xfrm>
          <a:prstGeom prst="rect">
            <a:avLst/>
          </a:prstGeom>
          <a:noFill/>
        </p:spPr>
        <p:txBody>
          <a:bodyPr wrap="square">
            <a:spAutoFit/>
          </a:bodyPr>
          <a:lstStyle/>
          <a:p>
            <a:pPr algn="r"/>
            <a:r>
              <a:rPr sz="450" b="1" i="0">
                <a:solidFill>
                  <a:srgbClr val="C9A84C"/>
                </a:solidFill>
              </a:rPr>
              <a:t>$88</a:t>
            </a:r>
          </a:p>
        </p:txBody>
      </p:sp>
      <p:sp>
        <p:nvSpPr>
          <p:cNvPr id="71" name="Rectangle 70"/>
          <p:cNvSpPr/>
          <p:nvPr/>
        </p:nvSpPr>
        <p:spPr>
          <a:xfrm>
            <a:off x="6957303" y="3409139"/>
            <a:ext cx="249887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492240" y="2670048"/>
            <a:ext cx="274320" cy="365760"/>
          </a:xfrm>
          <a:prstGeom prst="rect">
            <a:avLst/>
          </a:prstGeom>
          <a:noFill/>
        </p:spPr>
        <p:txBody>
          <a:bodyPr wrap="square">
            <a:spAutoFit/>
          </a:bodyPr>
          <a:lstStyle/>
          <a:p>
            <a:pPr algn="l"/>
            <a:r>
              <a:rPr sz="1400" b="1" i="0">
                <a:solidFill>
                  <a:srgbClr val="C9A84C"/>
                </a:solidFill>
              </a:rPr>
              <a:t>→</a:t>
            </a:r>
          </a:p>
        </p:txBody>
      </p:sp>
      <p:sp>
        <p:nvSpPr>
          <p:cNvPr id="73" name="TextBox 72"/>
          <p:cNvSpPr txBox="1"/>
          <p:nvPr/>
        </p:nvSpPr>
        <p:spPr>
          <a:xfrm>
            <a:off x="6492240" y="3310128"/>
            <a:ext cx="274320" cy="365760"/>
          </a:xfrm>
          <a:prstGeom prst="rect">
            <a:avLst/>
          </a:prstGeom>
          <a:noFill/>
        </p:spPr>
        <p:txBody>
          <a:bodyPr wrap="square">
            <a:spAutoFit/>
          </a:bodyPr>
          <a:lstStyle/>
          <a:p>
            <a:pPr algn="l"/>
            <a:r>
              <a:rPr sz="1400" b="1" i="0">
                <a:solidFill>
                  <a:srgbClr val="C9A84C"/>
                </a:solidFill>
              </a:rPr>
              <a:t>→</a:t>
            </a:r>
          </a:p>
        </p:txBody>
      </p:sp>
      <p:sp>
        <p:nvSpPr>
          <p:cNvPr id="74" name="TextBox 73"/>
          <p:cNvSpPr txBox="1"/>
          <p:nvPr/>
        </p:nvSpPr>
        <p:spPr>
          <a:xfrm>
            <a:off x="6492240" y="3950208"/>
            <a:ext cx="274320" cy="365760"/>
          </a:xfrm>
          <a:prstGeom prst="rect">
            <a:avLst/>
          </a:prstGeom>
          <a:noFill/>
        </p:spPr>
        <p:txBody>
          <a:bodyPr wrap="square">
            <a:spAutoFit/>
          </a:bodyPr>
          <a:lstStyle/>
          <a:p>
            <a:pPr algn="l"/>
            <a:r>
              <a:rPr sz="1400" b="1" i="0">
                <a:solidFill>
                  <a:srgbClr val="C9A84C"/>
                </a:solidFill>
              </a:rPr>
              <a:t>→</a:t>
            </a:r>
          </a:p>
        </p:txBody>
      </p:sp>
      <p:sp>
        <p:nvSpPr>
          <p:cNvPr id="75" name="TextBox 74"/>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5 / 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THE BIDDING EXPERIENCE</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How Customers Bid — Simple, Fast, Addictive</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Three taps and your customer is competing live. The simplicity is what drives repeat engagement.</a:t>
            </a:r>
          </a:p>
        </p:txBody>
      </p:sp>
      <p:sp>
        <p:nvSpPr>
          <p:cNvPr id="7" name="Rectangle 6"/>
          <p:cNvSpPr/>
          <p:nvPr/>
        </p:nvSpPr>
        <p:spPr>
          <a:xfrm>
            <a:off x="365760" y="2331720"/>
            <a:ext cx="384048" cy="3840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2368296"/>
            <a:ext cx="384048" cy="320040"/>
          </a:xfrm>
          <a:prstGeom prst="rect">
            <a:avLst/>
          </a:prstGeom>
          <a:noFill/>
        </p:spPr>
        <p:txBody>
          <a:bodyPr wrap="square">
            <a:spAutoFit/>
          </a:bodyPr>
          <a:lstStyle/>
          <a:p>
            <a:pPr algn="ctr"/>
            <a:r>
              <a:rPr sz="1600" b="1" i="0">
                <a:solidFill>
                  <a:srgbClr val="C9A84C"/>
                </a:solidFill>
              </a:rPr>
              <a:t>1</a:t>
            </a:r>
          </a:p>
        </p:txBody>
      </p:sp>
      <p:sp>
        <p:nvSpPr>
          <p:cNvPr id="9" name="TextBox 8"/>
          <p:cNvSpPr txBox="1"/>
          <p:nvPr/>
        </p:nvSpPr>
        <p:spPr>
          <a:xfrm>
            <a:off x="841248" y="2340863"/>
            <a:ext cx="3566160" cy="256032"/>
          </a:xfrm>
          <a:prstGeom prst="rect">
            <a:avLst/>
          </a:prstGeom>
          <a:noFill/>
        </p:spPr>
        <p:txBody>
          <a:bodyPr wrap="square">
            <a:spAutoFit/>
          </a:bodyPr>
          <a:lstStyle/>
          <a:p>
            <a:pPr algn="l"/>
            <a:r>
              <a:rPr sz="1200" b="1" i="0">
                <a:solidFill>
                  <a:srgbClr val="0A0A0A"/>
                </a:solidFill>
              </a:rPr>
              <a:t>Open BiziBid</a:t>
            </a:r>
          </a:p>
        </p:txBody>
      </p:sp>
      <p:sp>
        <p:nvSpPr>
          <p:cNvPr id="10" name="TextBox 9"/>
          <p:cNvSpPr txBox="1"/>
          <p:nvPr/>
        </p:nvSpPr>
        <p:spPr>
          <a:xfrm>
            <a:off x="841248" y="2606039"/>
            <a:ext cx="3566160" cy="548640"/>
          </a:xfrm>
          <a:prstGeom prst="rect">
            <a:avLst/>
          </a:prstGeom>
          <a:noFill/>
        </p:spPr>
        <p:txBody>
          <a:bodyPr wrap="square">
            <a:spAutoFit/>
          </a:bodyPr>
          <a:lstStyle/>
          <a:p>
            <a:pPr algn="l"/>
            <a:r>
              <a:rPr sz="1000" b="0" i="0">
                <a:solidFill>
                  <a:srgbClr val="4B5563"/>
                </a:solidFill>
              </a:rPr>
              <a:t>Customer opens the app and sees your store on the home screen with an active bid badge.</a:t>
            </a:r>
          </a:p>
        </p:txBody>
      </p:sp>
      <p:sp>
        <p:nvSpPr>
          <p:cNvPr id="11" name="Rectangle 10"/>
          <p:cNvSpPr/>
          <p:nvPr/>
        </p:nvSpPr>
        <p:spPr>
          <a:xfrm>
            <a:off x="365760" y="3218687"/>
            <a:ext cx="384048" cy="3840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3255263"/>
            <a:ext cx="384048" cy="320040"/>
          </a:xfrm>
          <a:prstGeom prst="rect">
            <a:avLst/>
          </a:prstGeom>
          <a:noFill/>
        </p:spPr>
        <p:txBody>
          <a:bodyPr wrap="square">
            <a:spAutoFit/>
          </a:bodyPr>
          <a:lstStyle/>
          <a:p>
            <a:pPr algn="ctr"/>
            <a:r>
              <a:rPr sz="1600" b="1" i="0">
                <a:solidFill>
                  <a:srgbClr val="C9A84C"/>
                </a:solidFill>
              </a:rPr>
              <a:t>2</a:t>
            </a:r>
          </a:p>
        </p:txBody>
      </p:sp>
      <p:sp>
        <p:nvSpPr>
          <p:cNvPr id="13" name="TextBox 12"/>
          <p:cNvSpPr txBox="1"/>
          <p:nvPr/>
        </p:nvSpPr>
        <p:spPr>
          <a:xfrm>
            <a:off x="841248" y="3227831"/>
            <a:ext cx="3566160" cy="256032"/>
          </a:xfrm>
          <a:prstGeom prst="rect">
            <a:avLst/>
          </a:prstGeom>
          <a:noFill/>
        </p:spPr>
        <p:txBody>
          <a:bodyPr wrap="square">
            <a:spAutoFit/>
          </a:bodyPr>
          <a:lstStyle/>
          <a:p>
            <a:pPr algn="l"/>
            <a:r>
              <a:rPr sz="1200" b="1" i="0">
                <a:solidFill>
                  <a:srgbClr val="0A0A0A"/>
                </a:solidFill>
              </a:rPr>
              <a:t>Tap Your Store</a:t>
            </a:r>
          </a:p>
        </p:txBody>
      </p:sp>
      <p:sp>
        <p:nvSpPr>
          <p:cNvPr id="14" name="TextBox 13"/>
          <p:cNvSpPr txBox="1"/>
          <p:nvPr/>
        </p:nvSpPr>
        <p:spPr>
          <a:xfrm>
            <a:off x="841248" y="3493007"/>
            <a:ext cx="3566160" cy="548640"/>
          </a:xfrm>
          <a:prstGeom prst="rect">
            <a:avLst/>
          </a:prstGeom>
          <a:noFill/>
        </p:spPr>
        <p:txBody>
          <a:bodyPr wrap="square">
            <a:spAutoFit/>
          </a:bodyPr>
          <a:lstStyle/>
          <a:p>
            <a:pPr algn="l"/>
            <a:r>
              <a:rPr sz="1000" b="0" i="0">
                <a:solidFill>
                  <a:srgbClr val="4B5563"/>
                </a:solidFill>
              </a:rPr>
              <a:t>One tap opens your auction listing — product image, description, current bid price, and live countdown.</a:t>
            </a:r>
          </a:p>
        </p:txBody>
      </p:sp>
      <p:sp>
        <p:nvSpPr>
          <p:cNvPr id="15" name="Rectangle 14"/>
          <p:cNvSpPr/>
          <p:nvPr/>
        </p:nvSpPr>
        <p:spPr>
          <a:xfrm>
            <a:off x="365760" y="4105656"/>
            <a:ext cx="384048" cy="3840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4142232"/>
            <a:ext cx="384048" cy="320040"/>
          </a:xfrm>
          <a:prstGeom prst="rect">
            <a:avLst/>
          </a:prstGeom>
          <a:noFill/>
        </p:spPr>
        <p:txBody>
          <a:bodyPr wrap="square">
            <a:spAutoFit/>
          </a:bodyPr>
          <a:lstStyle/>
          <a:p>
            <a:pPr algn="ctr"/>
            <a:r>
              <a:rPr sz="1600" b="1" i="0">
                <a:solidFill>
                  <a:srgbClr val="C9A84C"/>
                </a:solidFill>
              </a:rPr>
              <a:t>3</a:t>
            </a:r>
          </a:p>
        </p:txBody>
      </p:sp>
      <p:sp>
        <p:nvSpPr>
          <p:cNvPr id="17" name="TextBox 16"/>
          <p:cNvSpPr txBox="1"/>
          <p:nvPr/>
        </p:nvSpPr>
        <p:spPr>
          <a:xfrm>
            <a:off x="841248" y="4114800"/>
            <a:ext cx="3566160" cy="256032"/>
          </a:xfrm>
          <a:prstGeom prst="rect">
            <a:avLst/>
          </a:prstGeom>
          <a:noFill/>
        </p:spPr>
        <p:txBody>
          <a:bodyPr wrap="square">
            <a:spAutoFit/>
          </a:bodyPr>
          <a:lstStyle/>
          <a:p>
            <a:pPr algn="l"/>
            <a:r>
              <a:rPr sz="1200" b="1" i="0">
                <a:solidFill>
                  <a:srgbClr val="0A0A0A"/>
                </a:solidFill>
              </a:rPr>
              <a:t>Tap BID NOW</a:t>
            </a:r>
          </a:p>
        </p:txBody>
      </p:sp>
      <p:sp>
        <p:nvSpPr>
          <p:cNvPr id="18" name="TextBox 17"/>
          <p:cNvSpPr txBox="1"/>
          <p:nvPr/>
        </p:nvSpPr>
        <p:spPr>
          <a:xfrm>
            <a:off x="841248" y="4379976"/>
            <a:ext cx="3566160" cy="548640"/>
          </a:xfrm>
          <a:prstGeom prst="rect">
            <a:avLst/>
          </a:prstGeom>
          <a:noFill/>
        </p:spPr>
        <p:txBody>
          <a:bodyPr wrap="square">
            <a:spAutoFit/>
          </a:bodyPr>
          <a:lstStyle/>
          <a:p>
            <a:pPr algn="l"/>
            <a:r>
              <a:rPr sz="1000" b="0" i="0">
                <a:solidFill>
                  <a:srgbClr val="4B5563"/>
                </a:solidFill>
              </a:rPr>
              <a:t>A single tap places their bid. They are instantly in the lead. No forms, no complicated process.</a:t>
            </a:r>
          </a:p>
        </p:txBody>
      </p:sp>
      <p:sp>
        <p:nvSpPr>
          <p:cNvPr id="19" name="Rectangle 18"/>
          <p:cNvSpPr/>
          <p:nvPr/>
        </p:nvSpPr>
        <p:spPr>
          <a:xfrm>
            <a:off x="365760" y="4992624"/>
            <a:ext cx="384048" cy="3840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 y="5029200"/>
            <a:ext cx="384048" cy="320040"/>
          </a:xfrm>
          <a:prstGeom prst="rect">
            <a:avLst/>
          </a:prstGeom>
          <a:noFill/>
        </p:spPr>
        <p:txBody>
          <a:bodyPr wrap="square">
            <a:spAutoFit/>
          </a:bodyPr>
          <a:lstStyle/>
          <a:p>
            <a:pPr algn="ctr"/>
            <a:r>
              <a:rPr sz="1600" b="1" i="0">
                <a:solidFill>
                  <a:srgbClr val="C9A84C"/>
                </a:solidFill>
              </a:rPr>
              <a:t>4</a:t>
            </a:r>
          </a:p>
        </p:txBody>
      </p:sp>
      <p:sp>
        <p:nvSpPr>
          <p:cNvPr id="21" name="TextBox 20"/>
          <p:cNvSpPr txBox="1"/>
          <p:nvPr/>
        </p:nvSpPr>
        <p:spPr>
          <a:xfrm>
            <a:off x="841248" y="5001768"/>
            <a:ext cx="3566160" cy="256032"/>
          </a:xfrm>
          <a:prstGeom prst="rect">
            <a:avLst/>
          </a:prstGeom>
          <a:noFill/>
        </p:spPr>
        <p:txBody>
          <a:bodyPr wrap="square">
            <a:spAutoFit/>
          </a:bodyPr>
          <a:lstStyle/>
          <a:p>
            <a:pPr algn="l"/>
            <a:r>
              <a:rPr sz="1200" b="1" i="0">
                <a:solidFill>
                  <a:srgbClr val="0A0A0A"/>
                </a:solidFill>
              </a:rPr>
              <a:t>Outbid Alert Fires</a:t>
            </a:r>
          </a:p>
        </p:txBody>
      </p:sp>
      <p:sp>
        <p:nvSpPr>
          <p:cNvPr id="22" name="TextBox 21"/>
          <p:cNvSpPr txBox="1"/>
          <p:nvPr/>
        </p:nvSpPr>
        <p:spPr>
          <a:xfrm>
            <a:off x="841248" y="5266944"/>
            <a:ext cx="3566160" cy="548640"/>
          </a:xfrm>
          <a:prstGeom prst="rect">
            <a:avLst/>
          </a:prstGeom>
          <a:noFill/>
        </p:spPr>
        <p:txBody>
          <a:bodyPr wrap="square">
            <a:spAutoFit/>
          </a:bodyPr>
          <a:lstStyle/>
          <a:p>
            <a:pPr algn="l"/>
            <a:r>
              <a:rPr sz="1000" b="0" i="0">
                <a:solidFill>
                  <a:srgbClr val="4B5563"/>
                </a:solidFill>
              </a:rPr>
              <a:t>If outbid, a push notification arrives immediately on their phone bringing them straight back.</a:t>
            </a:r>
          </a:p>
        </p:txBody>
      </p:sp>
      <p:sp>
        <p:nvSpPr>
          <p:cNvPr id="23" name="Rectangle 22"/>
          <p:cNvSpPr/>
          <p:nvPr/>
        </p:nvSpPr>
        <p:spPr>
          <a:xfrm>
            <a:off x="365760" y="5879592"/>
            <a:ext cx="384048" cy="3840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5916168"/>
            <a:ext cx="384048" cy="320040"/>
          </a:xfrm>
          <a:prstGeom prst="rect">
            <a:avLst/>
          </a:prstGeom>
          <a:noFill/>
        </p:spPr>
        <p:txBody>
          <a:bodyPr wrap="square">
            <a:spAutoFit/>
          </a:bodyPr>
          <a:lstStyle/>
          <a:p>
            <a:pPr algn="ctr"/>
            <a:r>
              <a:rPr sz="1600" b="1" i="0">
                <a:solidFill>
                  <a:srgbClr val="C9A84C"/>
                </a:solidFill>
              </a:rPr>
              <a:t>5</a:t>
            </a:r>
          </a:p>
        </p:txBody>
      </p:sp>
      <p:sp>
        <p:nvSpPr>
          <p:cNvPr id="25" name="TextBox 24"/>
          <p:cNvSpPr txBox="1"/>
          <p:nvPr/>
        </p:nvSpPr>
        <p:spPr>
          <a:xfrm>
            <a:off x="841248" y="5888736"/>
            <a:ext cx="3566160" cy="256032"/>
          </a:xfrm>
          <a:prstGeom prst="rect">
            <a:avLst/>
          </a:prstGeom>
          <a:noFill/>
        </p:spPr>
        <p:txBody>
          <a:bodyPr wrap="square">
            <a:spAutoFit/>
          </a:bodyPr>
          <a:lstStyle/>
          <a:p>
            <a:pPr algn="l"/>
            <a:r>
              <a:rPr sz="1200" b="1" i="0">
                <a:solidFill>
                  <a:srgbClr val="0A0A0A"/>
                </a:solidFill>
              </a:rPr>
              <a:t>Win &amp; Collect</a:t>
            </a:r>
          </a:p>
        </p:txBody>
      </p:sp>
      <p:sp>
        <p:nvSpPr>
          <p:cNvPr id="26" name="TextBox 25"/>
          <p:cNvSpPr txBox="1"/>
          <p:nvPr/>
        </p:nvSpPr>
        <p:spPr>
          <a:xfrm>
            <a:off x="841248" y="6153912"/>
            <a:ext cx="3566160" cy="548640"/>
          </a:xfrm>
          <a:prstGeom prst="rect">
            <a:avLst/>
          </a:prstGeom>
          <a:noFill/>
        </p:spPr>
        <p:txBody>
          <a:bodyPr wrap="square">
            <a:spAutoFit/>
          </a:bodyPr>
          <a:lstStyle/>
          <a:p>
            <a:pPr algn="l"/>
            <a:r>
              <a:rPr sz="1000" b="0" i="0">
                <a:solidFill>
                  <a:srgbClr val="4B5563"/>
                </a:solidFill>
              </a:rPr>
              <a:t>Auction closes, winner receives a unique collection code. They bring it to your store and collect their item.</a:t>
            </a:r>
          </a:p>
        </p:txBody>
      </p:sp>
      <p:sp>
        <p:nvSpPr>
          <p:cNvPr id="27" name="Rectangle 26"/>
          <p:cNvSpPr/>
          <p:nvPr/>
        </p:nvSpPr>
        <p:spPr>
          <a:xfrm>
            <a:off x="4462272" y="2331720"/>
            <a:ext cx="4572000" cy="44074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462272" y="2331720"/>
            <a:ext cx="54864" cy="44074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17720" y="2423160"/>
            <a:ext cx="4251960" cy="502920"/>
          </a:xfrm>
          <a:prstGeom prst="rect">
            <a:avLst/>
          </a:prstGeom>
          <a:noFill/>
        </p:spPr>
        <p:txBody>
          <a:bodyPr wrap="square">
            <a:spAutoFit/>
          </a:bodyPr>
          <a:lstStyle/>
          <a:p>
            <a:pPr algn="l"/>
            <a:r>
              <a:rPr sz="1100" b="0" i="1">
                <a:solidFill>
                  <a:srgbClr val="4B5563"/>
                </a:solidFill>
              </a:rPr>
              <a:t>Bidding is designed to feel like a game — customers come back to defend their position.</a:t>
            </a:r>
          </a:p>
        </p:txBody>
      </p:sp>
      <p:sp>
        <p:nvSpPr>
          <p:cNvPr id="30" name="TextBox 29"/>
          <p:cNvSpPr txBox="1"/>
          <p:nvPr/>
        </p:nvSpPr>
        <p:spPr>
          <a:xfrm>
            <a:off x="4617720" y="2971800"/>
            <a:ext cx="4251960" cy="502920"/>
          </a:xfrm>
          <a:prstGeom prst="rect">
            <a:avLst/>
          </a:prstGeom>
          <a:noFill/>
        </p:spPr>
        <p:txBody>
          <a:bodyPr wrap="square">
            <a:spAutoFit/>
          </a:bodyPr>
          <a:lstStyle/>
          <a:p>
            <a:pPr algn="l"/>
            <a:r>
              <a:rPr sz="1100" b="0" i="1">
                <a:solidFill>
                  <a:srgbClr val="4B5563"/>
                </a:solidFill>
              </a:rPr>
              <a:t>No credit card needed. No online payment. Winners collect and pay cash in your store.</a:t>
            </a:r>
          </a:p>
        </p:txBody>
      </p:sp>
      <p:sp>
        <p:nvSpPr>
          <p:cNvPr id="31" name="TextBox 30"/>
          <p:cNvSpPr txBox="1"/>
          <p:nvPr/>
        </p:nvSpPr>
        <p:spPr>
          <a:xfrm>
            <a:off x="4617720" y="3520440"/>
            <a:ext cx="4251960" cy="502920"/>
          </a:xfrm>
          <a:prstGeom prst="rect">
            <a:avLst/>
          </a:prstGeom>
          <a:noFill/>
        </p:spPr>
        <p:txBody>
          <a:bodyPr wrap="square">
            <a:spAutoFit/>
          </a:bodyPr>
          <a:lstStyle/>
          <a:p>
            <a:pPr algn="l"/>
            <a:r>
              <a:rPr sz="1100" b="0" i="1">
                <a:solidFill>
                  <a:srgbClr val="4B5563"/>
                </a:solidFill>
              </a:rPr>
              <a:t>Every bid placed is a moment your store name is top-of-mind for that customer.</a:t>
            </a:r>
          </a:p>
        </p:txBody>
      </p:sp>
      <p:sp>
        <p:nvSpPr>
          <p:cNvPr id="32" name="TextBox 31"/>
          <p:cNvSpPr txBox="1"/>
          <p:nvPr/>
        </p:nvSpPr>
        <p:spPr>
          <a:xfrm>
            <a:off x="4617720" y="4069080"/>
            <a:ext cx="4251960" cy="502920"/>
          </a:xfrm>
          <a:prstGeom prst="rect">
            <a:avLst/>
          </a:prstGeom>
          <a:noFill/>
        </p:spPr>
        <p:txBody>
          <a:bodyPr wrap="square">
            <a:spAutoFit/>
          </a:bodyPr>
          <a:lstStyle/>
          <a:p>
            <a:pPr algn="l"/>
            <a:r>
              <a:rPr sz="1100" b="0" i="1">
                <a:solidFill>
                  <a:srgbClr val="4B5563"/>
                </a:solidFill>
              </a:rPr>
              <a:t>Auctions run even while your store is closed — you wake up to completed sales.</a:t>
            </a:r>
          </a:p>
        </p:txBody>
      </p:sp>
      <p:sp>
        <p:nvSpPr>
          <p:cNvPr id="33" name="TextBox 32"/>
          <p:cNvSpPr txBox="1"/>
          <p:nvPr/>
        </p:nvSpPr>
        <p:spPr>
          <a:xfrm>
            <a:off x="4617720" y="4617720"/>
            <a:ext cx="4251960" cy="502920"/>
          </a:xfrm>
          <a:prstGeom prst="rect">
            <a:avLst/>
          </a:prstGeom>
          <a:noFill/>
        </p:spPr>
        <p:txBody>
          <a:bodyPr wrap="square">
            <a:spAutoFit/>
          </a:bodyPr>
          <a:lstStyle/>
          <a:p>
            <a:pPr algn="l"/>
            <a:r>
              <a:rPr sz="1100" b="0" i="1">
                <a:solidFill>
                  <a:srgbClr val="4B5563"/>
                </a:solidFill>
              </a:rPr>
              <a:t>Multiple stores. Multiple auctions. One app. Customers manage all bids in one place.</a:t>
            </a:r>
          </a:p>
        </p:txBody>
      </p:sp>
      <p:sp>
        <p:nvSpPr>
          <p:cNvPr id="34" name="TextBox 33"/>
          <p:cNvSpPr txBox="1"/>
          <p:nvPr/>
        </p:nvSpPr>
        <p:spPr>
          <a:xfrm>
            <a:off x="4617720" y="5166360"/>
            <a:ext cx="4251960" cy="502920"/>
          </a:xfrm>
          <a:prstGeom prst="rect">
            <a:avLst/>
          </a:prstGeom>
          <a:noFill/>
        </p:spPr>
        <p:txBody>
          <a:bodyPr wrap="square">
            <a:spAutoFit/>
          </a:bodyPr>
          <a:lstStyle/>
          <a:p>
            <a:pPr algn="l"/>
            <a:r>
              <a:rPr sz="1100" b="0" i="1">
                <a:solidFill>
                  <a:srgbClr val="4B5563"/>
                </a:solidFill>
              </a:rPr>
              <a:t>Each auction winner is stored in your portal with their name and collection code.</a:t>
            </a:r>
          </a:p>
        </p:txBody>
      </p:sp>
      <p:sp>
        <p:nvSpPr>
          <p:cNvPr id="35" name="Rectangle 34"/>
          <p:cNvSpPr/>
          <p:nvPr/>
        </p:nvSpPr>
        <p:spPr>
          <a:xfrm>
            <a:off x="9464040" y="1188720"/>
            <a:ext cx="2304288" cy="4792919"/>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83862" y="1400714"/>
            <a:ext cx="2064642" cy="4391972"/>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327134" y="1248078"/>
            <a:ext cx="578099" cy="4663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368426" y="5917395"/>
            <a:ext cx="495514" cy="26453"/>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583862" y="1400714"/>
            <a:ext cx="2064642" cy="439197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83862" y="1400714"/>
            <a:ext cx="2064642"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20438" y="1405286"/>
            <a:ext cx="619392" cy="96012"/>
          </a:xfrm>
          <a:prstGeom prst="rect">
            <a:avLst/>
          </a:prstGeom>
          <a:noFill/>
        </p:spPr>
        <p:txBody>
          <a:bodyPr wrap="square">
            <a:spAutoFit/>
          </a:bodyPr>
          <a:lstStyle/>
          <a:p>
            <a:pPr algn="l"/>
            <a:r>
              <a:rPr sz="450" b="1" i="0">
                <a:solidFill>
                  <a:srgbClr val="FFFFFF"/>
                </a:solidFill>
              </a:rPr>
              <a:t>9:41</a:t>
            </a:r>
          </a:p>
        </p:txBody>
      </p:sp>
      <p:sp>
        <p:nvSpPr>
          <p:cNvPr id="42" name="TextBox 41"/>
          <p:cNvSpPr txBox="1"/>
          <p:nvPr/>
        </p:nvSpPr>
        <p:spPr>
          <a:xfrm>
            <a:off x="10719416" y="1405286"/>
            <a:ext cx="887796" cy="96012"/>
          </a:xfrm>
          <a:prstGeom prst="rect">
            <a:avLst/>
          </a:prstGeom>
          <a:noFill/>
        </p:spPr>
        <p:txBody>
          <a:bodyPr wrap="square">
            <a:spAutoFit/>
          </a:bodyPr>
          <a:lstStyle/>
          <a:p>
            <a:pPr algn="r"/>
            <a:r>
              <a:rPr sz="400" b="0" i="0">
                <a:solidFill>
                  <a:srgbClr val="FFFFFF"/>
                </a:solidFill>
              </a:rPr>
              <a:t>|||  100%</a:t>
            </a:r>
          </a:p>
        </p:txBody>
      </p:sp>
      <p:sp>
        <p:nvSpPr>
          <p:cNvPr id="43" name="Rectangle 42"/>
          <p:cNvSpPr/>
          <p:nvPr/>
        </p:nvSpPr>
        <p:spPr>
          <a:xfrm>
            <a:off x="9583862" y="1496726"/>
            <a:ext cx="2064642"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611294" y="1533302"/>
            <a:ext cx="2009778" cy="141731"/>
          </a:xfrm>
          <a:prstGeom prst="rect">
            <a:avLst/>
          </a:prstGeom>
          <a:noFill/>
        </p:spPr>
        <p:txBody>
          <a:bodyPr wrap="square">
            <a:spAutoFit/>
          </a:bodyPr>
          <a:lstStyle/>
          <a:p>
            <a:pPr algn="ctr"/>
            <a:r>
              <a:rPr sz="650" b="1" i="0">
                <a:solidFill>
                  <a:srgbClr val="0A0A0A"/>
                </a:solidFill>
              </a:rPr>
              <a:t>Live Auction</a:t>
            </a:r>
          </a:p>
        </p:txBody>
      </p:sp>
      <p:sp>
        <p:nvSpPr>
          <p:cNvPr id="45" name="Rectangle 44"/>
          <p:cNvSpPr/>
          <p:nvPr/>
        </p:nvSpPr>
        <p:spPr>
          <a:xfrm>
            <a:off x="9583862" y="1684178"/>
            <a:ext cx="2064642" cy="594360"/>
          </a:xfrm>
          <a:prstGeom prst="rect">
            <a:avLst/>
          </a:prstGeom>
          <a:solidFill>
            <a:srgbClr val="0818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29582" y="1720754"/>
            <a:ext cx="1991490" cy="201168"/>
          </a:xfrm>
          <a:prstGeom prst="rect">
            <a:avLst/>
          </a:prstGeom>
          <a:noFill/>
        </p:spPr>
        <p:txBody>
          <a:bodyPr wrap="square">
            <a:spAutoFit/>
          </a:bodyPr>
          <a:lstStyle/>
          <a:p>
            <a:pPr algn="l"/>
            <a:r>
              <a:rPr sz="550" b="1" i="0">
                <a:solidFill>
                  <a:srgbClr val="FFFFFF"/>
                </a:solidFill>
              </a:rPr>
              <a:t>32" Smart TV — Samsung</a:t>
            </a:r>
          </a:p>
        </p:txBody>
      </p:sp>
      <p:sp>
        <p:nvSpPr>
          <p:cNvPr id="47" name="TextBox 46"/>
          <p:cNvSpPr txBox="1"/>
          <p:nvPr/>
        </p:nvSpPr>
        <p:spPr>
          <a:xfrm>
            <a:off x="9629582" y="1921922"/>
            <a:ext cx="1991490" cy="128016"/>
          </a:xfrm>
          <a:prstGeom prst="rect">
            <a:avLst/>
          </a:prstGeom>
          <a:noFill/>
        </p:spPr>
        <p:txBody>
          <a:bodyPr wrap="square">
            <a:spAutoFit/>
          </a:bodyPr>
          <a:lstStyle/>
          <a:p>
            <a:pPr algn="l"/>
            <a:r>
              <a:rPr sz="450" b="0" i="0">
                <a:solidFill>
                  <a:srgbClr val="9CA3AF"/>
                </a:solidFill>
              </a:rPr>
              <a:t>Starting bid: $150.00</a:t>
            </a:r>
          </a:p>
        </p:txBody>
      </p:sp>
      <p:sp>
        <p:nvSpPr>
          <p:cNvPr id="48" name="TextBox 47"/>
          <p:cNvSpPr txBox="1"/>
          <p:nvPr/>
        </p:nvSpPr>
        <p:spPr>
          <a:xfrm>
            <a:off x="9629582" y="2077370"/>
            <a:ext cx="1991490" cy="155448"/>
          </a:xfrm>
          <a:prstGeom prst="rect">
            <a:avLst/>
          </a:prstGeom>
          <a:noFill/>
        </p:spPr>
        <p:txBody>
          <a:bodyPr wrap="square">
            <a:spAutoFit/>
          </a:bodyPr>
          <a:lstStyle/>
          <a:p>
            <a:pPr algn="l"/>
            <a:r>
              <a:rPr sz="480" b="1" i="0">
                <a:solidFill>
                  <a:srgbClr val="DC2626"/>
                </a:solidFill>
              </a:rPr>
              <a:t>Ends in  00:04:32</a:t>
            </a:r>
          </a:p>
        </p:txBody>
      </p:sp>
      <p:sp>
        <p:nvSpPr>
          <p:cNvPr id="49" name="Rectangle 48"/>
          <p:cNvSpPr/>
          <p:nvPr/>
        </p:nvSpPr>
        <p:spPr>
          <a:xfrm>
            <a:off x="9583862" y="2278538"/>
            <a:ext cx="2064642" cy="219456"/>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20438" y="2296826"/>
            <a:ext cx="1032321" cy="82296"/>
          </a:xfrm>
          <a:prstGeom prst="rect">
            <a:avLst/>
          </a:prstGeom>
          <a:noFill/>
        </p:spPr>
        <p:txBody>
          <a:bodyPr wrap="square">
            <a:spAutoFit/>
          </a:bodyPr>
          <a:lstStyle/>
          <a:p>
            <a:pPr algn="l"/>
            <a:r>
              <a:rPr sz="380" b="0" i="0">
                <a:solidFill>
                  <a:srgbClr val="9CA3AF"/>
                </a:solidFill>
              </a:rPr>
              <a:t>CURRENT BID</a:t>
            </a:r>
          </a:p>
        </p:txBody>
      </p:sp>
      <p:sp>
        <p:nvSpPr>
          <p:cNvPr id="51" name="TextBox 50"/>
          <p:cNvSpPr txBox="1"/>
          <p:nvPr/>
        </p:nvSpPr>
        <p:spPr>
          <a:xfrm>
            <a:off x="9620438" y="2379122"/>
            <a:ext cx="1238785" cy="109728"/>
          </a:xfrm>
          <a:prstGeom prst="rect">
            <a:avLst/>
          </a:prstGeom>
          <a:noFill/>
        </p:spPr>
        <p:txBody>
          <a:bodyPr wrap="square">
            <a:spAutoFit/>
          </a:bodyPr>
          <a:lstStyle/>
          <a:p>
            <a:pPr algn="l"/>
            <a:r>
              <a:rPr sz="900" b="1" i="0">
                <a:solidFill>
                  <a:srgbClr val="C9A84C"/>
                </a:solidFill>
              </a:rPr>
              <a:t>$215.00</a:t>
            </a:r>
          </a:p>
        </p:txBody>
      </p:sp>
      <p:sp>
        <p:nvSpPr>
          <p:cNvPr id="52" name="TextBox 51"/>
          <p:cNvSpPr txBox="1"/>
          <p:nvPr/>
        </p:nvSpPr>
        <p:spPr>
          <a:xfrm>
            <a:off x="9620438" y="2534570"/>
            <a:ext cx="2009778" cy="91440"/>
          </a:xfrm>
          <a:prstGeom prst="rect">
            <a:avLst/>
          </a:prstGeom>
          <a:noFill/>
        </p:spPr>
        <p:txBody>
          <a:bodyPr wrap="square">
            <a:spAutoFit/>
          </a:bodyPr>
          <a:lstStyle/>
          <a:p>
            <a:pPr algn="l"/>
            <a:r>
              <a:rPr sz="380" b="0" i="0">
                <a:solidFill>
                  <a:srgbClr val="9CA3AF"/>
                </a:solidFill>
              </a:rPr>
              <a:t>BID HISTORY</a:t>
            </a:r>
          </a:p>
        </p:txBody>
      </p:sp>
      <p:sp>
        <p:nvSpPr>
          <p:cNvPr id="53" name="Rectangle 52"/>
          <p:cNvSpPr/>
          <p:nvPr/>
        </p:nvSpPr>
        <p:spPr>
          <a:xfrm>
            <a:off x="9583862" y="2626010"/>
            <a:ext cx="2064642" cy="135331"/>
          </a:xfrm>
          <a:prstGeom prst="rect">
            <a:avLst/>
          </a:prstGeom>
          <a:solidFill>
            <a:srgbClr val="182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620438" y="2653442"/>
            <a:ext cx="1135553" cy="82296"/>
          </a:xfrm>
          <a:prstGeom prst="rect">
            <a:avLst/>
          </a:prstGeom>
          <a:noFill/>
        </p:spPr>
        <p:txBody>
          <a:bodyPr wrap="square">
            <a:spAutoFit/>
          </a:bodyPr>
          <a:lstStyle/>
          <a:p>
            <a:pPr algn="l"/>
            <a:r>
              <a:rPr sz="380" b="0" i="0">
                <a:solidFill>
                  <a:srgbClr val="FFFFFF"/>
                </a:solidFill>
              </a:rPr>
              <a:t>j.husbands</a:t>
            </a:r>
          </a:p>
        </p:txBody>
      </p:sp>
      <p:sp>
        <p:nvSpPr>
          <p:cNvPr id="55" name="TextBox 54"/>
          <p:cNvSpPr txBox="1"/>
          <p:nvPr/>
        </p:nvSpPr>
        <p:spPr>
          <a:xfrm>
            <a:off x="10781355" y="2653442"/>
            <a:ext cx="825856" cy="82296"/>
          </a:xfrm>
          <a:prstGeom prst="rect">
            <a:avLst/>
          </a:prstGeom>
          <a:noFill/>
        </p:spPr>
        <p:txBody>
          <a:bodyPr wrap="square">
            <a:spAutoFit/>
          </a:bodyPr>
          <a:lstStyle/>
          <a:p>
            <a:pPr algn="r"/>
            <a:r>
              <a:rPr sz="450" b="1" i="0">
                <a:solidFill>
                  <a:srgbClr val="C9A84C"/>
                </a:solidFill>
              </a:rPr>
              <a:t>$215.00</a:t>
            </a:r>
          </a:p>
        </p:txBody>
      </p:sp>
      <p:sp>
        <p:nvSpPr>
          <p:cNvPr id="56" name="Rectangle 55"/>
          <p:cNvSpPr/>
          <p:nvPr/>
        </p:nvSpPr>
        <p:spPr>
          <a:xfrm>
            <a:off x="11630217" y="2626010"/>
            <a:ext cx="18288" cy="135331"/>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83862" y="2761341"/>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583862" y="2767742"/>
            <a:ext cx="2064642" cy="135331"/>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9620438" y="2795174"/>
            <a:ext cx="1135553" cy="82296"/>
          </a:xfrm>
          <a:prstGeom prst="rect">
            <a:avLst/>
          </a:prstGeom>
          <a:noFill/>
        </p:spPr>
        <p:txBody>
          <a:bodyPr wrap="square">
            <a:spAutoFit/>
          </a:bodyPr>
          <a:lstStyle/>
          <a:p>
            <a:pPr algn="l"/>
            <a:r>
              <a:rPr sz="380" b="0" i="0">
                <a:solidFill>
                  <a:srgbClr val="9CA3AF"/>
                </a:solidFill>
              </a:rPr>
              <a:t>r.alleyne</a:t>
            </a:r>
          </a:p>
        </p:txBody>
      </p:sp>
      <p:sp>
        <p:nvSpPr>
          <p:cNvPr id="60" name="TextBox 59"/>
          <p:cNvSpPr txBox="1"/>
          <p:nvPr/>
        </p:nvSpPr>
        <p:spPr>
          <a:xfrm>
            <a:off x="10781355" y="2795174"/>
            <a:ext cx="825856" cy="82296"/>
          </a:xfrm>
          <a:prstGeom prst="rect">
            <a:avLst/>
          </a:prstGeom>
          <a:noFill/>
        </p:spPr>
        <p:txBody>
          <a:bodyPr wrap="square">
            <a:spAutoFit/>
          </a:bodyPr>
          <a:lstStyle/>
          <a:p>
            <a:pPr algn="r"/>
            <a:r>
              <a:rPr sz="450" b="1" i="0">
                <a:solidFill>
                  <a:srgbClr val="C9A84C"/>
                </a:solidFill>
              </a:rPr>
              <a:t>$200.00</a:t>
            </a:r>
          </a:p>
        </p:txBody>
      </p:sp>
      <p:sp>
        <p:nvSpPr>
          <p:cNvPr id="61" name="Rectangle 60"/>
          <p:cNvSpPr/>
          <p:nvPr/>
        </p:nvSpPr>
        <p:spPr>
          <a:xfrm>
            <a:off x="9583862" y="2903073"/>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83862" y="2909474"/>
            <a:ext cx="2064642" cy="135331"/>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620438" y="2936906"/>
            <a:ext cx="1135553" cy="82296"/>
          </a:xfrm>
          <a:prstGeom prst="rect">
            <a:avLst/>
          </a:prstGeom>
          <a:noFill/>
        </p:spPr>
        <p:txBody>
          <a:bodyPr wrap="square">
            <a:spAutoFit/>
          </a:bodyPr>
          <a:lstStyle/>
          <a:p>
            <a:pPr algn="l"/>
            <a:r>
              <a:rPr sz="380" b="0" i="0">
                <a:solidFill>
                  <a:srgbClr val="9CA3AF"/>
                </a:solidFill>
              </a:rPr>
              <a:t>b.springer</a:t>
            </a:r>
          </a:p>
        </p:txBody>
      </p:sp>
      <p:sp>
        <p:nvSpPr>
          <p:cNvPr id="64" name="TextBox 63"/>
          <p:cNvSpPr txBox="1"/>
          <p:nvPr/>
        </p:nvSpPr>
        <p:spPr>
          <a:xfrm>
            <a:off x="10781355" y="2936906"/>
            <a:ext cx="825856" cy="82296"/>
          </a:xfrm>
          <a:prstGeom prst="rect">
            <a:avLst/>
          </a:prstGeom>
          <a:noFill/>
        </p:spPr>
        <p:txBody>
          <a:bodyPr wrap="square">
            <a:spAutoFit/>
          </a:bodyPr>
          <a:lstStyle/>
          <a:p>
            <a:pPr algn="r"/>
            <a:r>
              <a:rPr sz="450" b="1" i="0">
                <a:solidFill>
                  <a:srgbClr val="C9A84C"/>
                </a:solidFill>
              </a:rPr>
              <a:t>$185.00</a:t>
            </a:r>
          </a:p>
        </p:txBody>
      </p:sp>
      <p:sp>
        <p:nvSpPr>
          <p:cNvPr id="65" name="Rectangle 64"/>
          <p:cNvSpPr/>
          <p:nvPr/>
        </p:nvSpPr>
        <p:spPr>
          <a:xfrm>
            <a:off x="9583862" y="3044805"/>
            <a:ext cx="2064642" cy="6400"/>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769680" y="3106070"/>
            <a:ext cx="1693006" cy="1600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769680" y="3133502"/>
            <a:ext cx="1693006" cy="123443"/>
          </a:xfrm>
          <a:prstGeom prst="rect">
            <a:avLst/>
          </a:prstGeom>
          <a:noFill/>
        </p:spPr>
        <p:txBody>
          <a:bodyPr wrap="square">
            <a:spAutoFit/>
          </a:bodyPr>
          <a:lstStyle/>
          <a:p>
            <a:pPr algn="ctr"/>
            <a:r>
              <a:rPr sz="550" b="1" i="0">
                <a:solidFill>
                  <a:srgbClr val="0A0A0A"/>
                </a:solidFill>
              </a:rPr>
              <a:t>BID NOW — $220.00</a:t>
            </a:r>
          </a:p>
        </p:txBody>
      </p:sp>
      <p:sp>
        <p:nvSpPr>
          <p:cNvPr id="68" name="TextBox 67"/>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6 / 18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REAL-TIME NOTIFICATIONS</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Notifications That Bring Customers Back Instantly</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Every bid event triggers a push notification — customers never miss a moment of the auction.</a:t>
            </a:r>
          </a:p>
        </p:txBody>
      </p:sp>
      <p:sp>
        <p:nvSpPr>
          <p:cNvPr id="7" name="Rectangle 6"/>
          <p:cNvSpPr/>
          <p:nvPr/>
        </p:nvSpPr>
        <p:spPr>
          <a:xfrm>
            <a:off x="365760" y="2331720"/>
            <a:ext cx="8823960" cy="1874519"/>
          </a:xfrm>
          <a:prstGeom prst="rect">
            <a:avLst/>
          </a:prstGeom>
          <a:solidFill>
            <a:srgbClr val="F0FB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331720"/>
            <a:ext cx="54864" cy="1874519"/>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2064" y="2404872"/>
            <a:ext cx="8412480" cy="292608"/>
          </a:xfrm>
          <a:prstGeom prst="rect">
            <a:avLst/>
          </a:prstGeom>
          <a:noFill/>
        </p:spPr>
        <p:txBody>
          <a:bodyPr wrap="square">
            <a:spAutoFit/>
          </a:bodyPr>
          <a:lstStyle/>
          <a:p>
            <a:pPr algn="l"/>
            <a:r>
              <a:rPr sz="1000" b="1" i="0">
                <a:solidFill>
                  <a:srgbClr val="16A34A"/>
                </a:solidFill>
              </a:rPr>
              <a:t>WINNING BID NOTIFICATION</a:t>
            </a:r>
          </a:p>
        </p:txBody>
      </p:sp>
      <p:sp>
        <p:nvSpPr>
          <p:cNvPr id="10" name="TextBox 9"/>
          <p:cNvSpPr txBox="1"/>
          <p:nvPr/>
        </p:nvSpPr>
        <p:spPr>
          <a:xfrm>
            <a:off x="512064" y="2743200"/>
            <a:ext cx="8412480" cy="502920"/>
          </a:xfrm>
          <a:prstGeom prst="rect">
            <a:avLst/>
          </a:prstGeom>
          <a:noFill/>
        </p:spPr>
        <p:txBody>
          <a:bodyPr wrap="square">
            <a:spAutoFit/>
          </a:bodyPr>
          <a:lstStyle/>
          <a:p>
            <a:pPr algn="l"/>
            <a:r>
              <a:rPr sz="1200" b="0" i="0">
                <a:solidFill>
                  <a:srgbClr val="4B5563"/>
                </a:solidFill>
              </a:rPr>
              <a:t>Sent immediately when a customer takes the lead. The positive reinforcement is powerful — it keeps them emotionally invested and returning to the app to check their status.</a:t>
            </a:r>
          </a:p>
        </p:txBody>
      </p:sp>
      <p:sp>
        <p:nvSpPr>
          <p:cNvPr id="11" name="TextBox 10"/>
          <p:cNvSpPr txBox="1"/>
          <p:nvPr/>
        </p:nvSpPr>
        <p:spPr>
          <a:xfrm>
            <a:off x="512064" y="3291840"/>
            <a:ext cx="8412480" cy="365760"/>
          </a:xfrm>
          <a:prstGeom prst="rect">
            <a:avLst/>
          </a:prstGeom>
          <a:noFill/>
        </p:spPr>
        <p:txBody>
          <a:bodyPr wrap="square">
            <a:spAutoFit/>
          </a:bodyPr>
          <a:lstStyle/>
          <a:p>
            <a:pPr algn="l"/>
            <a:r>
              <a:rPr sz="1100" b="1" i="0">
                <a:solidFill>
                  <a:srgbClr val="0A0A0A"/>
                </a:solidFill>
              </a:rPr>
              <a:t>Result: Customer stays engaged, monitors the auction, watches rivals.</a:t>
            </a:r>
          </a:p>
        </p:txBody>
      </p:sp>
      <p:sp>
        <p:nvSpPr>
          <p:cNvPr id="12" name="TextBox 11"/>
          <p:cNvSpPr txBox="1"/>
          <p:nvPr/>
        </p:nvSpPr>
        <p:spPr>
          <a:xfrm>
            <a:off x="512064" y="3703320"/>
            <a:ext cx="8412480" cy="365760"/>
          </a:xfrm>
          <a:prstGeom prst="rect">
            <a:avLst/>
          </a:prstGeom>
          <a:noFill/>
        </p:spPr>
        <p:txBody>
          <a:bodyPr wrap="square">
            <a:spAutoFit/>
          </a:bodyPr>
          <a:lstStyle/>
          <a:p>
            <a:pPr algn="l"/>
            <a:r>
              <a:rPr sz="1200" b="0" i="1">
                <a:solidFill>
                  <a:srgbClr val="4B5563"/>
                </a:solidFill>
              </a:rPr>
              <a:t>  'You're winning! Keep it up.'</a:t>
            </a:r>
          </a:p>
        </p:txBody>
      </p:sp>
      <p:sp>
        <p:nvSpPr>
          <p:cNvPr id="13" name="Rectangle 12"/>
          <p:cNvSpPr/>
          <p:nvPr/>
        </p:nvSpPr>
        <p:spPr>
          <a:xfrm>
            <a:off x="365760" y="4334256"/>
            <a:ext cx="8823960" cy="1920240"/>
          </a:xfrm>
          <a:prstGeom prst="rect">
            <a:avLst/>
          </a:prstGeom>
          <a:solidFill>
            <a:srgbClr val="FD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5760" y="4334256"/>
            <a:ext cx="54864" cy="1920240"/>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2064" y="4407408"/>
            <a:ext cx="8412480" cy="292608"/>
          </a:xfrm>
          <a:prstGeom prst="rect">
            <a:avLst/>
          </a:prstGeom>
          <a:noFill/>
        </p:spPr>
        <p:txBody>
          <a:bodyPr wrap="square">
            <a:spAutoFit/>
          </a:bodyPr>
          <a:lstStyle/>
          <a:p>
            <a:pPr algn="l"/>
            <a:r>
              <a:rPr sz="1000" b="1" i="0">
                <a:solidFill>
                  <a:srgbClr val="DC2626"/>
                </a:solidFill>
              </a:rPr>
              <a:t>OUTBID NOTIFICATION</a:t>
            </a:r>
          </a:p>
        </p:txBody>
      </p:sp>
      <p:sp>
        <p:nvSpPr>
          <p:cNvPr id="16" name="TextBox 15"/>
          <p:cNvSpPr txBox="1"/>
          <p:nvPr/>
        </p:nvSpPr>
        <p:spPr>
          <a:xfrm>
            <a:off x="512064" y="4745736"/>
            <a:ext cx="8412480" cy="502920"/>
          </a:xfrm>
          <a:prstGeom prst="rect">
            <a:avLst/>
          </a:prstGeom>
          <a:noFill/>
        </p:spPr>
        <p:txBody>
          <a:bodyPr wrap="square">
            <a:spAutoFit/>
          </a:bodyPr>
          <a:lstStyle/>
          <a:p>
            <a:pPr algn="l"/>
            <a:r>
              <a:rPr sz="1200" b="0" i="0">
                <a:solidFill>
                  <a:srgbClr val="4B5563"/>
                </a:solidFill>
              </a:rPr>
              <a:t>Fires the instant another customer places a higher bid. The urgency is immediate — customers tap straight back into the app to respond. Most counter-bids happen within 90 seconds.</a:t>
            </a:r>
          </a:p>
        </p:txBody>
      </p:sp>
      <p:sp>
        <p:nvSpPr>
          <p:cNvPr id="17" name="TextBox 16"/>
          <p:cNvSpPr txBox="1"/>
          <p:nvPr/>
        </p:nvSpPr>
        <p:spPr>
          <a:xfrm>
            <a:off x="512064" y="5294376"/>
            <a:ext cx="8412480" cy="365760"/>
          </a:xfrm>
          <a:prstGeom prst="rect">
            <a:avLst/>
          </a:prstGeom>
          <a:noFill/>
        </p:spPr>
        <p:txBody>
          <a:bodyPr wrap="square">
            <a:spAutoFit/>
          </a:bodyPr>
          <a:lstStyle/>
          <a:p>
            <a:pPr algn="l"/>
            <a:r>
              <a:rPr sz="1100" b="1" i="0">
                <a:solidFill>
                  <a:srgbClr val="0A0A0A"/>
                </a:solidFill>
              </a:rPr>
              <a:t>Result: Customer returns to app, counter-bids, and engagement spikes.</a:t>
            </a:r>
          </a:p>
        </p:txBody>
      </p:sp>
      <p:sp>
        <p:nvSpPr>
          <p:cNvPr id="18" name="TextBox 17"/>
          <p:cNvSpPr txBox="1"/>
          <p:nvPr/>
        </p:nvSpPr>
        <p:spPr>
          <a:xfrm>
            <a:off x="512064" y="5705856"/>
            <a:ext cx="8412480" cy="365760"/>
          </a:xfrm>
          <a:prstGeom prst="rect">
            <a:avLst/>
          </a:prstGeom>
          <a:noFill/>
        </p:spPr>
        <p:txBody>
          <a:bodyPr wrap="square">
            <a:spAutoFit/>
          </a:bodyPr>
          <a:lstStyle/>
          <a:p>
            <a:pPr algn="l"/>
            <a:r>
              <a:rPr sz="1200" b="0" i="1">
                <a:solidFill>
                  <a:srgbClr val="4B5563"/>
                </a:solidFill>
              </a:rPr>
              <a:t>  'You've been outbid! Tap to stay in the lead.'</a:t>
            </a:r>
          </a:p>
        </p:txBody>
      </p:sp>
      <p:sp>
        <p:nvSpPr>
          <p:cNvPr id="19" name="Rectangle 18"/>
          <p:cNvSpPr/>
          <p:nvPr/>
        </p:nvSpPr>
        <p:spPr>
          <a:xfrm>
            <a:off x="9464040" y="1188720"/>
            <a:ext cx="2304288" cy="4792919"/>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583862" y="1400714"/>
            <a:ext cx="2064642" cy="4391972"/>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327134" y="1248078"/>
            <a:ext cx="578099" cy="4663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368426" y="5917395"/>
            <a:ext cx="495514" cy="26453"/>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583862" y="1400714"/>
            <a:ext cx="2064642" cy="439197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83862" y="1400714"/>
            <a:ext cx="2064642"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20438" y="1405286"/>
            <a:ext cx="619392" cy="96012"/>
          </a:xfrm>
          <a:prstGeom prst="rect">
            <a:avLst/>
          </a:prstGeom>
          <a:noFill/>
        </p:spPr>
        <p:txBody>
          <a:bodyPr wrap="square">
            <a:spAutoFit/>
          </a:bodyPr>
          <a:lstStyle/>
          <a:p>
            <a:pPr algn="l"/>
            <a:r>
              <a:rPr sz="450" b="1" i="0">
                <a:solidFill>
                  <a:srgbClr val="FFFFFF"/>
                </a:solidFill>
              </a:rPr>
              <a:t>9:41</a:t>
            </a:r>
          </a:p>
        </p:txBody>
      </p:sp>
      <p:sp>
        <p:nvSpPr>
          <p:cNvPr id="26" name="TextBox 25"/>
          <p:cNvSpPr txBox="1"/>
          <p:nvPr/>
        </p:nvSpPr>
        <p:spPr>
          <a:xfrm>
            <a:off x="10719416" y="1405286"/>
            <a:ext cx="887796" cy="96012"/>
          </a:xfrm>
          <a:prstGeom prst="rect">
            <a:avLst/>
          </a:prstGeom>
          <a:noFill/>
        </p:spPr>
        <p:txBody>
          <a:bodyPr wrap="square">
            <a:spAutoFit/>
          </a:bodyPr>
          <a:lstStyle/>
          <a:p>
            <a:pPr algn="r"/>
            <a:r>
              <a:rPr sz="400" b="0" i="0">
                <a:solidFill>
                  <a:srgbClr val="FFFFFF"/>
                </a:solidFill>
              </a:rPr>
              <a:t>|||  100%</a:t>
            </a:r>
          </a:p>
        </p:txBody>
      </p:sp>
      <p:sp>
        <p:nvSpPr>
          <p:cNvPr id="27" name="Rectangle 26"/>
          <p:cNvSpPr/>
          <p:nvPr/>
        </p:nvSpPr>
        <p:spPr>
          <a:xfrm>
            <a:off x="9583862" y="1496726"/>
            <a:ext cx="2064642"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11294" y="1533302"/>
            <a:ext cx="2009778" cy="141731"/>
          </a:xfrm>
          <a:prstGeom prst="rect">
            <a:avLst/>
          </a:prstGeom>
          <a:noFill/>
        </p:spPr>
        <p:txBody>
          <a:bodyPr wrap="square">
            <a:spAutoFit/>
          </a:bodyPr>
          <a:lstStyle/>
          <a:p>
            <a:pPr algn="ctr"/>
            <a:r>
              <a:rPr sz="650" b="1" i="0">
                <a:solidFill>
                  <a:srgbClr val="0A0A0A"/>
                </a:solidFill>
              </a:rPr>
              <a:t>Notifications</a:t>
            </a:r>
          </a:p>
        </p:txBody>
      </p:sp>
      <p:sp>
        <p:nvSpPr>
          <p:cNvPr id="29" name="Rectangle 28"/>
          <p:cNvSpPr/>
          <p:nvPr/>
        </p:nvSpPr>
        <p:spPr>
          <a:xfrm>
            <a:off x="9583862" y="1684178"/>
            <a:ext cx="2064642" cy="242316"/>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583862" y="1684178"/>
            <a:ext cx="22860" cy="242316"/>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29582" y="1702466"/>
            <a:ext cx="1954914" cy="91440"/>
          </a:xfrm>
          <a:prstGeom prst="rect">
            <a:avLst/>
          </a:prstGeom>
          <a:noFill/>
        </p:spPr>
        <p:txBody>
          <a:bodyPr wrap="square">
            <a:spAutoFit/>
          </a:bodyPr>
          <a:lstStyle/>
          <a:p>
            <a:pPr algn="l"/>
            <a:r>
              <a:rPr sz="450" b="1" i="0">
                <a:solidFill>
                  <a:srgbClr val="FFFFFF"/>
                </a:solidFill>
              </a:rPr>
              <a:t>You're winning!</a:t>
            </a:r>
          </a:p>
        </p:txBody>
      </p:sp>
      <p:sp>
        <p:nvSpPr>
          <p:cNvPr id="32" name="TextBox 31"/>
          <p:cNvSpPr txBox="1"/>
          <p:nvPr/>
        </p:nvSpPr>
        <p:spPr>
          <a:xfrm>
            <a:off x="9629582" y="1793906"/>
            <a:ext cx="1954914" cy="100584"/>
          </a:xfrm>
          <a:prstGeom prst="rect">
            <a:avLst/>
          </a:prstGeom>
          <a:noFill/>
        </p:spPr>
        <p:txBody>
          <a:bodyPr wrap="square">
            <a:spAutoFit/>
          </a:bodyPr>
          <a:lstStyle/>
          <a:p>
            <a:pPr algn="l"/>
            <a:r>
              <a:rPr sz="380" b="0" i="0">
                <a:solidFill>
                  <a:srgbClr val="9CA3AF"/>
                </a:solidFill>
              </a:rPr>
              <a:t>32" Smart TV — bid $215</a:t>
            </a:r>
          </a:p>
        </p:txBody>
      </p:sp>
      <p:sp>
        <p:nvSpPr>
          <p:cNvPr id="33" name="TextBox 32"/>
          <p:cNvSpPr txBox="1"/>
          <p:nvPr/>
        </p:nvSpPr>
        <p:spPr>
          <a:xfrm>
            <a:off x="11520489" y="1702466"/>
            <a:ext cx="109728" cy="73152"/>
          </a:xfrm>
          <a:prstGeom prst="rect">
            <a:avLst/>
          </a:prstGeom>
          <a:noFill/>
        </p:spPr>
        <p:txBody>
          <a:bodyPr wrap="square">
            <a:spAutoFit/>
          </a:bodyPr>
          <a:lstStyle/>
          <a:p>
            <a:pPr algn="r"/>
            <a:r>
              <a:rPr sz="350" b="0" i="0">
                <a:solidFill>
                  <a:srgbClr val="9CA3AF"/>
                </a:solidFill>
              </a:rPr>
              <a:t>now</a:t>
            </a:r>
          </a:p>
        </p:txBody>
      </p:sp>
      <p:sp>
        <p:nvSpPr>
          <p:cNvPr id="34" name="Rectangle 33"/>
          <p:cNvSpPr/>
          <p:nvPr/>
        </p:nvSpPr>
        <p:spPr>
          <a:xfrm>
            <a:off x="9583862" y="1926494"/>
            <a:ext cx="2064642" cy="7315"/>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583862" y="1933809"/>
            <a:ext cx="2064642" cy="242316"/>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83862" y="1933809"/>
            <a:ext cx="22860" cy="242316"/>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29582" y="1952097"/>
            <a:ext cx="1954914" cy="91440"/>
          </a:xfrm>
          <a:prstGeom prst="rect">
            <a:avLst/>
          </a:prstGeom>
          <a:noFill/>
        </p:spPr>
        <p:txBody>
          <a:bodyPr wrap="square">
            <a:spAutoFit/>
          </a:bodyPr>
          <a:lstStyle/>
          <a:p>
            <a:pPr algn="l"/>
            <a:r>
              <a:rPr sz="450" b="1" i="0">
                <a:solidFill>
                  <a:srgbClr val="FFFFFF"/>
                </a:solidFill>
              </a:rPr>
              <a:t>Your bid is leading</a:t>
            </a:r>
          </a:p>
        </p:txBody>
      </p:sp>
      <p:sp>
        <p:nvSpPr>
          <p:cNvPr id="38" name="TextBox 37"/>
          <p:cNvSpPr txBox="1"/>
          <p:nvPr/>
        </p:nvSpPr>
        <p:spPr>
          <a:xfrm>
            <a:off x="9629582" y="2043537"/>
            <a:ext cx="1954914" cy="100584"/>
          </a:xfrm>
          <a:prstGeom prst="rect">
            <a:avLst/>
          </a:prstGeom>
          <a:noFill/>
        </p:spPr>
        <p:txBody>
          <a:bodyPr wrap="square">
            <a:spAutoFit/>
          </a:bodyPr>
          <a:lstStyle/>
          <a:p>
            <a:pPr algn="l"/>
            <a:r>
              <a:rPr sz="380" b="0" i="0">
                <a:solidFill>
                  <a:srgbClr val="9CA3AF"/>
                </a:solidFill>
              </a:rPr>
              <a:t>Gas BBQ Grill — bid $88</a:t>
            </a:r>
          </a:p>
        </p:txBody>
      </p:sp>
      <p:sp>
        <p:nvSpPr>
          <p:cNvPr id="39" name="TextBox 38"/>
          <p:cNvSpPr txBox="1"/>
          <p:nvPr/>
        </p:nvSpPr>
        <p:spPr>
          <a:xfrm>
            <a:off x="11520489" y="1952097"/>
            <a:ext cx="109728" cy="73152"/>
          </a:xfrm>
          <a:prstGeom prst="rect">
            <a:avLst/>
          </a:prstGeom>
          <a:noFill/>
        </p:spPr>
        <p:txBody>
          <a:bodyPr wrap="square">
            <a:spAutoFit/>
          </a:bodyPr>
          <a:lstStyle/>
          <a:p>
            <a:pPr algn="r"/>
            <a:r>
              <a:rPr sz="350" b="0" i="0">
                <a:solidFill>
                  <a:srgbClr val="9CA3AF"/>
                </a:solidFill>
              </a:rPr>
              <a:t>2 min</a:t>
            </a:r>
          </a:p>
        </p:txBody>
      </p:sp>
      <p:sp>
        <p:nvSpPr>
          <p:cNvPr id="40" name="Rectangle 39"/>
          <p:cNvSpPr/>
          <p:nvPr/>
        </p:nvSpPr>
        <p:spPr>
          <a:xfrm>
            <a:off x="9583862" y="2176125"/>
            <a:ext cx="2064642" cy="7315"/>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83862" y="2197156"/>
            <a:ext cx="2064642" cy="242316"/>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83862" y="2197156"/>
            <a:ext cx="22860" cy="242316"/>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629582" y="2215444"/>
            <a:ext cx="1954914" cy="91440"/>
          </a:xfrm>
          <a:prstGeom prst="rect">
            <a:avLst/>
          </a:prstGeom>
          <a:noFill/>
        </p:spPr>
        <p:txBody>
          <a:bodyPr wrap="square">
            <a:spAutoFit/>
          </a:bodyPr>
          <a:lstStyle/>
          <a:p>
            <a:pPr algn="l"/>
            <a:r>
              <a:rPr sz="450" b="1" i="0">
                <a:solidFill>
                  <a:srgbClr val="FFFFFF"/>
                </a:solidFill>
              </a:rPr>
              <a:t>You've been outbid!</a:t>
            </a:r>
          </a:p>
        </p:txBody>
      </p:sp>
      <p:sp>
        <p:nvSpPr>
          <p:cNvPr id="44" name="TextBox 43"/>
          <p:cNvSpPr txBox="1"/>
          <p:nvPr/>
        </p:nvSpPr>
        <p:spPr>
          <a:xfrm>
            <a:off x="9629582" y="2306884"/>
            <a:ext cx="1954914" cy="100584"/>
          </a:xfrm>
          <a:prstGeom prst="rect">
            <a:avLst/>
          </a:prstGeom>
          <a:noFill/>
        </p:spPr>
        <p:txBody>
          <a:bodyPr wrap="square">
            <a:spAutoFit/>
          </a:bodyPr>
          <a:lstStyle/>
          <a:p>
            <a:pPr algn="l"/>
            <a:r>
              <a:rPr sz="380" b="0" i="0">
                <a:solidFill>
                  <a:srgbClr val="9CA3AF"/>
                </a:solidFill>
              </a:rPr>
              <a:t>32" Smart TV — bid $225</a:t>
            </a:r>
          </a:p>
        </p:txBody>
      </p:sp>
      <p:sp>
        <p:nvSpPr>
          <p:cNvPr id="45" name="TextBox 44"/>
          <p:cNvSpPr txBox="1"/>
          <p:nvPr/>
        </p:nvSpPr>
        <p:spPr>
          <a:xfrm>
            <a:off x="11520489" y="2215444"/>
            <a:ext cx="109728" cy="73152"/>
          </a:xfrm>
          <a:prstGeom prst="rect">
            <a:avLst/>
          </a:prstGeom>
          <a:noFill/>
        </p:spPr>
        <p:txBody>
          <a:bodyPr wrap="square">
            <a:spAutoFit/>
          </a:bodyPr>
          <a:lstStyle/>
          <a:p>
            <a:pPr algn="r"/>
            <a:r>
              <a:rPr sz="350" b="0" i="0">
                <a:solidFill>
                  <a:srgbClr val="9CA3AF"/>
                </a:solidFill>
              </a:rPr>
              <a:t>5 min</a:t>
            </a:r>
          </a:p>
        </p:txBody>
      </p:sp>
      <p:sp>
        <p:nvSpPr>
          <p:cNvPr id="46" name="Rectangle 45"/>
          <p:cNvSpPr/>
          <p:nvPr/>
        </p:nvSpPr>
        <p:spPr>
          <a:xfrm>
            <a:off x="9583862" y="2439472"/>
            <a:ext cx="2064642" cy="7315"/>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583862" y="2446788"/>
            <a:ext cx="2064642" cy="242316"/>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583862" y="2446788"/>
            <a:ext cx="22860" cy="242316"/>
          </a:xfrm>
          <a:prstGeom prst="rect">
            <a:avLst/>
          </a:prstGeom>
          <a:solidFill>
            <a:srgbClr val="C0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29582" y="2465076"/>
            <a:ext cx="1954914" cy="91440"/>
          </a:xfrm>
          <a:prstGeom prst="rect">
            <a:avLst/>
          </a:prstGeom>
          <a:noFill/>
        </p:spPr>
        <p:txBody>
          <a:bodyPr wrap="square">
            <a:spAutoFit/>
          </a:bodyPr>
          <a:lstStyle/>
          <a:p>
            <a:pPr algn="l"/>
            <a:r>
              <a:rPr sz="450" b="1" i="0">
                <a:solidFill>
                  <a:srgbClr val="FFFFFF"/>
                </a:solidFill>
              </a:rPr>
              <a:t>Tap to counter-bid</a:t>
            </a:r>
          </a:p>
        </p:txBody>
      </p:sp>
      <p:sp>
        <p:nvSpPr>
          <p:cNvPr id="50" name="TextBox 49"/>
          <p:cNvSpPr txBox="1"/>
          <p:nvPr/>
        </p:nvSpPr>
        <p:spPr>
          <a:xfrm>
            <a:off x="9629582" y="2556516"/>
            <a:ext cx="1954914" cy="100584"/>
          </a:xfrm>
          <a:prstGeom prst="rect">
            <a:avLst/>
          </a:prstGeom>
          <a:noFill/>
        </p:spPr>
        <p:txBody>
          <a:bodyPr wrap="square">
            <a:spAutoFit/>
          </a:bodyPr>
          <a:lstStyle/>
          <a:p>
            <a:pPr algn="l"/>
            <a:r>
              <a:rPr sz="380" b="0" i="0">
                <a:solidFill>
                  <a:srgbClr val="9CA3AF"/>
                </a:solidFill>
              </a:rPr>
              <a:t>Someone bid $225 — you had $215</a:t>
            </a:r>
          </a:p>
        </p:txBody>
      </p:sp>
      <p:sp>
        <p:nvSpPr>
          <p:cNvPr id="51" name="TextBox 50"/>
          <p:cNvSpPr txBox="1"/>
          <p:nvPr/>
        </p:nvSpPr>
        <p:spPr>
          <a:xfrm>
            <a:off x="11520489" y="2465076"/>
            <a:ext cx="109728" cy="73152"/>
          </a:xfrm>
          <a:prstGeom prst="rect">
            <a:avLst/>
          </a:prstGeom>
          <a:noFill/>
        </p:spPr>
        <p:txBody>
          <a:bodyPr wrap="square">
            <a:spAutoFit/>
          </a:bodyPr>
          <a:lstStyle/>
          <a:p>
            <a:pPr algn="r"/>
            <a:r>
              <a:rPr sz="350" b="0" i="0">
                <a:solidFill>
                  <a:srgbClr val="9CA3AF"/>
                </a:solidFill>
              </a:rPr>
              <a:t>5 min</a:t>
            </a:r>
          </a:p>
        </p:txBody>
      </p:sp>
      <p:sp>
        <p:nvSpPr>
          <p:cNvPr id="52" name="Rectangle 51"/>
          <p:cNvSpPr/>
          <p:nvPr/>
        </p:nvSpPr>
        <p:spPr>
          <a:xfrm>
            <a:off x="9583862" y="2689104"/>
            <a:ext cx="2064642" cy="7315"/>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583862" y="2710135"/>
            <a:ext cx="2064642" cy="242316"/>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83862" y="2710135"/>
            <a:ext cx="22860" cy="24231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629582" y="2728423"/>
            <a:ext cx="1954914" cy="91440"/>
          </a:xfrm>
          <a:prstGeom prst="rect">
            <a:avLst/>
          </a:prstGeom>
          <a:noFill/>
        </p:spPr>
        <p:txBody>
          <a:bodyPr wrap="square">
            <a:spAutoFit/>
          </a:bodyPr>
          <a:lstStyle/>
          <a:p>
            <a:pPr algn="l"/>
            <a:r>
              <a:rPr sz="450" b="1" i="0">
                <a:solidFill>
                  <a:srgbClr val="FFFFFF"/>
                </a:solidFill>
              </a:rPr>
              <a:t>Auction ending soon!</a:t>
            </a:r>
          </a:p>
        </p:txBody>
      </p:sp>
      <p:sp>
        <p:nvSpPr>
          <p:cNvPr id="56" name="TextBox 55"/>
          <p:cNvSpPr txBox="1"/>
          <p:nvPr/>
        </p:nvSpPr>
        <p:spPr>
          <a:xfrm>
            <a:off x="9629582" y="2819863"/>
            <a:ext cx="1954914" cy="100584"/>
          </a:xfrm>
          <a:prstGeom prst="rect">
            <a:avLst/>
          </a:prstGeom>
          <a:noFill/>
        </p:spPr>
        <p:txBody>
          <a:bodyPr wrap="square">
            <a:spAutoFit/>
          </a:bodyPr>
          <a:lstStyle/>
          <a:p>
            <a:pPr algn="l"/>
            <a:r>
              <a:rPr sz="380" b="0" i="0">
                <a:solidFill>
                  <a:srgbClr val="9CA3AF"/>
                </a:solidFill>
              </a:rPr>
              <a:t>Gas BBQ Grill closes in 2 hrs</a:t>
            </a:r>
          </a:p>
        </p:txBody>
      </p:sp>
      <p:sp>
        <p:nvSpPr>
          <p:cNvPr id="57" name="TextBox 56"/>
          <p:cNvSpPr txBox="1"/>
          <p:nvPr/>
        </p:nvSpPr>
        <p:spPr>
          <a:xfrm>
            <a:off x="11520489" y="2728423"/>
            <a:ext cx="109728" cy="73152"/>
          </a:xfrm>
          <a:prstGeom prst="rect">
            <a:avLst/>
          </a:prstGeom>
          <a:noFill/>
        </p:spPr>
        <p:txBody>
          <a:bodyPr wrap="square">
            <a:spAutoFit/>
          </a:bodyPr>
          <a:lstStyle/>
          <a:p>
            <a:pPr algn="r"/>
            <a:r>
              <a:rPr sz="350" b="0" i="0">
                <a:solidFill>
                  <a:srgbClr val="9CA3AF"/>
                </a:solidFill>
              </a:rPr>
              <a:t>1 hr</a:t>
            </a:r>
          </a:p>
        </p:txBody>
      </p:sp>
      <p:sp>
        <p:nvSpPr>
          <p:cNvPr id="58" name="Rectangle 57"/>
          <p:cNvSpPr/>
          <p:nvPr/>
        </p:nvSpPr>
        <p:spPr>
          <a:xfrm>
            <a:off x="9583862" y="2952451"/>
            <a:ext cx="2064642" cy="7315"/>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769680" y="2996342"/>
            <a:ext cx="1693006" cy="1600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769680" y="3023774"/>
            <a:ext cx="1693006" cy="123443"/>
          </a:xfrm>
          <a:prstGeom prst="rect">
            <a:avLst/>
          </a:prstGeom>
          <a:noFill/>
        </p:spPr>
        <p:txBody>
          <a:bodyPr wrap="square">
            <a:spAutoFit/>
          </a:bodyPr>
          <a:lstStyle/>
          <a:p>
            <a:pPr algn="ctr"/>
            <a:r>
              <a:rPr sz="550" b="1" i="0">
                <a:solidFill>
                  <a:srgbClr val="0A0A0A"/>
                </a:solidFill>
              </a:rPr>
              <a:t>VIEW AUCTIONS</a:t>
            </a:r>
          </a:p>
        </p:txBody>
      </p:sp>
      <p:sp>
        <p:nvSpPr>
          <p:cNvPr id="61" name="TextBox 60"/>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7 / 18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FEATURE — DEALS</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Deals of the Week &amp; Month — Drive Foot Traffic</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Fixed-price deals showcase your best offers and bring customers through your doors.</a:t>
            </a:r>
          </a:p>
        </p:txBody>
      </p:sp>
      <p:sp>
        <p:nvSpPr>
          <p:cNvPr id="7" name="TextBox 6"/>
          <p:cNvSpPr txBox="1"/>
          <p:nvPr/>
        </p:nvSpPr>
        <p:spPr>
          <a:xfrm>
            <a:off x="457200" y="2331720"/>
            <a:ext cx="6858000" cy="3840480"/>
          </a:xfrm>
          <a:prstGeom prst="rect">
            <a:avLst/>
          </a:prstGeom>
          <a:noFill/>
        </p:spPr>
        <p:txBody>
          <a:bodyPr wrap="square">
            <a:spAutoFit/>
          </a:bodyPr>
          <a:lstStyle/>
          <a:p>
            <a:pPr>
              <a:spcBef>
                <a:spcPts val="500"/>
              </a:spcBef>
            </a:pPr>
            <a:r>
              <a:rPr sz="1300">
                <a:solidFill>
                  <a:srgbClr val="0A0A0A"/>
                </a:solidFill>
              </a:rPr>
              <a:t>▶  You set a fixed price — no bidding, no auction pressure</a:t>
            </a:r>
          </a:p>
          <a:p>
            <a:pPr>
              <a:spcBef>
                <a:spcPts val="500"/>
              </a:spcBef>
            </a:pPr>
            <a:r>
              <a:rPr sz="1300">
                <a:solidFill>
                  <a:srgbClr val="0A0A0A"/>
                </a:solidFill>
              </a:rPr>
              <a:t>▶  Customers see your deal prominently in the app all week or all month</a:t>
            </a:r>
          </a:p>
          <a:p>
            <a:pPr>
              <a:spcBef>
                <a:spcPts val="500"/>
              </a:spcBef>
            </a:pPr>
            <a:r>
              <a:rPr sz="1300">
                <a:solidFill>
                  <a:srgbClr val="0A0A0A"/>
                </a:solidFill>
              </a:rPr>
              <a:t>▶  Customers can Like the deal — like count is visible to all users (social proof)</a:t>
            </a:r>
          </a:p>
          <a:p>
            <a:pPr>
              <a:spcBef>
                <a:spcPts val="500"/>
              </a:spcBef>
            </a:pPr>
            <a:r>
              <a:rPr sz="1300">
                <a:solidFill>
                  <a:srgbClr val="0A0A0A"/>
                </a:solidFill>
              </a:rPr>
              <a:t>▶  Customers share deals directly to WhatsApp, Instagram, and other platforms</a:t>
            </a:r>
          </a:p>
          <a:p>
            <a:pPr>
              <a:spcBef>
                <a:spcPts val="500"/>
              </a:spcBef>
            </a:pPr>
            <a:r>
              <a:rPr sz="1300">
                <a:solidFill>
                  <a:srgbClr val="0A0A0A"/>
                </a:solidFill>
              </a:rPr>
              <a:t>▶  Shared links show the deal to people who do not yet have the app — driving new downloads</a:t>
            </a:r>
          </a:p>
          <a:p>
            <a:pPr>
              <a:spcBef>
                <a:spcPts val="500"/>
              </a:spcBef>
            </a:pPr>
            <a:r>
              <a:rPr sz="1300">
                <a:solidFill>
                  <a:srgbClr val="0A0A0A"/>
                </a:solidFill>
              </a:rPr>
              <a:t>▶  Walk-in customers ask for the deal by name — increased foot traffic guaranteed</a:t>
            </a:r>
          </a:p>
          <a:p>
            <a:pPr>
              <a:spcBef>
                <a:spcPts val="500"/>
              </a:spcBef>
            </a:pPr>
            <a:r>
              <a:rPr sz="1300">
                <a:solidFill>
                  <a:srgbClr val="0A0A0A"/>
                </a:solidFill>
              </a:rPr>
              <a:t>▶  Deals of the Month offer extended 30-day visibility at premium placement</a:t>
            </a:r>
          </a:p>
        </p:txBody>
      </p:sp>
      <p:sp>
        <p:nvSpPr>
          <p:cNvPr id="8" name="Rectangle 7"/>
          <p:cNvSpPr/>
          <p:nvPr/>
        </p:nvSpPr>
        <p:spPr>
          <a:xfrm>
            <a:off x="7589520" y="2331720"/>
            <a:ext cx="4114800" cy="173736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89520" y="2331720"/>
            <a:ext cx="54864" cy="17373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423160"/>
            <a:ext cx="3749039" cy="347472"/>
          </a:xfrm>
          <a:prstGeom prst="rect">
            <a:avLst/>
          </a:prstGeom>
          <a:noFill/>
        </p:spPr>
        <p:txBody>
          <a:bodyPr wrap="square">
            <a:spAutoFit/>
          </a:bodyPr>
          <a:lstStyle/>
          <a:p>
            <a:pPr algn="l"/>
            <a:r>
              <a:rPr sz="1200" b="1" i="0">
                <a:solidFill>
                  <a:srgbClr val="0A0A0A"/>
                </a:solidFill>
              </a:rPr>
              <a:t>Deal of the Week</a:t>
            </a:r>
          </a:p>
        </p:txBody>
      </p:sp>
      <p:sp>
        <p:nvSpPr>
          <p:cNvPr id="11" name="TextBox 10"/>
          <p:cNvSpPr txBox="1"/>
          <p:nvPr/>
        </p:nvSpPr>
        <p:spPr>
          <a:xfrm>
            <a:off x="7772400" y="2834640"/>
            <a:ext cx="3657600" cy="1143000"/>
          </a:xfrm>
          <a:prstGeom prst="rect">
            <a:avLst/>
          </a:prstGeom>
          <a:noFill/>
        </p:spPr>
        <p:txBody>
          <a:bodyPr wrap="square">
            <a:spAutoFit/>
          </a:bodyPr>
          <a:lstStyle/>
          <a:p>
            <a:pPr algn="l"/>
            <a:r>
              <a:rPr sz="1100" b="0" i="0">
                <a:solidFill>
                  <a:srgbClr val="4B5563"/>
                </a:solidFill>
              </a:rPr>
              <a:t>7-day fixed-price feature
Premium placement in app
Like + Share enabled
Drives walk-in purchase</a:t>
            </a:r>
          </a:p>
        </p:txBody>
      </p:sp>
      <p:sp>
        <p:nvSpPr>
          <p:cNvPr id="12" name="Rectangle 11"/>
          <p:cNvSpPr/>
          <p:nvPr/>
        </p:nvSpPr>
        <p:spPr>
          <a:xfrm>
            <a:off x="7589520" y="4206240"/>
            <a:ext cx="4114800" cy="173736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4206240"/>
            <a:ext cx="54864" cy="17373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4297680"/>
            <a:ext cx="3749039" cy="347472"/>
          </a:xfrm>
          <a:prstGeom prst="rect">
            <a:avLst/>
          </a:prstGeom>
          <a:noFill/>
        </p:spPr>
        <p:txBody>
          <a:bodyPr wrap="square">
            <a:spAutoFit/>
          </a:bodyPr>
          <a:lstStyle/>
          <a:p>
            <a:pPr algn="l"/>
            <a:r>
              <a:rPr sz="1200" b="1" i="0">
                <a:solidFill>
                  <a:srgbClr val="C9A84C"/>
                </a:solidFill>
              </a:rPr>
              <a:t>Deal of the Month</a:t>
            </a:r>
          </a:p>
        </p:txBody>
      </p:sp>
      <p:sp>
        <p:nvSpPr>
          <p:cNvPr id="15" name="TextBox 14"/>
          <p:cNvSpPr txBox="1"/>
          <p:nvPr/>
        </p:nvSpPr>
        <p:spPr>
          <a:xfrm>
            <a:off x="7772400" y="4709160"/>
            <a:ext cx="3657600" cy="1143000"/>
          </a:xfrm>
          <a:prstGeom prst="rect">
            <a:avLst/>
          </a:prstGeom>
          <a:noFill/>
        </p:spPr>
        <p:txBody>
          <a:bodyPr wrap="square">
            <a:spAutoFit/>
          </a:bodyPr>
          <a:lstStyle/>
          <a:p>
            <a:pPr algn="l"/>
            <a:r>
              <a:rPr sz="1100" b="0" i="0">
                <a:solidFill>
                  <a:srgbClr val="C0C8D8"/>
                </a:solidFill>
              </a:rPr>
              <a:t>Full 30-day visibility
Top placement position
Maximum brand exposure
Ideal for key product lines</a:t>
            </a:r>
          </a:p>
        </p:txBody>
      </p:sp>
      <p:sp>
        <p:nvSpPr>
          <p:cNvPr id="16" name="TextBox 15"/>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8 / 18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BRAND STRATEGY</a:t>
            </a:r>
          </a:p>
        </p:txBody>
      </p:sp>
      <p:sp>
        <p:nvSpPr>
          <p:cNvPr id="5" name="TextBox 4"/>
          <p:cNvSpPr txBox="1"/>
          <p:nvPr/>
        </p:nvSpPr>
        <p:spPr>
          <a:xfrm>
            <a:off x="457200" y="1325880"/>
            <a:ext cx="9509760" cy="777240"/>
          </a:xfrm>
          <a:prstGeom prst="rect">
            <a:avLst/>
          </a:prstGeom>
          <a:noFill/>
        </p:spPr>
        <p:txBody>
          <a:bodyPr wrap="square">
            <a:spAutoFit/>
          </a:bodyPr>
          <a:lstStyle/>
          <a:p>
            <a:pPr algn="l"/>
            <a:r>
              <a:rPr sz="2800" b="1" i="0">
                <a:solidFill>
                  <a:srgbClr val="0A0A0A"/>
                </a:solidFill>
              </a:rPr>
              <a:t>More Than a Marketplace — A 24/7 Brand Portal</a:t>
            </a:r>
          </a:p>
        </p:txBody>
      </p:sp>
      <p:sp>
        <p:nvSpPr>
          <p:cNvPr id="6" name="TextBox 5"/>
          <p:cNvSpPr txBox="1"/>
          <p:nvPr/>
        </p:nvSpPr>
        <p:spPr>
          <a:xfrm>
            <a:off x="457200" y="1920240"/>
            <a:ext cx="9509760" cy="411480"/>
          </a:xfrm>
          <a:prstGeom prst="rect">
            <a:avLst/>
          </a:prstGeom>
          <a:noFill/>
        </p:spPr>
        <p:txBody>
          <a:bodyPr wrap="square">
            <a:spAutoFit/>
          </a:bodyPr>
          <a:lstStyle/>
          <a:p>
            <a:pPr algn="l"/>
            <a:r>
              <a:rPr sz="1500" b="0" i="0">
                <a:solidFill>
                  <a:srgbClr val="4B5563"/>
                </a:solidFill>
              </a:rPr>
              <a:t>BiziBid is your store's permanent digital home. It keeps your brand alive in customers' minds every single day.</a:t>
            </a:r>
          </a:p>
        </p:txBody>
      </p:sp>
      <p:sp>
        <p:nvSpPr>
          <p:cNvPr id="7" name="Rectangle 6"/>
          <p:cNvSpPr/>
          <p:nvPr/>
        </p:nvSpPr>
        <p:spPr>
          <a:xfrm>
            <a:off x="365760" y="2331720"/>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331720"/>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3776" y="2423160"/>
            <a:ext cx="4114800" cy="292608"/>
          </a:xfrm>
          <a:prstGeom prst="rect">
            <a:avLst/>
          </a:prstGeom>
          <a:noFill/>
        </p:spPr>
        <p:txBody>
          <a:bodyPr wrap="square">
            <a:spAutoFit/>
          </a:bodyPr>
          <a:lstStyle/>
          <a:p>
            <a:pPr algn="l"/>
            <a:r>
              <a:rPr sz="1100" b="1" i="0">
                <a:solidFill>
                  <a:srgbClr val="0B1F3A"/>
                </a:solidFill>
              </a:rPr>
              <a:t>Open 24/7</a:t>
            </a:r>
          </a:p>
        </p:txBody>
      </p:sp>
      <p:sp>
        <p:nvSpPr>
          <p:cNvPr id="10" name="TextBox 9"/>
          <p:cNvSpPr txBox="1"/>
          <p:nvPr/>
        </p:nvSpPr>
        <p:spPr>
          <a:xfrm>
            <a:off x="493776" y="2734056"/>
            <a:ext cx="4114800" cy="822960"/>
          </a:xfrm>
          <a:prstGeom prst="rect">
            <a:avLst/>
          </a:prstGeom>
          <a:noFill/>
        </p:spPr>
        <p:txBody>
          <a:bodyPr wrap="square">
            <a:spAutoFit/>
          </a:bodyPr>
          <a:lstStyle/>
          <a:p>
            <a:pPr algn="l"/>
            <a:r>
              <a:rPr sz="1000" b="0" i="0">
                <a:solidFill>
                  <a:srgbClr val="4B5563"/>
                </a:solidFill>
              </a:rPr>
              <a:t>Your store is visible and active on BiziBid even when your doors are closed. Customers browse your products at midnight, on weekends, on public holidays.</a:t>
            </a:r>
          </a:p>
        </p:txBody>
      </p:sp>
      <p:sp>
        <p:nvSpPr>
          <p:cNvPr id="11" name="Rectangle 10"/>
          <p:cNvSpPr/>
          <p:nvPr/>
        </p:nvSpPr>
        <p:spPr>
          <a:xfrm>
            <a:off x="4983480" y="2331720"/>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983480" y="2331720"/>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2423160"/>
            <a:ext cx="4114800" cy="292608"/>
          </a:xfrm>
          <a:prstGeom prst="rect">
            <a:avLst/>
          </a:prstGeom>
          <a:noFill/>
        </p:spPr>
        <p:txBody>
          <a:bodyPr wrap="square">
            <a:spAutoFit/>
          </a:bodyPr>
          <a:lstStyle/>
          <a:p>
            <a:pPr algn="l"/>
            <a:r>
              <a:rPr sz="1100" b="1" i="0">
                <a:solidFill>
                  <a:srgbClr val="0B1F3A"/>
                </a:solidFill>
              </a:rPr>
              <a:t>Not just a sale — an experience</a:t>
            </a:r>
          </a:p>
        </p:txBody>
      </p:sp>
      <p:sp>
        <p:nvSpPr>
          <p:cNvPr id="14" name="TextBox 13"/>
          <p:cNvSpPr txBox="1"/>
          <p:nvPr/>
        </p:nvSpPr>
        <p:spPr>
          <a:xfrm>
            <a:off x="5111496" y="2734056"/>
            <a:ext cx="4114800" cy="822960"/>
          </a:xfrm>
          <a:prstGeom prst="rect">
            <a:avLst/>
          </a:prstGeom>
          <a:noFill/>
        </p:spPr>
        <p:txBody>
          <a:bodyPr wrap="square">
            <a:spAutoFit/>
          </a:bodyPr>
          <a:lstStyle/>
          <a:p>
            <a:pPr algn="l"/>
            <a:r>
              <a:rPr sz="1000" b="0" i="0">
                <a:solidFill>
                  <a:srgbClr val="4B5563"/>
                </a:solidFill>
              </a:rPr>
              <a:t>Customers don't just buy from BiziBid. They follow your store, they watch your auctions, they share your deals, and they talk about you. That is brand building.</a:t>
            </a:r>
          </a:p>
        </p:txBody>
      </p:sp>
      <p:sp>
        <p:nvSpPr>
          <p:cNvPr id="15" name="Rectangle 14"/>
          <p:cNvSpPr/>
          <p:nvPr/>
        </p:nvSpPr>
        <p:spPr>
          <a:xfrm>
            <a:off x="365760" y="3749039"/>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5760" y="3749039"/>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3840479"/>
            <a:ext cx="4114800" cy="292608"/>
          </a:xfrm>
          <a:prstGeom prst="rect">
            <a:avLst/>
          </a:prstGeom>
          <a:noFill/>
        </p:spPr>
        <p:txBody>
          <a:bodyPr wrap="square">
            <a:spAutoFit/>
          </a:bodyPr>
          <a:lstStyle/>
          <a:p>
            <a:pPr algn="l"/>
            <a:r>
              <a:rPr sz="1100" b="1" i="0">
                <a:solidFill>
                  <a:srgbClr val="0B1F3A"/>
                </a:solidFill>
              </a:rPr>
              <a:t>A daily digital billboard</a:t>
            </a:r>
          </a:p>
        </p:txBody>
      </p:sp>
      <p:sp>
        <p:nvSpPr>
          <p:cNvPr id="18" name="TextBox 17"/>
          <p:cNvSpPr txBox="1"/>
          <p:nvPr/>
        </p:nvSpPr>
        <p:spPr>
          <a:xfrm>
            <a:off x="493776" y="4151376"/>
            <a:ext cx="4114800" cy="822960"/>
          </a:xfrm>
          <a:prstGeom prst="rect">
            <a:avLst/>
          </a:prstGeom>
          <a:noFill/>
        </p:spPr>
        <p:txBody>
          <a:bodyPr wrap="square">
            <a:spAutoFit/>
          </a:bodyPr>
          <a:lstStyle/>
          <a:p>
            <a:pPr algn="l"/>
            <a:r>
              <a:rPr sz="1000" b="0" i="0">
                <a:solidFill>
                  <a:srgbClr val="4B5563"/>
                </a:solidFill>
              </a:rPr>
              <a:t>Your store logo sits on every registered customer's phone home screen. No billboard, no newspaper ad, no social post delivers that kind of daily reach at this price.</a:t>
            </a:r>
          </a:p>
        </p:txBody>
      </p:sp>
      <p:sp>
        <p:nvSpPr>
          <p:cNvPr id="19" name="Rectangle 18"/>
          <p:cNvSpPr/>
          <p:nvPr/>
        </p:nvSpPr>
        <p:spPr>
          <a:xfrm>
            <a:off x="4983480" y="3749039"/>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83480" y="3749039"/>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11496" y="3840479"/>
            <a:ext cx="4114800" cy="292608"/>
          </a:xfrm>
          <a:prstGeom prst="rect">
            <a:avLst/>
          </a:prstGeom>
          <a:noFill/>
        </p:spPr>
        <p:txBody>
          <a:bodyPr wrap="square">
            <a:spAutoFit/>
          </a:bodyPr>
          <a:lstStyle/>
          <a:p>
            <a:pPr algn="l"/>
            <a:r>
              <a:rPr sz="1100" b="1" i="0">
                <a:solidFill>
                  <a:srgbClr val="0B1F3A"/>
                </a:solidFill>
              </a:rPr>
              <a:t>Customer loyalty, digitally</a:t>
            </a:r>
          </a:p>
        </p:txBody>
      </p:sp>
      <p:sp>
        <p:nvSpPr>
          <p:cNvPr id="22" name="TextBox 21"/>
          <p:cNvSpPr txBox="1"/>
          <p:nvPr/>
        </p:nvSpPr>
        <p:spPr>
          <a:xfrm>
            <a:off x="5111496" y="4151376"/>
            <a:ext cx="4114800" cy="822960"/>
          </a:xfrm>
          <a:prstGeom prst="rect">
            <a:avLst/>
          </a:prstGeom>
          <a:noFill/>
        </p:spPr>
        <p:txBody>
          <a:bodyPr wrap="square">
            <a:spAutoFit/>
          </a:bodyPr>
          <a:lstStyle/>
          <a:p>
            <a:pPr algn="l"/>
            <a:r>
              <a:rPr sz="1000" b="0" i="0">
                <a:solidFill>
                  <a:srgbClr val="4B5563"/>
                </a:solidFill>
              </a:rPr>
              <a:t>When a customer pins your store, sets a notification, and bids week after week — that is a loyal customer. BiziBid builds that relationship for you automatically.</a:t>
            </a:r>
          </a:p>
        </p:txBody>
      </p:sp>
      <p:sp>
        <p:nvSpPr>
          <p:cNvPr id="23" name="Rectangle 22"/>
          <p:cNvSpPr/>
          <p:nvPr/>
        </p:nvSpPr>
        <p:spPr>
          <a:xfrm>
            <a:off x="365760" y="5166360"/>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65760" y="5166360"/>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3776" y="5257800"/>
            <a:ext cx="4114800" cy="292608"/>
          </a:xfrm>
          <a:prstGeom prst="rect">
            <a:avLst/>
          </a:prstGeom>
          <a:noFill/>
        </p:spPr>
        <p:txBody>
          <a:bodyPr wrap="square">
            <a:spAutoFit/>
          </a:bodyPr>
          <a:lstStyle/>
          <a:p>
            <a:pPr algn="l"/>
            <a:r>
              <a:rPr sz="1100" b="1" i="0">
                <a:solidFill>
                  <a:srgbClr val="0B1F3A"/>
                </a:solidFill>
              </a:rPr>
              <a:t>Your competitors are still offline</a:t>
            </a:r>
          </a:p>
        </p:txBody>
      </p:sp>
      <p:sp>
        <p:nvSpPr>
          <p:cNvPr id="26" name="TextBox 25"/>
          <p:cNvSpPr txBox="1"/>
          <p:nvPr/>
        </p:nvSpPr>
        <p:spPr>
          <a:xfrm>
            <a:off x="493776" y="5568696"/>
            <a:ext cx="4114800" cy="822960"/>
          </a:xfrm>
          <a:prstGeom prst="rect">
            <a:avLst/>
          </a:prstGeom>
          <a:noFill/>
        </p:spPr>
        <p:txBody>
          <a:bodyPr wrap="square">
            <a:spAutoFit/>
          </a:bodyPr>
          <a:lstStyle/>
          <a:p>
            <a:pPr algn="l"/>
            <a:r>
              <a:rPr sz="1000" b="0" i="0">
                <a:solidFill>
                  <a:srgbClr val="4B5563"/>
                </a:solidFill>
              </a:rPr>
              <a:t>Most Barbados retail stores have no meaningful digital presence. BiziBid makes your store the digital leader in your category before your rivals even react.</a:t>
            </a:r>
          </a:p>
        </p:txBody>
      </p:sp>
      <p:sp>
        <p:nvSpPr>
          <p:cNvPr id="27" name="Rectangle 26"/>
          <p:cNvSpPr/>
          <p:nvPr/>
        </p:nvSpPr>
        <p:spPr>
          <a:xfrm>
            <a:off x="4983480" y="5166360"/>
            <a:ext cx="4389120" cy="129844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983480" y="5166360"/>
            <a:ext cx="45720"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111496" y="5257800"/>
            <a:ext cx="4114800" cy="292608"/>
          </a:xfrm>
          <a:prstGeom prst="rect">
            <a:avLst/>
          </a:prstGeom>
          <a:noFill/>
        </p:spPr>
        <p:txBody>
          <a:bodyPr wrap="square">
            <a:spAutoFit/>
          </a:bodyPr>
          <a:lstStyle/>
          <a:p>
            <a:pPr algn="l"/>
            <a:r>
              <a:rPr sz="1100" b="1" i="0">
                <a:solidFill>
                  <a:srgbClr val="0B1F3A"/>
                </a:solidFill>
              </a:rPr>
              <a:t>The app is your voice</a:t>
            </a:r>
          </a:p>
        </p:txBody>
      </p:sp>
      <p:sp>
        <p:nvSpPr>
          <p:cNvPr id="30" name="TextBox 29"/>
          <p:cNvSpPr txBox="1"/>
          <p:nvPr/>
        </p:nvSpPr>
        <p:spPr>
          <a:xfrm>
            <a:off x="5111496" y="5568696"/>
            <a:ext cx="4114800" cy="822960"/>
          </a:xfrm>
          <a:prstGeom prst="rect">
            <a:avLst/>
          </a:prstGeom>
          <a:noFill/>
        </p:spPr>
        <p:txBody>
          <a:bodyPr wrap="square">
            <a:spAutoFit/>
          </a:bodyPr>
          <a:lstStyle/>
          <a:p>
            <a:pPr algn="l"/>
            <a:r>
              <a:rPr sz="1000" b="0" i="0">
                <a:solidFill>
                  <a:srgbClr val="4B5563"/>
                </a:solidFill>
              </a:rPr>
              <a:t>Every auction, every deal, every share is your brand speaking to customers. BiziBid gives your brand a voice that never goes silent.</a:t>
            </a:r>
          </a:p>
        </p:txBody>
      </p:sp>
      <p:sp>
        <p:nvSpPr>
          <p:cNvPr id="31" name="Rectangle 30"/>
          <p:cNvSpPr/>
          <p:nvPr/>
        </p:nvSpPr>
        <p:spPr>
          <a:xfrm>
            <a:off x="9829800" y="2377440"/>
            <a:ext cx="1600200" cy="3328416"/>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913010" y="2524658"/>
            <a:ext cx="1433779" cy="3049981"/>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0429170" y="2418661"/>
            <a:ext cx="401458" cy="3238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0457846" y="5661242"/>
            <a:ext cx="344107" cy="1837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913010" y="2524658"/>
            <a:ext cx="1433779" cy="3049981"/>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13010" y="2524658"/>
            <a:ext cx="1433779"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49586" y="2529230"/>
            <a:ext cx="430133" cy="96012"/>
          </a:xfrm>
          <a:prstGeom prst="rect">
            <a:avLst/>
          </a:prstGeom>
          <a:noFill/>
        </p:spPr>
        <p:txBody>
          <a:bodyPr wrap="square">
            <a:spAutoFit/>
          </a:bodyPr>
          <a:lstStyle/>
          <a:p>
            <a:pPr algn="l"/>
            <a:r>
              <a:rPr sz="450" b="1" i="0">
                <a:solidFill>
                  <a:srgbClr val="FFFFFF"/>
                </a:solidFill>
              </a:rPr>
              <a:t>9:41</a:t>
            </a:r>
          </a:p>
        </p:txBody>
      </p:sp>
      <p:sp>
        <p:nvSpPr>
          <p:cNvPr id="38" name="TextBox 37"/>
          <p:cNvSpPr txBox="1"/>
          <p:nvPr/>
        </p:nvSpPr>
        <p:spPr>
          <a:xfrm>
            <a:off x="10701588" y="2529230"/>
            <a:ext cx="616525" cy="96012"/>
          </a:xfrm>
          <a:prstGeom prst="rect">
            <a:avLst/>
          </a:prstGeom>
          <a:noFill/>
        </p:spPr>
        <p:txBody>
          <a:bodyPr wrap="square">
            <a:spAutoFit/>
          </a:bodyPr>
          <a:lstStyle/>
          <a:p>
            <a:pPr algn="r"/>
            <a:r>
              <a:rPr sz="400" b="0" i="0">
                <a:solidFill>
                  <a:srgbClr val="FFFFFF"/>
                </a:solidFill>
              </a:rPr>
              <a:t>|||  100%</a:t>
            </a:r>
          </a:p>
        </p:txBody>
      </p:sp>
      <p:sp>
        <p:nvSpPr>
          <p:cNvPr id="39" name="Rectangle 38"/>
          <p:cNvSpPr/>
          <p:nvPr/>
        </p:nvSpPr>
        <p:spPr>
          <a:xfrm>
            <a:off x="9913010" y="2620670"/>
            <a:ext cx="1433779"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40442" y="2657246"/>
            <a:ext cx="1378915" cy="141731"/>
          </a:xfrm>
          <a:prstGeom prst="rect">
            <a:avLst/>
          </a:prstGeom>
          <a:noFill/>
        </p:spPr>
        <p:txBody>
          <a:bodyPr wrap="square">
            <a:spAutoFit/>
          </a:bodyPr>
          <a:lstStyle/>
          <a:p>
            <a:pPr algn="ctr"/>
            <a:r>
              <a:rPr sz="650" b="1" i="0">
                <a:solidFill>
                  <a:srgbClr val="0A0A0A"/>
                </a:solidFill>
              </a:rPr>
              <a:t>BiziBid</a:t>
            </a:r>
          </a:p>
        </p:txBody>
      </p:sp>
      <p:sp>
        <p:nvSpPr>
          <p:cNvPr id="41" name="Rectangle 40"/>
          <p:cNvSpPr/>
          <p:nvPr/>
        </p:nvSpPr>
        <p:spPr>
          <a:xfrm>
            <a:off x="9913010" y="2808122"/>
            <a:ext cx="1433779" cy="2766517"/>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913010" y="28190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55016" y="2881577"/>
            <a:ext cx="426018" cy="343655"/>
          </a:xfrm>
          <a:prstGeom prst="rect">
            <a:avLst/>
          </a:prstGeom>
          <a:noFill/>
        </p:spPr>
        <p:txBody>
          <a:bodyPr wrap="square">
            <a:spAutoFit/>
          </a:bodyPr>
          <a:lstStyle/>
          <a:p>
            <a:pPr algn="ctr"/>
            <a:r>
              <a:rPr sz="800" b="1" i="0">
                <a:solidFill>
                  <a:srgbClr val="C9A84C"/>
                </a:solidFill>
              </a:rPr>
              <a:t>M</a:t>
            </a:r>
          </a:p>
        </p:txBody>
      </p:sp>
      <p:sp>
        <p:nvSpPr>
          <p:cNvPr id="44" name="TextBox 43"/>
          <p:cNvSpPr txBox="1"/>
          <p:nvPr/>
        </p:nvSpPr>
        <p:spPr>
          <a:xfrm>
            <a:off x="9922154" y="3243978"/>
            <a:ext cx="691743" cy="174951"/>
          </a:xfrm>
          <a:prstGeom prst="rect">
            <a:avLst/>
          </a:prstGeom>
          <a:noFill/>
        </p:spPr>
        <p:txBody>
          <a:bodyPr wrap="square">
            <a:spAutoFit/>
          </a:bodyPr>
          <a:lstStyle/>
          <a:p>
            <a:pPr algn="ctr"/>
            <a:r>
              <a:rPr sz="320" b="0" i="0">
                <a:solidFill>
                  <a:srgbClr val="9CA3AF"/>
                </a:solidFill>
              </a:rPr>
              <a:t>Massy</a:t>
            </a:r>
          </a:p>
        </p:txBody>
      </p:sp>
      <p:sp>
        <p:nvSpPr>
          <p:cNvPr id="45" name="Rectangle 44"/>
          <p:cNvSpPr/>
          <p:nvPr/>
        </p:nvSpPr>
        <p:spPr>
          <a:xfrm>
            <a:off x="10531602" y="2828239"/>
            <a:ext cx="82296"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31602" y="2823667"/>
            <a:ext cx="82296" cy="64008"/>
          </a:xfrm>
          <a:prstGeom prst="rect">
            <a:avLst/>
          </a:prstGeom>
          <a:noFill/>
        </p:spPr>
        <p:txBody>
          <a:bodyPr wrap="square">
            <a:spAutoFit/>
          </a:bodyPr>
          <a:lstStyle/>
          <a:p>
            <a:pPr algn="ctr"/>
            <a:r>
              <a:rPr sz="280" b="1" i="0">
                <a:solidFill>
                  <a:srgbClr val="FFFFFF"/>
                </a:solidFill>
              </a:rPr>
              <a:t>3</a:t>
            </a:r>
          </a:p>
        </p:txBody>
      </p:sp>
      <p:sp>
        <p:nvSpPr>
          <p:cNvPr id="47" name="Rectangle 46"/>
          <p:cNvSpPr/>
          <p:nvPr/>
        </p:nvSpPr>
        <p:spPr>
          <a:xfrm>
            <a:off x="10634014" y="28190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776021" y="2881577"/>
            <a:ext cx="426018" cy="343655"/>
          </a:xfrm>
          <a:prstGeom prst="rect">
            <a:avLst/>
          </a:prstGeom>
          <a:noFill/>
        </p:spPr>
        <p:txBody>
          <a:bodyPr wrap="square">
            <a:spAutoFit/>
          </a:bodyPr>
          <a:lstStyle/>
          <a:p>
            <a:pPr algn="ctr"/>
            <a:r>
              <a:rPr sz="800" b="1" i="0">
                <a:solidFill>
                  <a:srgbClr val="C9A84C"/>
                </a:solidFill>
              </a:rPr>
              <a:t>C</a:t>
            </a:r>
          </a:p>
        </p:txBody>
      </p:sp>
      <p:sp>
        <p:nvSpPr>
          <p:cNvPr id="49" name="TextBox 48"/>
          <p:cNvSpPr txBox="1"/>
          <p:nvPr/>
        </p:nvSpPr>
        <p:spPr>
          <a:xfrm>
            <a:off x="10643158" y="3243978"/>
            <a:ext cx="691743" cy="174951"/>
          </a:xfrm>
          <a:prstGeom prst="rect">
            <a:avLst/>
          </a:prstGeom>
          <a:noFill/>
        </p:spPr>
        <p:txBody>
          <a:bodyPr wrap="square">
            <a:spAutoFit/>
          </a:bodyPr>
          <a:lstStyle/>
          <a:p>
            <a:pPr algn="ctr"/>
            <a:r>
              <a:rPr sz="320" b="0" i="0">
                <a:solidFill>
                  <a:srgbClr val="9CA3AF"/>
                </a:solidFill>
              </a:rPr>
              <a:t>Carters</a:t>
            </a:r>
          </a:p>
        </p:txBody>
      </p:sp>
      <p:sp>
        <p:nvSpPr>
          <p:cNvPr id="50" name="Rectangle 49"/>
          <p:cNvSpPr/>
          <p:nvPr/>
        </p:nvSpPr>
        <p:spPr>
          <a:xfrm>
            <a:off x="9913010" y="34548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55016" y="3517378"/>
            <a:ext cx="426018" cy="343655"/>
          </a:xfrm>
          <a:prstGeom prst="rect">
            <a:avLst/>
          </a:prstGeom>
          <a:noFill/>
        </p:spPr>
        <p:txBody>
          <a:bodyPr wrap="square">
            <a:spAutoFit/>
          </a:bodyPr>
          <a:lstStyle/>
          <a:p>
            <a:pPr algn="ctr"/>
            <a:r>
              <a:rPr sz="800" b="1" i="0">
                <a:solidFill>
                  <a:srgbClr val="C9A84C"/>
                </a:solidFill>
              </a:rPr>
              <a:t>H</a:t>
            </a:r>
          </a:p>
        </p:txBody>
      </p:sp>
      <p:sp>
        <p:nvSpPr>
          <p:cNvPr id="52" name="TextBox 51"/>
          <p:cNvSpPr txBox="1"/>
          <p:nvPr/>
        </p:nvSpPr>
        <p:spPr>
          <a:xfrm>
            <a:off x="9922154" y="3879778"/>
            <a:ext cx="691743" cy="174951"/>
          </a:xfrm>
          <a:prstGeom prst="rect">
            <a:avLst/>
          </a:prstGeom>
          <a:noFill/>
        </p:spPr>
        <p:txBody>
          <a:bodyPr wrap="square">
            <a:spAutoFit/>
          </a:bodyPr>
          <a:lstStyle/>
          <a:p>
            <a:pPr algn="ctr"/>
            <a:r>
              <a:rPr sz="320" b="0" i="0">
                <a:solidFill>
                  <a:srgbClr val="9CA3AF"/>
                </a:solidFill>
              </a:rPr>
              <a:t>H&amp;B</a:t>
            </a:r>
          </a:p>
        </p:txBody>
      </p:sp>
      <p:sp>
        <p:nvSpPr>
          <p:cNvPr id="53" name="Rectangle 52"/>
          <p:cNvSpPr/>
          <p:nvPr/>
        </p:nvSpPr>
        <p:spPr>
          <a:xfrm>
            <a:off x="10531602" y="3464039"/>
            <a:ext cx="82296" cy="6400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531602" y="3459467"/>
            <a:ext cx="82296" cy="64008"/>
          </a:xfrm>
          <a:prstGeom prst="rect">
            <a:avLst/>
          </a:prstGeom>
          <a:noFill/>
        </p:spPr>
        <p:txBody>
          <a:bodyPr wrap="square">
            <a:spAutoFit/>
          </a:bodyPr>
          <a:lstStyle/>
          <a:p>
            <a:pPr algn="ctr"/>
            <a:r>
              <a:rPr sz="280" b="1" i="0">
                <a:solidFill>
                  <a:srgbClr val="FFFFFF"/>
                </a:solidFill>
              </a:rPr>
              <a:t>1</a:t>
            </a:r>
          </a:p>
        </p:txBody>
      </p:sp>
      <p:sp>
        <p:nvSpPr>
          <p:cNvPr id="55" name="Rectangle 54"/>
          <p:cNvSpPr/>
          <p:nvPr/>
        </p:nvSpPr>
        <p:spPr>
          <a:xfrm>
            <a:off x="10634014" y="34548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776021" y="3517378"/>
            <a:ext cx="426018" cy="343655"/>
          </a:xfrm>
          <a:prstGeom prst="rect">
            <a:avLst/>
          </a:prstGeom>
          <a:noFill/>
        </p:spPr>
        <p:txBody>
          <a:bodyPr wrap="square">
            <a:spAutoFit/>
          </a:bodyPr>
          <a:lstStyle/>
          <a:p>
            <a:pPr algn="ctr"/>
            <a:r>
              <a:rPr sz="800" b="1" i="0">
                <a:solidFill>
                  <a:srgbClr val="C9A84C"/>
                </a:solidFill>
              </a:rPr>
              <a:t>P</a:t>
            </a:r>
          </a:p>
        </p:txBody>
      </p:sp>
      <p:sp>
        <p:nvSpPr>
          <p:cNvPr id="57" name="TextBox 56"/>
          <p:cNvSpPr txBox="1"/>
          <p:nvPr/>
        </p:nvSpPr>
        <p:spPr>
          <a:xfrm>
            <a:off x="10643158" y="3879778"/>
            <a:ext cx="691743" cy="174951"/>
          </a:xfrm>
          <a:prstGeom prst="rect">
            <a:avLst/>
          </a:prstGeom>
          <a:noFill/>
        </p:spPr>
        <p:txBody>
          <a:bodyPr wrap="square">
            <a:spAutoFit/>
          </a:bodyPr>
          <a:lstStyle/>
          <a:p>
            <a:pPr algn="ctr"/>
            <a:r>
              <a:rPr sz="320" b="0" i="0">
                <a:solidFill>
                  <a:srgbClr val="9CA3AF"/>
                </a:solidFill>
              </a:rPr>
              <a:t>Price-R</a:t>
            </a:r>
          </a:p>
        </p:txBody>
      </p:sp>
      <p:sp>
        <p:nvSpPr>
          <p:cNvPr id="58" name="TextBox 57"/>
          <p:cNvSpPr txBox="1"/>
          <p:nvPr/>
        </p:nvSpPr>
        <p:spPr>
          <a:xfrm>
            <a:off x="9784080" y="5769864"/>
            <a:ext cx="1691640" cy="182880"/>
          </a:xfrm>
          <a:prstGeom prst="rect">
            <a:avLst/>
          </a:prstGeom>
          <a:noFill/>
        </p:spPr>
        <p:txBody>
          <a:bodyPr wrap="square">
            <a:spAutoFit/>
          </a:bodyPr>
          <a:lstStyle/>
          <a:p>
            <a:pPr algn="ctr"/>
            <a:r>
              <a:rPr sz="600" b="1" i="0">
                <a:solidFill>
                  <a:srgbClr val="C9A84C"/>
                </a:solidFill>
              </a:rPr>
              <a:t>Your brand on every customer's phone</a:t>
            </a:r>
          </a:p>
        </p:txBody>
      </p:sp>
      <p:sp>
        <p:nvSpPr>
          <p:cNvPr id="59" name="TextBox 58"/>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9 / 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FEATURE — AUCTIONS</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Live Auctions — Excitement That Sells</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Customers compete in real-time for your products. The excitement keeps them engaged and coming back.</a:t>
            </a:r>
          </a:p>
        </p:txBody>
      </p:sp>
      <p:sp>
        <p:nvSpPr>
          <p:cNvPr id="7" name="TextBox 6"/>
          <p:cNvSpPr txBox="1"/>
          <p:nvPr/>
        </p:nvSpPr>
        <p:spPr>
          <a:xfrm>
            <a:off x="457200" y="2331720"/>
            <a:ext cx="5486400" cy="3840480"/>
          </a:xfrm>
          <a:prstGeom prst="rect">
            <a:avLst/>
          </a:prstGeom>
          <a:noFill/>
        </p:spPr>
        <p:txBody>
          <a:bodyPr wrap="square">
            <a:spAutoFit/>
          </a:bodyPr>
          <a:lstStyle/>
          <a:p>
            <a:pPr>
              <a:spcBef>
                <a:spcPts val="500"/>
              </a:spcBef>
            </a:pPr>
            <a:r>
              <a:rPr sz="1300">
                <a:solidFill>
                  <a:srgbClr val="0A0A0A"/>
                </a:solidFill>
              </a:rPr>
              <a:t>▶  You upload products with a starting bid price (set below shelf price)</a:t>
            </a:r>
          </a:p>
          <a:p>
            <a:pPr>
              <a:spcBef>
                <a:spcPts val="500"/>
              </a:spcBef>
            </a:pPr>
            <a:r>
              <a:rPr sz="1300">
                <a:solidFill>
                  <a:srgbClr val="0A0A0A"/>
                </a:solidFill>
              </a:rPr>
              <a:t>▶  Up to 25 items per week rotate through the platform automatically</a:t>
            </a:r>
          </a:p>
          <a:p>
            <a:pPr>
              <a:spcBef>
                <a:spcPts val="500"/>
              </a:spcBef>
            </a:pPr>
            <a:r>
              <a:rPr sz="1300">
                <a:solidFill>
                  <a:srgbClr val="0A0A0A"/>
                </a:solidFill>
              </a:rPr>
              <a:t>▶  5 new items are released each day at varied morning hours — customers check in daily</a:t>
            </a:r>
          </a:p>
          <a:p>
            <a:pPr>
              <a:spcBef>
                <a:spcPts val="500"/>
              </a:spcBef>
            </a:pPr>
            <a:r>
              <a:rPr sz="1300">
                <a:solidFill>
                  <a:srgbClr val="0A0A0A"/>
                </a:solidFill>
              </a:rPr>
              <a:t>▶  Auctions run for 3, 7, or 14 days depending on the item</a:t>
            </a:r>
          </a:p>
          <a:p>
            <a:pPr>
              <a:spcBef>
                <a:spcPts val="500"/>
              </a:spcBef>
            </a:pPr>
            <a:r>
              <a:rPr sz="1300">
                <a:solidFill>
                  <a:srgbClr val="0A0A0A"/>
                </a:solidFill>
              </a:rPr>
              <a:t>▶  Real-time bidding — customers see bids update live on their screen</a:t>
            </a:r>
          </a:p>
          <a:p>
            <a:pPr>
              <a:spcBef>
                <a:spcPts val="500"/>
              </a:spcBef>
            </a:pPr>
            <a:r>
              <a:rPr sz="1300">
                <a:solidFill>
                  <a:srgbClr val="0A0A0A"/>
                </a:solidFill>
              </a:rPr>
              <a:t>▶  Unsold items re-enter the rotation for the following week automatically</a:t>
            </a:r>
          </a:p>
        </p:txBody>
      </p:sp>
      <p:sp>
        <p:nvSpPr>
          <p:cNvPr id="8" name="Rectangle 7"/>
          <p:cNvSpPr/>
          <p:nvPr/>
        </p:nvSpPr>
        <p:spPr>
          <a:xfrm>
            <a:off x="6400800" y="2331720"/>
            <a:ext cx="5303520" cy="38404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0" y="2331720"/>
            <a:ext cx="5303520"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423160"/>
            <a:ext cx="4937760" cy="411480"/>
          </a:xfrm>
          <a:prstGeom prst="rect">
            <a:avLst/>
          </a:prstGeom>
          <a:noFill/>
        </p:spPr>
        <p:txBody>
          <a:bodyPr wrap="square">
            <a:spAutoFit/>
          </a:bodyPr>
          <a:lstStyle/>
          <a:p>
            <a:pPr algn="l"/>
            <a:r>
              <a:rPr sz="1300" b="1" i="0">
                <a:solidFill>
                  <a:srgbClr val="C9A84C"/>
                </a:solidFill>
              </a:rPr>
              <a:t>When a Customer Wins</a:t>
            </a:r>
          </a:p>
        </p:txBody>
      </p:sp>
      <p:sp>
        <p:nvSpPr>
          <p:cNvPr id="11" name="TextBox 10"/>
          <p:cNvSpPr txBox="1"/>
          <p:nvPr/>
        </p:nvSpPr>
        <p:spPr>
          <a:xfrm>
            <a:off x="6583680" y="2926080"/>
            <a:ext cx="4846320" cy="3017520"/>
          </a:xfrm>
          <a:prstGeom prst="rect">
            <a:avLst/>
          </a:prstGeom>
          <a:noFill/>
        </p:spPr>
        <p:txBody>
          <a:bodyPr wrap="square">
            <a:spAutoFit/>
          </a:bodyPr>
          <a:lstStyle/>
          <a:p>
            <a:pPr>
              <a:spcBef>
                <a:spcPts val="500"/>
              </a:spcBef>
            </a:pPr>
            <a:r>
              <a:rPr sz="1200">
                <a:solidFill>
                  <a:srgbClr val="FFFFFF"/>
                </a:solidFill>
              </a:rPr>
              <a:t>1  Auction closes — winner is confirmed</a:t>
            </a:r>
          </a:p>
          <a:p>
            <a:pPr>
              <a:spcBef>
                <a:spcPts val="500"/>
              </a:spcBef>
            </a:pPr>
            <a:r>
              <a:rPr sz="1200">
                <a:solidFill>
                  <a:srgbClr val="FFFFFF"/>
                </a:solidFill>
              </a:rPr>
              <a:t>2  A unique collection code is generated</a:t>
            </a:r>
          </a:p>
          <a:p>
            <a:pPr>
              <a:spcBef>
                <a:spcPts val="500"/>
              </a:spcBef>
            </a:pPr>
            <a:r>
              <a:rPr sz="1200">
                <a:solidFill>
                  <a:srgbClr val="FFFFFF"/>
                </a:solidFill>
              </a:rPr>
              <a:t>3  Winner receives code on their phone</a:t>
            </a:r>
          </a:p>
          <a:p>
            <a:pPr>
              <a:spcBef>
                <a:spcPts val="500"/>
              </a:spcBef>
            </a:pPr>
            <a:r>
              <a:rPr sz="1200">
                <a:solidFill>
                  <a:srgbClr val="FFFFFF"/>
                </a:solidFill>
              </a:rPr>
              <a:t>4  Winner visits your store and shows code to cashier</a:t>
            </a:r>
          </a:p>
          <a:p>
            <a:pPr>
              <a:spcBef>
                <a:spcPts val="500"/>
              </a:spcBef>
            </a:pPr>
            <a:r>
              <a:rPr sz="1200">
                <a:solidFill>
                  <a:srgbClr val="FFFFFF"/>
                </a:solidFill>
              </a:rPr>
              <a:t>5  Cashier confirms the code — item is collected</a:t>
            </a:r>
          </a:p>
          <a:p>
            <a:pPr>
              <a:spcBef>
                <a:spcPts val="500"/>
              </a:spcBef>
            </a:pPr>
            <a:r>
              <a:rPr sz="1200">
                <a:solidFill>
                  <a:srgbClr val="FFFFFF"/>
                </a:solidFill>
              </a:rPr>
              <a:t>6  Record of the sale is stored in your portal</a:t>
            </a:r>
          </a:p>
        </p:txBody>
      </p:sp>
      <p:sp>
        <p:nvSpPr>
          <p:cNvPr id="12" name="TextBox 11"/>
          <p:cNvSpPr txBox="1"/>
          <p:nvPr/>
        </p:nvSpPr>
        <p:spPr>
          <a:xfrm>
            <a:off x="6583680" y="5806440"/>
            <a:ext cx="4846320" cy="347472"/>
          </a:xfrm>
          <a:prstGeom prst="rect">
            <a:avLst/>
          </a:prstGeom>
          <a:noFill/>
        </p:spPr>
        <p:txBody>
          <a:bodyPr wrap="square">
            <a:spAutoFit/>
          </a:bodyPr>
          <a:lstStyle/>
          <a:p>
            <a:pPr algn="l"/>
            <a:r>
              <a:rPr sz="1000" b="0" i="1">
                <a:solidFill>
                  <a:srgbClr val="9CA3AF"/>
                </a:solidFill>
              </a:rPr>
              <a:t>No online payment needed — all purchases are cash in-store.</a:t>
            </a:r>
          </a:p>
        </p:txBody>
      </p:sp>
      <p:sp>
        <p:nvSpPr>
          <p:cNvPr id="13" name="TextBox 12"/>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10 /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YOUR BACK-OFFICE — BIZIBID.COM</a:t>
            </a:r>
          </a:p>
        </p:txBody>
      </p:sp>
      <p:sp>
        <p:nvSpPr>
          <p:cNvPr id="5" name="TextBox 4"/>
          <p:cNvSpPr txBox="1"/>
          <p:nvPr/>
        </p:nvSpPr>
        <p:spPr>
          <a:xfrm>
            <a:off x="457200" y="1325880"/>
            <a:ext cx="9418320" cy="777240"/>
          </a:xfrm>
          <a:prstGeom prst="rect">
            <a:avLst/>
          </a:prstGeom>
          <a:noFill/>
        </p:spPr>
        <p:txBody>
          <a:bodyPr wrap="square">
            <a:spAutoFit/>
          </a:bodyPr>
          <a:lstStyle/>
          <a:p>
            <a:pPr algn="l"/>
            <a:r>
              <a:rPr sz="3000" b="1" i="0">
                <a:solidFill>
                  <a:srgbClr val="0A0A0A"/>
                </a:solidFill>
              </a:rPr>
              <a:t>Your Private Management Portal</a:t>
            </a:r>
          </a:p>
        </p:txBody>
      </p:sp>
      <p:sp>
        <p:nvSpPr>
          <p:cNvPr id="6" name="TextBox 5"/>
          <p:cNvSpPr txBox="1"/>
          <p:nvPr/>
        </p:nvSpPr>
        <p:spPr>
          <a:xfrm>
            <a:off x="457200" y="1920240"/>
            <a:ext cx="9418320" cy="411480"/>
          </a:xfrm>
          <a:prstGeom prst="rect">
            <a:avLst/>
          </a:prstGeom>
          <a:noFill/>
        </p:spPr>
        <p:txBody>
          <a:bodyPr wrap="square">
            <a:spAutoFit/>
          </a:bodyPr>
          <a:lstStyle/>
          <a:p>
            <a:pPr algn="l"/>
            <a:r>
              <a:rPr sz="1500" b="0" i="0">
                <a:solidFill>
                  <a:srgbClr val="4B5563"/>
                </a:solidFill>
              </a:rPr>
              <a:t>Log in at BiziBid.com to manage your entire BiziBid presence — available 24/7 from any browser.</a:t>
            </a:r>
          </a:p>
        </p:txBody>
      </p:sp>
      <p:sp>
        <p:nvSpPr>
          <p:cNvPr id="7" name="Rectangle 6"/>
          <p:cNvSpPr/>
          <p:nvPr/>
        </p:nvSpPr>
        <p:spPr>
          <a:xfrm>
            <a:off x="320040" y="2331720"/>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2331720"/>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8" y="2441448"/>
            <a:ext cx="457200" cy="411480"/>
          </a:xfrm>
          <a:prstGeom prst="rect">
            <a:avLst/>
          </a:prstGeom>
          <a:noFill/>
        </p:spPr>
        <p:txBody>
          <a:bodyPr wrap="square">
            <a:spAutoFit/>
          </a:bodyPr>
          <a:lstStyle/>
          <a:p>
            <a:pPr algn="l"/>
            <a:r>
              <a:rPr sz="2000" b="0" i="0">
                <a:solidFill>
                  <a:srgbClr val="C9A84C"/>
                </a:solidFill>
              </a:rPr>
              <a:t>★</a:t>
            </a:r>
          </a:p>
        </p:txBody>
      </p:sp>
      <p:sp>
        <p:nvSpPr>
          <p:cNvPr id="10" name="TextBox 9"/>
          <p:cNvSpPr txBox="1"/>
          <p:nvPr/>
        </p:nvSpPr>
        <p:spPr>
          <a:xfrm>
            <a:off x="914400" y="2441448"/>
            <a:ext cx="2212848" cy="347472"/>
          </a:xfrm>
          <a:prstGeom prst="rect">
            <a:avLst/>
          </a:prstGeom>
          <a:noFill/>
        </p:spPr>
        <p:txBody>
          <a:bodyPr wrap="square">
            <a:spAutoFit/>
          </a:bodyPr>
          <a:lstStyle/>
          <a:p>
            <a:pPr algn="l"/>
            <a:r>
              <a:rPr sz="1200" b="1" i="0">
                <a:solidFill>
                  <a:srgbClr val="0A0A0A"/>
                </a:solidFill>
              </a:rPr>
              <a:t>Bulk Product Upload</a:t>
            </a:r>
          </a:p>
        </p:txBody>
      </p:sp>
      <p:sp>
        <p:nvSpPr>
          <p:cNvPr id="11" name="TextBox 10"/>
          <p:cNvSpPr txBox="1"/>
          <p:nvPr/>
        </p:nvSpPr>
        <p:spPr>
          <a:xfrm>
            <a:off x="429768" y="2862072"/>
            <a:ext cx="2715768" cy="987552"/>
          </a:xfrm>
          <a:prstGeom prst="rect">
            <a:avLst/>
          </a:prstGeom>
          <a:noFill/>
        </p:spPr>
        <p:txBody>
          <a:bodyPr wrap="square">
            <a:spAutoFit/>
          </a:bodyPr>
          <a:lstStyle/>
          <a:p>
            <a:pPr algn="l"/>
            <a:r>
              <a:rPr sz="1000" b="0" i="0">
                <a:solidFill>
                  <a:srgbClr val="4B5563"/>
                </a:solidFill>
              </a:rPr>
              <a:t>Upload multiple products at once with images, descriptions, and your starting bid price. No technical knowledge required.</a:t>
            </a:r>
          </a:p>
        </p:txBody>
      </p:sp>
      <p:sp>
        <p:nvSpPr>
          <p:cNvPr id="12" name="Rectangle 11"/>
          <p:cNvSpPr/>
          <p:nvPr/>
        </p:nvSpPr>
        <p:spPr>
          <a:xfrm>
            <a:off x="3447288" y="2331720"/>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7288" y="2331720"/>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57016" y="2441448"/>
            <a:ext cx="457200" cy="411480"/>
          </a:xfrm>
          <a:prstGeom prst="rect">
            <a:avLst/>
          </a:prstGeom>
          <a:noFill/>
        </p:spPr>
        <p:txBody>
          <a:bodyPr wrap="square">
            <a:spAutoFit/>
          </a:bodyPr>
          <a:lstStyle/>
          <a:p>
            <a:pPr algn="l"/>
            <a:r>
              <a:rPr sz="2000" b="0" i="0">
                <a:solidFill>
                  <a:srgbClr val="C9A84C"/>
                </a:solidFill>
              </a:rPr>
              <a:t>★</a:t>
            </a:r>
          </a:p>
        </p:txBody>
      </p:sp>
      <p:sp>
        <p:nvSpPr>
          <p:cNvPr id="15" name="TextBox 14"/>
          <p:cNvSpPr txBox="1"/>
          <p:nvPr/>
        </p:nvSpPr>
        <p:spPr>
          <a:xfrm>
            <a:off x="4041648" y="2441448"/>
            <a:ext cx="2212848" cy="347472"/>
          </a:xfrm>
          <a:prstGeom prst="rect">
            <a:avLst/>
          </a:prstGeom>
          <a:noFill/>
        </p:spPr>
        <p:txBody>
          <a:bodyPr wrap="square">
            <a:spAutoFit/>
          </a:bodyPr>
          <a:lstStyle/>
          <a:p>
            <a:pPr algn="l"/>
            <a:r>
              <a:rPr sz="1200" b="1" i="0">
                <a:solidFill>
                  <a:srgbClr val="0A0A0A"/>
                </a:solidFill>
              </a:rPr>
              <a:t>Deals Management</a:t>
            </a:r>
          </a:p>
        </p:txBody>
      </p:sp>
      <p:sp>
        <p:nvSpPr>
          <p:cNvPr id="16" name="TextBox 15"/>
          <p:cNvSpPr txBox="1"/>
          <p:nvPr/>
        </p:nvSpPr>
        <p:spPr>
          <a:xfrm>
            <a:off x="3557016" y="2862072"/>
            <a:ext cx="2715768" cy="987552"/>
          </a:xfrm>
          <a:prstGeom prst="rect">
            <a:avLst/>
          </a:prstGeom>
          <a:noFill/>
        </p:spPr>
        <p:txBody>
          <a:bodyPr wrap="square">
            <a:spAutoFit/>
          </a:bodyPr>
          <a:lstStyle/>
          <a:p>
            <a:pPr algn="l"/>
            <a:r>
              <a:rPr sz="1000" b="0" i="0">
                <a:solidFill>
                  <a:srgbClr val="4B5563"/>
                </a:solidFill>
              </a:rPr>
              <a:t>Create and schedule Deals of the Week and Deals of the Month. Set your own price and valid dates. Activate with one click.</a:t>
            </a:r>
          </a:p>
        </p:txBody>
      </p:sp>
      <p:sp>
        <p:nvSpPr>
          <p:cNvPr id="17" name="Rectangle 16"/>
          <p:cNvSpPr/>
          <p:nvPr/>
        </p:nvSpPr>
        <p:spPr>
          <a:xfrm>
            <a:off x="6574536" y="2331720"/>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74536" y="2331720"/>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4264" y="2441448"/>
            <a:ext cx="457200" cy="411480"/>
          </a:xfrm>
          <a:prstGeom prst="rect">
            <a:avLst/>
          </a:prstGeom>
          <a:noFill/>
        </p:spPr>
        <p:txBody>
          <a:bodyPr wrap="square">
            <a:spAutoFit/>
          </a:bodyPr>
          <a:lstStyle/>
          <a:p>
            <a:pPr algn="l"/>
            <a:r>
              <a:rPr sz="2000" b="0" i="0">
                <a:solidFill>
                  <a:srgbClr val="C9A84C"/>
                </a:solidFill>
              </a:rPr>
              <a:t>★</a:t>
            </a:r>
          </a:p>
        </p:txBody>
      </p:sp>
      <p:sp>
        <p:nvSpPr>
          <p:cNvPr id="20" name="TextBox 19"/>
          <p:cNvSpPr txBox="1"/>
          <p:nvPr/>
        </p:nvSpPr>
        <p:spPr>
          <a:xfrm>
            <a:off x="7168896" y="2441448"/>
            <a:ext cx="2212848" cy="347472"/>
          </a:xfrm>
          <a:prstGeom prst="rect">
            <a:avLst/>
          </a:prstGeom>
          <a:noFill/>
        </p:spPr>
        <p:txBody>
          <a:bodyPr wrap="square">
            <a:spAutoFit/>
          </a:bodyPr>
          <a:lstStyle/>
          <a:p>
            <a:pPr algn="l"/>
            <a:r>
              <a:rPr sz="1200" b="1" i="0">
                <a:solidFill>
                  <a:srgbClr val="0A0A0A"/>
                </a:solidFill>
              </a:rPr>
              <a:t>Auction Results</a:t>
            </a:r>
          </a:p>
        </p:txBody>
      </p:sp>
      <p:sp>
        <p:nvSpPr>
          <p:cNvPr id="21" name="TextBox 20"/>
          <p:cNvSpPr txBox="1"/>
          <p:nvPr/>
        </p:nvSpPr>
        <p:spPr>
          <a:xfrm>
            <a:off x="6684264" y="2862072"/>
            <a:ext cx="2715768" cy="987552"/>
          </a:xfrm>
          <a:prstGeom prst="rect">
            <a:avLst/>
          </a:prstGeom>
          <a:noFill/>
        </p:spPr>
        <p:txBody>
          <a:bodyPr wrap="square">
            <a:spAutoFit/>
          </a:bodyPr>
          <a:lstStyle/>
          <a:p>
            <a:pPr algn="l"/>
            <a:r>
              <a:rPr sz="1000" b="0" i="0">
                <a:solidFill>
                  <a:srgbClr val="4B5563"/>
                </a:solidFill>
              </a:rPr>
              <a:t>View all completed auctions — winning bid amount, customer name, collection code. Full record of every sale.</a:t>
            </a:r>
          </a:p>
        </p:txBody>
      </p:sp>
      <p:sp>
        <p:nvSpPr>
          <p:cNvPr id="22" name="Rectangle 21"/>
          <p:cNvSpPr/>
          <p:nvPr/>
        </p:nvSpPr>
        <p:spPr>
          <a:xfrm>
            <a:off x="320040" y="4087368"/>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4087368"/>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9768" y="4197096"/>
            <a:ext cx="457200" cy="411480"/>
          </a:xfrm>
          <a:prstGeom prst="rect">
            <a:avLst/>
          </a:prstGeom>
          <a:noFill/>
        </p:spPr>
        <p:txBody>
          <a:bodyPr wrap="square">
            <a:spAutoFit/>
          </a:bodyPr>
          <a:lstStyle/>
          <a:p>
            <a:pPr algn="l"/>
            <a:r>
              <a:rPr sz="2000" b="0" i="0">
                <a:solidFill>
                  <a:srgbClr val="C9A84C"/>
                </a:solidFill>
              </a:rPr>
              <a:t>★</a:t>
            </a:r>
          </a:p>
        </p:txBody>
      </p:sp>
      <p:sp>
        <p:nvSpPr>
          <p:cNvPr id="25" name="TextBox 24"/>
          <p:cNvSpPr txBox="1"/>
          <p:nvPr/>
        </p:nvSpPr>
        <p:spPr>
          <a:xfrm>
            <a:off x="914400" y="4197096"/>
            <a:ext cx="2212848" cy="347472"/>
          </a:xfrm>
          <a:prstGeom prst="rect">
            <a:avLst/>
          </a:prstGeom>
          <a:noFill/>
        </p:spPr>
        <p:txBody>
          <a:bodyPr wrap="square">
            <a:spAutoFit/>
          </a:bodyPr>
          <a:lstStyle/>
          <a:p>
            <a:pPr algn="l"/>
            <a:r>
              <a:rPr sz="1200" b="1" i="0">
                <a:solidFill>
                  <a:srgbClr val="0A0A0A"/>
                </a:solidFill>
              </a:rPr>
              <a:t>Collection Codes</a:t>
            </a:r>
          </a:p>
        </p:txBody>
      </p:sp>
      <p:sp>
        <p:nvSpPr>
          <p:cNvPr id="26" name="TextBox 25"/>
          <p:cNvSpPr txBox="1"/>
          <p:nvPr/>
        </p:nvSpPr>
        <p:spPr>
          <a:xfrm>
            <a:off x="429768" y="4617720"/>
            <a:ext cx="2715768" cy="987552"/>
          </a:xfrm>
          <a:prstGeom prst="rect">
            <a:avLst/>
          </a:prstGeom>
          <a:noFill/>
        </p:spPr>
        <p:txBody>
          <a:bodyPr wrap="square">
            <a:spAutoFit/>
          </a:bodyPr>
          <a:lstStyle/>
          <a:p>
            <a:pPr algn="l"/>
            <a:r>
              <a:rPr sz="1000" b="0" i="0">
                <a:solidFill>
                  <a:srgbClr val="4B5563"/>
                </a:solidFill>
              </a:rPr>
              <a:t>See the unique code for each auction winner so your cashier can verify the customer quickly and confidently.</a:t>
            </a:r>
          </a:p>
        </p:txBody>
      </p:sp>
      <p:sp>
        <p:nvSpPr>
          <p:cNvPr id="27" name="Rectangle 26"/>
          <p:cNvSpPr/>
          <p:nvPr/>
        </p:nvSpPr>
        <p:spPr>
          <a:xfrm>
            <a:off x="3447288" y="4087368"/>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447288" y="4087368"/>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57016" y="4197096"/>
            <a:ext cx="457200" cy="411480"/>
          </a:xfrm>
          <a:prstGeom prst="rect">
            <a:avLst/>
          </a:prstGeom>
          <a:noFill/>
        </p:spPr>
        <p:txBody>
          <a:bodyPr wrap="square">
            <a:spAutoFit/>
          </a:bodyPr>
          <a:lstStyle/>
          <a:p>
            <a:pPr algn="l"/>
            <a:r>
              <a:rPr sz="2000" b="0" i="0">
                <a:solidFill>
                  <a:srgbClr val="C9A84C"/>
                </a:solidFill>
              </a:rPr>
              <a:t>★</a:t>
            </a:r>
          </a:p>
        </p:txBody>
      </p:sp>
      <p:sp>
        <p:nvSpPr>
          <p:cNvPr id="30" name="TextBox 29"/>
          <p:cNvSpPr txBox="1"/>
          <p:nvPr/>
        </p:nvSpPr>
        <p:spPr>
          <a:xfrm>
            <a:off x="4041648" y="4197096"/>
            <a:ext cx="2212848" cy="347472"/>
          </a:xfrm>
          <a:prstGeom prst="rect">
            <a:avLst/>
          </a:prstGeom>
          <a:noFill/>
        </p:spPr>
        <p:txBody>
          <a:bodyPr wrap="square">
            <a:spAutoFit/>
          </a:bodyPr>
          <a:lstStyle/>
          <a:p>
            <a:pPr algn="l"/>
            <a:r>
              <a:rPr sz="1200" b="1" i="0">
                <a:solidFill>
                  <a:srgbClr val="0A0A0A"/>
                </a:solidFill>
              </a:rPr>
              <a:t>Invoice Download</a:t>
            </a:r>
          </a:p>
        </p:txBody>
      </p:sp>
      <p:sp>
        <p:nvSpPr>
          <p:cNvPr id="31" name="TextBox 30"/>
          <p:cNvSpPr txBox="1"/>
          <p:nvPr/>
        </p:nvSpPr>
        <p:spPr>
          <a:xfrm>
            <a:off x="3557016" y="4617720"/>
            <a:ext cx="2715768" cy="987552"/>
          </a:xfrm>
          <a:prstGeom prst="rect">
            <a:avLst/>
          </a:prstGeom>
          <a:noFill/>
        </p:spPr>
        <p:txBody>
          <a:bodyPr wrap="square">
            <a:spAutoFit/>
          </a:bodyPr>
          <a:lstStyle/>
          <a:p>
            <a:pPr algn="l"/>
            <a:r>
              <a:rPr sz="1000" b="0" i="0">
                <a:solidFill>
                  <a:srgbClr val="4B5563"/>
                </a:solidFill>
              </a:rPr>
              <a:t>View and download your monthly platform invoices as PDF. Full record of your subscription and activity charges.</a:t>
            </a:r>
          </a:p>
        </p:txBody>
      </p:sp>
      <p:sp>
        <p:nvSpPr>
          <p:cNvPr id="32" name="Rectangle 31"/>
          <p:cNvSpPr/>
          <p:nvPr/>
        </p:nvSpPr>
        <p:spPr>
          <a:xfrm>
            <a:off x="6574536" y="4087368"/>
            <a:ext cx="2944368" cy="162763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74536" y="4087368"/>
            <a:ext cx="45720" cy="162763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84264" y="4197096"/>
            <a:ext cx="457200" cy="411480"/>
          </a:xfrm>
          <a:prstGeom prst="rect">
            <a:avLst/>
          </a:prstGeom>
          <a:noFill/>
        </p:spPr>
        <p:txBody>
          <a:bodyPr wrap="square">
            <a:spAutoFit/>
          </a:bodyPr>
          <a:lstStyle/>
          <a:p>
            <a:pPr algn="l"/>
            <a:r>
              <a:rPr sz="2000" b="0" i="0">
                <a:solidFill>
                  <a:srgbClr val="C9A84C"/>
                </a:solidFill>
              </a:rPr>
              <a:t>★</a:t>
            </a:r>
          </a:p>
        </p:txBody>
      </p:sp>
      <p:sp>
        <p:nvSpPr>
          <p:cNvPr id="35" name="TextBox 34"/>
          <p:cNvSpPr txBox="1"/>
          <p:nvPr/>
        </p:nvSpPr>
        <p:spPr>
          <a:xfrm>
            <a:off x="7168896" y="4197096"/>
            <a:ext cx="2212848" cy="347472"/>
          </a:xfrm>
          <a:prstGeom prst="rect">
            <a:avLst/>
          </a:prstGeom>
          <a:noFill/>
        </p:spPr>
        <p:txBody>
          <a:bodyPr wrap="square">
            <a:spAutoFit/>
          </a:bodyPr>
          <a:lstStyle/>
          <a:p>
            <a:pPr algn="l"/>
            <a:r>
              <a:rPr sz="1200" b="1" i="0">
                <a:solidFill>
                  <a:srgbClr val="0A0A0A"/>
                </a:solidFill>
              </a:rPr>
              <a:t>Store Statistics</a:t>
            </a:r>
          </a:p>
        </p:txBody>
      </p:sp>
      <p:sp>
        <p:nvSpPr>
          <p:cNvPr id="36" name="TextBox 35"/>
          <p:cNvSpPr txBox="1"/>
          <p:nvPr/>
        </p:nvSpPr>
        <p:spPr>
          <a:xfrm>
            <a:off x="6684264" y="4617720"/>
            <a:ext cx="2715768" cy="987552"/>
          </a:xfrm>
          <a:prstGeom prst="rect">
            <a:avLst/>
          </a:prstGeom>
          <a:noFill/>
        </p:spPr>
        <p:txBody>
          <a:bodyPr wrap="square">
            <a:spAutoFit/>
          </a:bodyPr>
          <a:lstStyle/>
          <a:p>
            <a:pPr algn="l"/>
            <a:r>
              <a:rPr sz="1000" b="0" i="0">
                <a:solidFill>
                  <a:srgbClr val="4B5563"/>
                </a:solidFill>
              </a:rPr>
              <a:t>Live dashboard showing user engagement, bid activity, deal shares, and more. Know exactly how customers interact with your store.</a:t>
            </a:r>
          </a:p>
        </p:txBody>
      </p:sp>
      <p:sp>
        <p:nvSpPr>
          <p:cNvPr id="37" name="Rectangle 36"/>
          <p:cNvSpPr/>
          <p:nvPr/>
        </p:nvSpPr>
        <p:spPr>
          <a:xfrm>
            <a:off x="9857232" y="2377440"/>
            <a:ext cx="1600200" cy="3328416"/>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940442" y="2524658"/>
            <a:ext cx="1433779" cy="3049981"/>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456602" y="2418661"/>
            <a:ext cx="401458" cy="3238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85278" y="5661242"/>
            <a:ext cx="344107" cy="1837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940442" y="2524658"/>
            <a:ext cx="1433779" cy="3049981"/>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940442" y="2524658"/>
            <a:ext cx="1433779"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77018" y="2529230"/>
            <a:ext cx="430133" cy="96012"/>
          </a:xfrm>
          <a:prstGeom prst="rect">
            <a:avLst/>
          </a:prstGeom>
          <a:noFill/>
        </p:spPr>
        <p:txBody>
          <a:bodyPr wrap="square">
            <a:spAutoFit/>
          </a:bodyPr>
          <a:lstStyle/>
          <a:p>
            <a:pPr algn="l"/>
            <a:r>
              <a:rPr sz="450" b="1" i="0">
                <a:solidFill>
                  <a:srgbClr val="FFFFFF"/>
                </a:solidFill>
              </a:rPr>
              <a:t>9:41</a:t>
            </a:r>
          </a:p>
        </p:txBody>
      </p:sp>
      <p:sp>
        <p:nvSpPr>
          <p:cNvPr id="44" name="TextBox 43"/>
          <p:cNvSpPr txBox="1"/>
          <p:nvPr/>
        </p:nvSpPr>
        <p:spPr>
          <a:xfrm>
            <a:off x="10729020" y="2529230"/>
            <a:ext cx="616525" cy="96012"/>
          </a:xfrm>
          <a:prstGeom prst="rect">
            <a:avLst/>
          </a:prstGeom>
          <a:noFill/>
        </p:spPr>
        <p:txBody>
          <a:bodyPr wrap="square">
            <a:spAutoFit/>
          </a:bodyPr>
          <a:lstStyle/>
          <a:p>
            <a:pPr algn="r"/>
            <a:r>
              <a:rPr sz="400" b="0" i="0">
                <a:solidFill>
                  <a:srgbClr val="FFFFFF"/>
                </a:solidFill>
              </a:rPr>
              <a:t>|||  100%</a:t>
            </a:r>
          </a:p>
        </p:txBody>
      </p:sp>
      <p:sp>
        <p:nvSpPr>
          <p:cNvPr id="45" name="Rectangle 44"/>
          <p:cNvSpPr/>
          <p:nvPr/>
        </p:nvSpPr>
        <p:spPr>
          <a:xfrm>
            <a:off x="9940442" y="2620670"/>
            <a:ext cx="1433779"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967874" y="2657246"/>
            <a:ext cx="1378915" cy="141731"/>
          </a:xfrm>
          <a:prstGeom prst="rect">
            <a:avLst/>
          </a:prstGeom>
          <a:noFill/>
        </p:spPr>
        <p:txBody>
          <a:bodyPr wrap="square">
            <a:spAutoFit/>
          </a:bodyPr>
          <a:lstStyle/>
          <a:p>
            <a:pPr algn="ctr"/>
            <a:r>
              <a:rPr sz="650" b="1" i="0">
                <a:solidFill>
                  <a:srgbClr val="0A0A0A"/>
                </a:solidFill>
              </a:rPr>
              <a:t>BiziBid</a:t>
            </a:r>
          </a:p>
        </p:txBody>
      </p:sp>
      <p:sp>
        <p:nvSpPr>
          <p:cNvPr id="47" name="Rectangle 46"/>
          <p:cNvSpPr/>
          <p:nvPr/>
        </p:nvSpPr>
        <p:spPr>
          <a:xfrm>
            <a:off x="9940442" y="2808122"/>
            <a:ext cx="1433779" cy="2766517"/>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9940442" y="28190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082448" y="2881577"/>
            <a:ext cx="426018" cy="343655"/>
          </a:xfrm>
          <a:prstGeom prst="rect">
            <a:avLst/>
          </a:prstGeom>
          <a:noFill/>
        </p:spPr>
        <p:txBody>
          <a:bodyPr wrap="square">
            <a:spAutoFit/>
          </a:bodyPr>
          <a:lstStyle/>
          <a:p>
            <a:pPr algn="ctr"/>
            <a:r>
              <a:rPr sz="800" b="1" i="0">
                <a:solidFill>
                  <a:srgbClr val="C9A84C"/>
                </a:solidFill>
              </a:rPr>
              <a:t>M</a:t>
            </a:r>
          </a:p>
        </p:txBody>
      </p:sp>
      <p:sp>
        <p:nvSpPr>
          <p:cNvPr id="50" name="TextBox 49"/>
          <p:cNvSpPr txBox="1"/>
          <p:nvPr/>
        </p:nvSpPr>
        <p:spPr>
          <a:xfrm>
            <a:off x="9949586" y="3243978"/>
            <a:ext cx="691743" cy="174951"/>
          </a:xfrm>
          <a:prstGeom prst="rect">
            <a:avLst/>
          </a:prstGeom>
          <a:noFill/>
        </p:spPr>
        <p:txBody>
          <a:bodyPr wrap="square">
            <a:spAutoFit/>
          </a:bodyPr>
          <a:lstStyle/>
          <a:p>
            <a:pPr algn="ctr"/>
            <a:r>
              <a:rPr sz="320" b="0" i="0">
                <a:solidFill>
                  <a:srgbClr val="9CA3AF"/>
                </a:solidFill>
              </a:rPr>
              <a:t>Massy</a:t>
            </a:r>
          </a:p>
        </p:txBody>
      </p:sp>
      <p:sp>
        <p:nvSpPr>
          <p:cNvPr id="51" name="Rectangle 50"/>
          <p:cNvSpPr/>
          <p:nvPr/>
        </p:nvSpPr>
        <p:spPr>
          <a:xfrm>
            <a:off x="10559034" y="2828239"/>
            <a:ext cx="82296"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59034" y="2823667"/>
            <a:ext cx="82296" cy="64008"/>
          </a:xfrm>
          <a:prstGeom prst="rect">
            <a:avLst/>
          </a:prstGeom>
          <a:noFill/>
        </p:spPr>
        <p:txBody>
          <a:bodyPr wrap="square">
            <a:spAutoFit/>
          </a:bodyPr>
          <a:lstStyle/>
          <a:p>
            <a:pPr algn="ctr"/>
            <a:r>
              <a:rPr sz="280" b="1" i="0">
                <a:solidFill>
                  <a:srgbClr val="FFFFFF"/>
                </a:solidFill>
              </a:rPr>
              <a:t>3</a:t>
            </a:r>
          </a:p>
        </p:txBody>
      </p:sp>
      <p:sp>
        <p:nvSpPr>
          <p:cNvPr id="53" name="Rectangle 52"/>
          <p:cNvSpPr/>
          <p:nvPr/>
        </p:nvSpPr>
        <p:spPr>
          <a:xfrm>
            <a:off x="10661446" y="28190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0803453" y="2881577"/>
            <a:ext cx="426018" cy="343655"/>
          </a:xfrm>
          <a:prstGeom prst="rect">
            <a:avLst/>
          </a:prstGeom>
          <a:noFill/>
        </p:spPr>
        <p:txBody>
          <a:bodyPr wrap="square">
            <a:spAutoFit/>
          </a:bodyPr>
          <a:lstStyle/>
          <a:p>
            <a:pPr algn="ctr"/>
            <a:r>
              <a:rPr sz="800" b="1" i="0">
                <a:solidFill>
                  <a:srgbClr val="C9A84C"/>
                </a:solidFill>
              </a:rPr>
              <a:t>C</a:t>
            </a:r>
          </a:p>
        </p:txBody>
      </p:sp>
      <p:sp>
        <p:nvSpPr>
          <p:cNvPr id="55" name="TextBox 54"/>
          <p:cNvSpPr txBox="1"/>
          <p:nvPr/>
        </p:nvSpPr>
        <p:spPr>
          <a:xfrm>
            <a:off x="10670590" y="3243978"/>
            <a:ext cx="691743" cy="174951"/>
          </a:xfrm>
          <a:prstGeom prst="rect">
            <a:avLst/>
          </a:prstGeom>
          <a:noFill/>
        </p:spPr>
        <p:txBody>
          <a:bodyPr wrap="square">
            <a:spAutoFit/>
          </a:bodyPr>
          <a:lstStyle/>
          <a:p>
            <a:pPr algn="ctr"/>
            <a:r>
              <a:rPr sz="320" b="0" i="0">
                <a:solidFill>
                  <a:srgbClr val="9CA3AF"/>
                </a:solidFill>
              </a:rPr>
              <a:t>Carters</a:t>
            </a:r>
          </a:p>
        </p:txBody>
      </p:sp>
      <p:sp>
        <p:nvSpPr>
          <p:cNvPr id="56" name="Rectangle 55"/>
          <p:cNvSpPr/>
          <p:nvPr/>
        </p:nvSpPr>
        <p:spPr>
          <a:xfrm>
            <a:off x="9940442" y="34548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082448" y="3517378"/>
            <a:ext cx="426018" cy="343655"/>
          </a:xfrm>
          <a:prstGeom prst="rect">
            <a:avLst/>
          </a:prstGeom>
          <a:noFill/>
        </p:spPr>
        <p:txBody>
          <a:bodyPr wrap="square">
            <a:spAutoFit/>
          </a:bodyPr>
          <a:lstStyle/>
          <a:p>
            <a:pPr algn="ctr"/>
            <a:r>
              <a:rPr sz="800" b="1" i="0">
                <a:solidFill>
                  <a:srgbClr val="C9A84C"/>
                </a:solidFill>
              </a:rPr>
              <a:t>H</a:t>
            </a:r>
          </a:p>
        </p:txBody>
      </p:sp>
      <p:sp>
        <p:nvSpPr>
          <p:cNvPr id="58" name="TextBox 57"/>
          <p:cNvSpPr txBox="1"/>
          <p:nvPr/>
        </p:nvSpPr>
        <p:spPr>
          <a:xfrm>
            <a:off x="9949586" y="3879778"/>
            <a:ext cx="691743" cy="174951"/>
          </a:xfrm>
          <a:prstGeom prst="rect">
            <a:avLst/>
          </a:prstGeom>
          <a:noFill/>
        </p:spPr>
        <p:txBody>
          <a:bodyPr wrap="square">
            <a:spAutoFit/>
          </a:bodyPr>
          <a:lstStyle/>
          <a:p>
            <a:pPr algn="ctr"/>
            <a:r>
              <a:rPr sz="320" b="0" i="0">
                <a:solidFill>
                  <a:srgbClr val="9CA3AF"/>
                </a:solidFill>
              </a:rPr>
              <a:t>H&amp;B</a:t>
            </a:r>
          </a:p>
        </p:txBody>
      </p:sp>
      <p:sp>
        <p:nvSpPr>
          <p:cNvPr id="59" name="Rectangle 58"/>
          <p:cNvSpPr/>
          <p:nvPr/>
        </p:nvSpPr>
        <p:spPr>
          <a:xfrm>
            <a:off x="10559034" y="3464039"/>
            <a:ext cx="82296" cy="6400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559034" y="3459467"/>
            <a:ext cx="82296" cy="64008"/>
          </a:xfrm>
          <a:prstGeom prst="rect">
            <a:avLst/>
          </a:prstGeom>
          <a:noFill/>
        </p:spPr>
        <p:txBody>
          <a:bodyPr wrap="square">
            <a:spAutoFit/>
          </a:bodyPr>
          <a:lstStyle/>
          <a:p>
            <a:pPr algn="ctr"/>
            <a:r>
              <a:rPr sz="280" b="1" i="0">
                <a:solidFill>
                  <a:srgbClr val="FFFFFF"/>
                </a:solidFill>
              </a:rPr>
              <a:t>1</a:t>
            </a:r>
          </a:p>
        </p:txBody>
      </p:sp>
      <p:sp>
        <p:nvSpPr>
          <p:cNvPr id="61" name="Rectangle 60"/>
          <p:cNvSpPr/>
          <p:nvPr/>
        </p:nvSpPr>
        <p:spPr>
          <a:xfrm>
            <a:off x="10661446" y="3454895"/>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803453" y="3517378"/>
            <a:ext cx="426018" cy="343655"/>
          </a:xfrm>
          <a:prstGeom prst="rect">
            <a:avLst/>
          </a:prstGeom>
          <a:noFill/>
        </p:spPr>
        <p:txBody>
          <a:bodyPr wrap="square">
            <a:spAutoFit/>
          </a:bodyPr>
          <a:lstStyle/>
          <a:p>
            <a:pPr algn="ctr"/>
            <a:r>
              <a:rPr sz="800" b="1" i="0">
                <a:solidFill>
                  <a:srgbClr val="C9A84C"/>
                </a:solidFill>
              </a:rPr>
              <a:t>P</a:t>
            </a:r>
          </a:p>
        </p:txBody>
      </p:sp>
      <p:sp>
        <p:nvSpPr>
          <p:cNvPr id="63" name="TextBox 62"/>
          <p:cNvSpPr txBox="1"/>
          <p:nvPr/>
        </p:nvSpPr>
        <p:spPr>
          <a:xfrm>
            <a:off x="10670590" y="3879778"/>
            <a:ext cx="691743" cy="174951"/>
          </a:xfrm>
          <a:prstGeom prst="rect">
            <a:avLst/>
          </a:prstGeom>
          <a:noFill/>
        </p:spPr>
        <p:txBody>
          <a:bodyPr wrap="square">
            <a:spAutoFit/>
          </a:bodyPr>
          <a:lstStyle/>
          <a:p>
            <a:pPr algn="ctr"/>
            <a:r>
              <a:rPr sz="320" b="0" i="0">
                <a:solidFill>
                  <a:srgbClr val="9CA3AF"/>
                </a:solidFill>
              </a:rPr>
              <a:t>Price-R</a:t>
            </a:r>
          </a:p>
        </p:txBody>
      </p:sp>
      <p:sp>
        <p:nvSpPr>
          <p:cNvPr id="64" name="TextBox 63"/>
          <p:cNvSpPr txBox="1"/>
          <p:nvPr/>
        </p:nvSpPr>
        <p:spPr>
          <a:xfrm>
            <a:off x="9811511" y="5769864"/>
            <a:ext cx="1691640" cy="182880"/>
          </a:xfrm>
          <a:prstGeom prst="rect">
            <a:avLst/>
          </a:prstGeom>
          <a:noFill/>
        </p:spPr>
        <p:txBody>
          <a:bodyPr wrap="square">
            <a:spAutoFit/>
          </a:bodyPr>
          <a:lstStyle/>
          <a:p>
            <a:pPr algn="ctr"/>
            <a:r>
              <a:rPr sz="600" b="1" i="0">
                <a:solidFill>
                  <a:srgbClr val="C9A84C"/>
                </a:solidFill>
              </a:rPr>
              <a:t>Powered by real app user data</a:t>
            </a:r>
          </a:p>
        </p:txBody>
      </p:sp>
      <p:sp>
        <p:nvSpPr>
          <p:cNvPr id="65" name="TextBox 64"/>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11 /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BACK-OFFICE — STATISTICS DASHBOARD</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Know Your Customers — Live Store Statistics</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Your back-office portal shows you exactly how registered BiziBid users interact with your store in real time.</a:t>
            </a:r>
          </a:p>
        </p:txBody>
      </p:sp>
      <p:sp>
        <p:nvSpPr>
          <p:cNvPr id="7" name="Rectangle 6"/>
          <p:cNvSpPr/>
          <p:nvPr/>
        </p:nvSpPr>
        <p:spPr>
          <a:xfrm>
            <a:off x="457200" y="233172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33172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423160"/>
            <a:ext cx="2651760" cy="457200"/>
          </a:xfrm>
          <a:prstGeom prst="rect">
            <a:avLst/>
          </a:prstGeom>
          <a:noFill/>
        </p:spPr>
        <p:txBody>
          <a:bodyPr wrap="square">
            <a:spAutoFit/>
          </a:bodyPr>
          <a:lstStyle/>
          <a:p>
            <a:pPr algn="ctr"/>
            <a:r>
              <a:rPr sz="2600" b="1" i="0">
                <a:solidFill>
                  <a:srgbClr val="C9A84C"/>
                </a:solidFill>
              </a:rPr>
              <a:t>1,240</a:t>
            </a:r>
          </a:p>
        </p:txBody>
      </p:sp>
      <p:sp>
        <p:nvSpPr>
          <p:cNvPr id="10" name="TextBox 9"/>
          <p:cNvSpPr txBox="1"/>
          <p:nvPr/>
        </p:nvSpPr>
        <p:spPr>
          <a:xfrm>
            <a:off x="457200" y="2880360"/>
            <a:ext cx="2651760" cy="411480"/>
          </a:xfrm>
          <a:prstGeom prst="rect">
            <a:avLst/>
          </a:prstGeom>
          <a:noFill/>
        </p:spPr>
        <p:txBody>
          <a:bodyPr wrap="square">
            <a:spAutoFit/>
          </a:bodyPr>
          <a:lstStyle/>
          <a:p>
            <a:pPr algn="ctr"/>
            <a:r>
              <a:rPr sz="1000" b="0" i="0">
                <a:solidFill>
                  <a:srgbClr val="4B5563"/>
                </a:solidFill>
              </a:rPr>
              <a:t>Registered users
following your store</a:t>
            </a:r>
          </a:p>
        </p:txBody>
      </p:sp>
      <p:sp>
        <p:nvSpPr>
          <p:cNvPr id="11" name="Rectangle 10"/>
          <p:cNvSpPr/>
          <p:nvPr/>
        </p:nvSpPr>
        <p:spPr>
          <a:xfrm>
            <a:off x="3291840" y="233172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91840" y="233172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2423160"/>
            <a:ext cx="2651760" cy="457200"/>
          </a:xfrm>
          <a:prstGeom prst="rect">
            <a:avLst/>
          </a:prstGeom>
          <a:noFill/>
        </p:spPr>
        <p:txBody>
          <a:bodyPr wrap="square">
            <a:spAutoFit/>
          </a:bodyPr>
          <a:lstStyle/>
          <a:p>
            <a:pPr algn="ctr"/>
            <a:r>
              <a:rPr sz="2600" b="1" i="0">
                <a:solidFill>
                  <a:srgbClr val="C9A84C"/>
                </a:solidFill>
              </a:rPr>
              <a:t>86</a:t>
            </a:r>
          </a:p>
        </p:txBody>
      </p:sp>
      <p:sp>
        <p:nvSpPr>
          <p:cNvPr id="14" name="TextBox 13"/>
          <p:cNvSpPr txBox="1"/>
          <p:nvPr/>
        </p:nvSpPr>
        <p:spPr>
          <a:xfrm>
            <a:off x="3291840" y="2880360"/>
            <a:ext cx="2651760" cy="411480"/>
          </a:xfrm>
          <a:prstGeom prst="rect">
            <a:avLst/>
          </a:prstGeom>
          <a:noFill/>
        </p:spPr>
        <p:txBody>
          <a:bodyPr wrap="square">
            <a:spAutoFit/>
          </a:bodyPr>
          <a:lstStyle/>
          <a:p>
            <a:pPr algn="ctr"/>
            <a:r>
              <a:rPr sz="1000" b="0" i="0">
                <a:solidFill>
                  <a:srgbClr val="4B5563"/>
                </a:solidFill>
              </a:rPr>
              <a:t>Active bids on
your items today</a:t>
            </a:r>
          </a:p>
        </p:txBody>
      </p:sp>
      <p:sp>
        <p:nvSpPr>
          <p:cNvPr id="15" name="Rectangle 14"/>
          <p:cNvSpPr/>
          <p:nvPr/>
        </p:nvSpPr>
        <p:spPr>
          <a:xfrm>
            <a:off x="6126480" y="233172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26480" y="233172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0" y="2423160"/>
            <a:ext cx="2651760" cy="457200"/>
          </a:xfrm>
          <a:prstGeom prst="rect">
            <a:avLst/>
          </a:prstGeom>
          <a:noFill/>
        </p:spPr>
        <p:txBody>
          <a:bodyPr wrap="square">
            <a:spAutoFit/>
          </a:bodyPr>
          <a:lstStyle/>
          <a:p>
            <a:pPr algn="ctr"/>
            <a:r>
              <a:rPr sz="2600" b="1" i="0">
                <a:solidFill>
                  <a:srgbClr val="C9A84C"/>
                </a:solidFill>
              </a:rPr>
              <a:t>312</a:t>
            </a:r>
          </a:p>
        </p:txBody>
      </p:sp>
      <p:sp>
        <p:nvSpPr>
          <p:cNvPr id="18" name="TextBox 17"/>
          <p:cNvSpPr txBox="1"/>
          <p:nvPr/>
        </p:nvSpPr>
        <p:spPr>
          <a:xfrm>
            <a:off x="6126480" y="2880360"/>
            <a:ext cx="2651760" cy="411480"/>
          </a:xfrm>
          <a:prstGeom prst="rect">
            <a:avLst/>
          </a:prstGeom>
          <a:noFill/>
        </p:spPr>
        <p:txBody>
          <a:bodyPr wrap="square">
            <a:spAutoFit/>
          </a:bodyPr>
          <a:lstStyle/>
          <a:p>
            <a:pPr algn="ctr"/>
            <a:r>
              <a:rPr sz="1000" b="0" i="0">
                <a:solidFill>
                  <a:srgbClr val="4B5563"/>
                </a:solidFill>
              </a:rPr>
              <a:t>Users watching
your products</a:t>
            </a:r>
          </a:p>
        </p:txBody>
      </p:sp>
      <p:sp>
        <p:nvSpPr>
          <p:cNvPr id="19" name="Rectangle 18"/>
          <p:cNvSpPr/>
          <p:nvPr/>
        </p:nvSpPr>
        <p:spPr>
          <a:xfrm>
            <a:off x="8961120" y="233172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61120" y="233172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0" y="2423160"/>
            <a:ext cx="2651760" cy="457200"/>
          </a:xfrm>
          <a:prstGeom prst="rect">
            <a:avLst/>
          </a:prstGeom>
          <a:noFill/>
        </p:spPr>
        <p:txBody>
          <a:bodyPr wrap="square">
            <a:spAutoFit/>
          </a:bodyPr>
          <a:lstStyle/>
          <a:p>
            <a:pPr algn="ctr"/>
            <a:r>
              <a:rPr sz="2600" b="1" i="0">
                <a:solidFill>
                  <a:srgbClr val="C9A84C"/>
                </a:solidFill>
              </a:rPr>
              <a:t>94%</a:t>
            </a:r>
          </a:p>
        </p:txBody>
      </p:sp>
      <p:sp>
        <p:nvSpPr>
          <p:cNvPr id="22" name="TextBox 21"/>
          <p:cNvSpPr txBox="1"/>
          <p:nvPr/>
        </p:nvSpPr>
        <p:spPr>
          <a:xfrm>
            <a:off x="8961120" y="2880360"/>
            <a:ext cx="2651760" cy="411480"/>
          </a:xfrm>
          <a:prstGeom prst="rect">
            <a:avLst/>
          </a:prstGeom>
          <a:noFill/>
        </p:spPr>
        <p:txBody>
          <a:bodyPr wrap="square">
            <a:spAutoFit/>
          </a:bodyPr>
          <a:lstStyle/>
          <a:p>
            <a:pPr algn="ctr"/>
            <a:r>
              <a:rPr sz="1000" b="0" i="0">
                <a:solidFill>
                  <a:srgbClr val="4B5563"/>
                </a:solidFill>
              </a:rPr>
              <a:t>Auction completion
rate this month</a:t>
            </a:r>
          </a:p>
        </p:txBody>
      </p:sp>
      <p:sp>
        <p:nvSpPr>
          <p:cNvPr id="23" name="Rectangle 22"/>
          <p:cNvSpPr/>
          <p:nvPr/>
        </p:nvSpPr>
        <p:spPr>
          <a:xfrm>
            <a:off x="457200" y="356616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56616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3657600"/>
            <a:ext cx="2651760" cy="457200"/>
          </a:xfrm>
          <a:prstGeom prst="rect">
            <a:avLst/>
          </a:prstGeom>
          <a:noFill/>
        </p:spPr>
        <p:txBody>
          <a:bodyPr wrap="square">
            <a:spAutoFit/>
          </a:bodyPr>
          <a:lstStyle/>
          <a:p>
            <a:pPr algn="ctr"/>
            <a:r>
              <a:rPr sz="2600" b="1" i="0">
                <a:solidFill>
                  <a:srgbClr val="C9A84C"/>
                </a:solidFill>
              </a:rPr>
              <a:t>48</a:t>
            </a:r>
          </a:p>
        </p:txBody>
      </p:sp>
      <p:sp>
        <p:nvSpPr>
          <p:cNvPr id="26" name="TextBox 25"/>
          <p:cNvSpPr txBox="1"/>
          <p:nvPr/>
        </p:nvSpPr>
        <p:spPr>
          <a:xfrm>
            <a:off x="457200" y="4114800"/>
            <a:ext cx="2651760" cy="411480"/>
          </a:xfrm>
          <a:prstGeom prst="rect">
            <a:avLst/>
          </a:prstGeom>
          <a:noFill/>
        </p:spPr>
        <p:txBody>
          <a:bodyPr wrap="square">
            <a:spAutoFit/>
          </a:bodyPr>
          <a:lstStyle/>
          <a:p>
            <a:pPr algn="ctr"/>
            <a:r>
              <a:rPr sz="1000" b="0" i="0">
                <a:solidFill>
                  <a:srgbClr val="4B5563"/>
                </a:solidFill>
              </a:rPr>
              <a:t>Deals shared on
WhatsApp &amp; Instagram</a:t>
            </a:r>
          </a:p>
        </p:txBody>
      </p:sp>
      <p:sp>
        <p:nvSpPr>
          <p:cNvPr id="27" name="Rectangle 26"/>
          <p:cNvSpPr/>
          <p:nvPr/>
        </p:nvSpPr>
        <p:spPr>
          <a:xfrm>
            <a:off x="3291840" y="356616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91840" y="356616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1840" y="3657600"/>
            <a:ext cx="2651760" cy="457200"/>
          </a:xfrm>
          <a:prstGeom prst="rect">
            <a:avLst/>
          </a:prstGeom>
          <a:noFill/>
        </p:spPr>
        <p:txBody>
          <a:bodyPr wrap="square">
            <a:spAutoFit/>
          </a:bodyPr>
          <a:lstStyle/>
          <a:p>
            <a:pPr algn="ctr"/>
            <a:r>
              <a:rPr sz="2600" b="1" i="0">
                <a:solidFill>
                  <a:srgbClr val="C9A84C"/>
                </a:solidFill>
              </a:rPr>
              <a:t>$8,400</a:t>
            </a:r>
          </a:p>
        </p:txBody>
      </p:sp>
      <p:sp>
        <p:nvSpPr>
          <p:cNvPr id="30" name="TextBox 29"/>
          <p:cNvSpPr txBox="1"/>
          <p:nvPr/>
        </p:nvSpPr>
        <p:spPr>
          <a:xfrm>
            <a:off x="3291840" y="4114800"/>
            <a:ext cx="2651760" cy="411480"/>
          </a:xfrm>
          <a:prstGeom prst="rect">
            <a:avLst/>
          </a:prstGeom>
          <a:noFill/>
        </p:spPr>
        <p:txBody>
          <a:bodyPr wrap="square">
            <a:spAutoFit/>
          </a:bodyPr>
          <a:lstStyle/>
          <a:p>
            <a:pPr algn="ctr"/>
            <a:r>
              <a:rPr sz="1000" b="0" i="0">
                <a:solidFill>
                  <a:srgbClr val="4B5563"/>
                </a:solidFill>
              </a:rPr>
              <a:t>Total auction value
generated this month</a:t>
            </a:r>
          </a:p>
        </p:txBody>
      </p:sp>
      <p:sp>
        <p:nvSpPr>
          <p:cNvPr id="31" name="Rectangle 30"/>
          <p:cNvSpPr/>
          <p:nvPr/>
        </p:nvSpPr>
        <p:spPr>
          <a:xfrm>
            <a:off x="6126480" y="356616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26480" y="356616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0" y="3657600"/>
            <a:ext cx="2651760" cy="457200"/>
          </a:xfrm>
          <a:prstGeom prst="rect">
            <a:avLst/>
          </a:prstGeom>
          <a:noFill/>
        </p:spPr>
        <p:txBody>
          <a:bodyPr wrap="square">
            <a:spAutoFit/>
          </a:bodyPr>
          <a:lstStyle/>
          <a:p>
            <a:pPr algn="ctr"/>
            <a:r>
              <a:rPr sz="2600" b="1" i="0">
                <a:solidFill>
                  <a:srgbClr val="C9A84C"/>
                </a:solidFill>
              </a:rPr>
              <a:t>22</a:t>
            </a:r>
          </a:p>
        </p:txBody>
      </p:sp>
      <p:sp>
        <p:nvSpPr>
          <p:cNvPr id="34" name="TextBox 33"/>
          <p:cNvSpPr txBox="1"/>
          <p:nvPr/>
        </p:nvSpPr>
        <p:spPr>
          <a:xfrm>
            <a:off x="6126480" y="4114800"/>
            <a:ext cx="2651760" cy="411480"/>
          </a:xfrm>
          <a:prstGeom prst="rect">
            <a:avLst/>
          </a:prstGeom>
          <a:noFill/>
        </p:spPr>
        <p:txBody>
          <a:bodyPr wrap="square">
            <a:spAutoFit/>
          </a:bodyPr>
          <a:lstStyle/>
          <a:p>
            <a:pPr algn="ctr"/>
            <a:r>
              <a:rPr sz="1000" b="0" i="0">
                <a:solidFill>
                  <a:srgbClr val="4B5563"/>
                </a:solidFill>
              </a:rPr>
              <a:t>New app users from
your shared links</a:t>
            </a:r>
          </a:p>
        </p:txBody>
      </p:sp>
      <p:sp>
        <p:nvSpPr>
          <p:cNvPr id="35" name="Rectangle 34"/>
          <p:cNvSpPr/>
          <p:nvPr/>
        </p:nvSpPr>
        <p:spPr>
          <a:xfrm>
            <a:off x="8961120" y="3566160"/>
            <a:ext cx="2651760" cy="109728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61120" y="3566160"/>
            <a:ext cx="2651760" cy="3657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961120" y="3657600"/>
            <a:ext cx="2651760" cy="457200"/>
          </a:xfrm>
          <a:prstGeom prst="rect">
            <a:avLst/>
          </a:prstGeom>
          <a:noFill/>
        </p:spPr>
        <p:txBody>
          <a:bodyPr wrap="square">
            <a:spAutoFit/>
          </a:bodyPr>
          <a:lstStyle/>
          <a:p>
            <a:pPr algn="ctr"/>
            <a:r>
              <a:rPr sz="2600" b="1" i="0">
                <a:solidFill>
                  <a:srgbClr val="C9A84C"/>
                </a:solidFill>
              </a:rPr>
              <a:t>4.8★</a:t>
            </a:r>
          </a:p>
        </p:txBody>
      </p:sp>
      <p:sp>
        <p:nvSpPr>
          <p:cNvPr id="38" name="TextBox 37"/>
          <p:cNvSpPr txBox="1"/>
          <p:nvPr/>
        </p:nvSpPr>
        <p:spPr>
          <a:xfrm>
            <a:off x="8961120" y="4114800"/>
            <a:ext cx="2651760" cy="411480"/>
          </a:xfrm>
          <a:prstGeom prst="rect">
            <a:avLst/>
          </a:prstGeom>
          <a:noFill/>
        </p:spPr>
        <p:txBody>
          <a:bodyPr wrap="square">
            <a:spAutoFit/>
          </a:bodyPr>
          <a:lstStyle/>
          <a:p>
            <a:pPr algn="ctr"/>
            <a:r>
              <a:rPr sz="1000" b="0" i="0">
                <a:solidFill>
                  <a:srgbClr val="4B5563"/>
                </a:solidFill>
              </a:rPr>
              <a:t>Average customer
engagement score</a:t>
            </a:r>
          </a:p>
        </p:txBody>
      </p:sp>
      <p:sp>
        <p:nvSpPr>
          <p:cNvPr id="39" name="Rectangle 38"/>
          <p:cNvSpPr/>
          <p:nvPr/>
        </p:nvSpPr>
        <p:spPr>
          <a:xfrm>
            <a:off x="457200" y="4828032"/>
            <a:ext cx="11247120" cy="1261872"/>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7200" y="4828032"/>
            <a:ext cx="54864" cy="126187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94360" y="4892040"/>
            <a:ext cx="10972800" cy="1115568"/>
          </a:xfrm>
          <a:prstGeom prst="rect">
            <a:avLst/>
          </a:prstGeom>
          <a:noFill/>
        </p:spPr>
        <p:txBody>
          <a:bodyPr wrap="square">
            <a:spAutoFit/>
          </a:bodyPr>
          <a:lstStyle/>
          <a:p>
            <a:pPr algn="l"/>
            <a:r>
              <a:rPr sz="1200" b="0" i="0">
                <a:solidFill>
                  <a:srgbClr val="4B5563"/>
                </a:solidFill>
              </a:rPr>
              <a:t>All statistics are updated in real time in your back-office portal at BiziBid.com. Track which products generate the most interest, which deals are most shared, and how your store's following grows week over week. See age group breakdowns and which parishes your most active bidders come from. No data is shared with other retail partners.</a:t>
            </a:r>
          </a:p>
        </p:txBody>
      </p:sp>
      <p:sp>
        <p:nvSpPr>
          <p:cNvPr id="42" name="TextBox 41"/>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12 / 18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486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VIRAL SHARING POWER</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2800" b="1" i="0">
                <a:solidFill>
                  <a:srgbClr val="0A0A0A"/>
                </a:solidFill>
              </a:rPr>
              <a:t>One Share = 10x to 100x Your Visibility</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When a customer shares your product on WhatsApp or social media, your brand reaches their entire network instantly.</a:t>
            </a:r>
          </a:p>
        </p:txBody>
      </p:sp>
      <p:sp>
        <p:nvSpPr>
          <p:cNvPr id="7" name="Rectangle 6"/>
          <p:cNvSpPr/>
          <p:nvPr/>
        </p:nvSpPr>
        <p:spPr>
          <a:xfrm>
            <a:off x="365760" y="2331720"/>
            <a:ext cx="3703320" cy="29260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2331720"/>
            <a:ext cx="370332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423160"/>
            <a:ext cx="3429000" cy="804672"/>
          </a:xfrm>
          <a:prstGeom prst="rect">
            <a:avLst/>
          </a:prstGeom>
          <a:noFill/>
        </p:spPr>
        <p:txBody>
          <a:bodyPr wrap="square">
            <a:spAutoFit/>
          </a:bodyPr>
          <a:lstStyle/>
          <a:p>
            <a:pPr algn="ctr"/>
            <a:r>
              <a:rPr sz="5200" b="1" i="0">
                <a:solidFill>
                  <a:srgbClr val="C9A84C"/>
                </a:solidFill>
              </a:rPr>
              <a:t>10x</a:t>
            </a:r>
          </a:p>
        </p:txBody>
      </p:sp>
      <p:sp>
        <p:nvSpPr>
          <p:cNvPr id="10" name="TextBox 9"/>
          <p:cNvSpPr txBox="1"/>
          <p:nvPr/>
        </p:nvSpPr>
        <p:spPr>
          <a:xfrm>
            <a:off x="502920" y="3310128"/>
            <a:ext cx="3429000" cy="347472"/>
          </a:xfrm>
          <a:prstGeom prst="rect">
            <a:avLst/>
          </a:prstGeom>
          <a:noFill/>
        </p:spPr>
        <p:txBody>
          <a:bodyPr wrap="square">
            <a:spAutoFit/>
          </a:bodyPr>
          <a:lstStyle/>
          <a:p>
            <a:pPr algn="ctr"/>
            <a:r>
              <a:rPr sz="1300" b="1" i="0">
                <a:solidFill>
                  <a:srgbClr val="FFFFFF"/>
                </a:solidFill>
              </a:rPr>
              <a:t>WhatsApp Message</a:t>
            </a:r>
          </a:p>
        </p:txBody>
      </p:sp>
      <p:sp>
        <p:nvSpPr>
          <p:cNvPr id="11" name="TextBox 10"/>
          <p:cNvSpPr txBox="1"/>
          <p:nvPr/>
        </p:nvSpPr>
        <p:spPr>
          <a:xfrm>
            <a:off x="502920" y="3730752"/>
            <a:ext cx="3429000" cy="1371600"/>
          </a:xfrm>
          <a:prstGeom prst="rect">
            <a:avLst/>
          </a:prstGeom>
          <a:noFill/>
        </p:spPr>
        <p:txBody>
          <a:bodyPr wrap="square">
            <a:spAutoFit/>
          </a:bodyPr>
          <a:lstStyle/>
          <a:p>
            <a:pPr algn="ctr"/>
            <a:r>
              <a:rPr sz="1100" b="0" i="0">
                <a:solidFill>
                  <a:srgbClr val="C0C8D8"/>
                </a:solidFill>
              </a:rPr>
              <a:t>Sent to a group of 50-150 people. Everyone in that group sees your store name, product, and price.</a:t>
            </a:r>
          </a:p>
        </p:txBody>
      </p:sp>
      <p:sp>
        <p:nvSpPr>
          <p:cNvPr id="12" name="Rectangle 11"/>
          <p:cNvSpPr/>
          <p:nvPr/>
        </p:nvSpPr>
        <p:spPr>
          <a:xfrm>
            <a:off x="4279392" y="2331720"/>
            <a:ext cx="3703320" cy="29260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2331720"/>
            <a:ext cx="370332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16552" y="2423160"/>
            <a:ext cx="3429000" cy="804672"/>
          </a:xfrm>
          <a:prstGeom prst="rect">
            <a:avLst/>
          </a:prstGeom>
          <a:noFill/>
        </p:spPr>
        <p:txBody>
          <a:bodyPr wrap="square">
            <a:spAutoFit/>
          </a:bodyPr>
          <a:lstStyle/>
          <a:p>
            <a:pPr algn="ctr"/>
            <a:r>
              <a:rPr sz="5200" b="1" i="0">
                <a:solidFill>
                  <a:srgbClr val="C9A84C"/>
                </a:solidFill>
              </a:rPr>
              <a:t>50x</a:t>
            </a:r>
          </a:p>
        </p:txBody>
      </p:sp>
      <p:sp>
        <p:nvSpPr>
          <p:cNvPr id="15" name="TextBox 14"/>
          <p:cNvSpPr txBox="1"/>
          <p:nvPr/>
        </p:nvSpPr>
        <p:spPr>
          <a:xfrm>
            <a:off x="4416552" y="3310128"/>
            <a:ext cx="3429000" cy="347472"/>
          </a:xfrm>
          <a:prstGeom prst="rect">
            <a:avLst/>
          </a:prstGeom>
          <a:noFill/>
        </p:spPr>
        <p:txBody>
          <a:bodyPr wrap="square">
            <a:spAutoFit/>
          </a:bodyPr>
          <a:lstStyle/>
          <a:p>
            <a:pPr algn="ctr"/>
            <a:r>
              <a:rPr sz="1300" b="1" i="0">
                <a:solidFill>
                  <a:srgbClr val="FFFFFF"/>
                </a:solidFill>
              </a:rPr>
              <a:t>WhatsApp Status</a:t>
            </a:r>
          </a:p>
        </p:txBody>
      </p:sp>
      <p:sp>
        <p:nvSpPr>
          <p:cNvPr id="16" name="TextBox 15"/>
          <p:cNvSpPr txBox="1"/>
          <p:nvPr/>
        </p:nvSpPr>
        <p:spPr>
          <a:xfrm>
            <a:off x="4416552" y="3730752"/>
            <a:ext cx="3429000" cy="1371600"/>
          </a:xfrm>
          <a:prstGeom prst="rect">
            <a:avLst/>
          </a:prstGeom>
          <a:noFill/>
        </p:spPr>
        <p:txBody>
          <a:bodyPr wrap="square">
            <a:spAutoFit/>
          </a:bodyPr>
          <a:lstStyle/>
          <a:p>
            <a:pPr algn="ctr"/>
            <a:r>
              <a:rPr sz="1100" b="0" i="0">
                <a:solidFill>
                  <a:srgbClr val="C0C8D8"/>
                </a:solidFill>
              </a:rPr>
              <a:t>Visible to all of a customer's WhatsApp contacts for 24 hours. Average reach: 200-400 people per post.</a:t>
            </a:r>
          </a:p>
        </p:txBody>
      </p:sp>
      <p:sp>
        <p:nvSpPr>
          <p:cNvPr id="17" name="Rectangle 16"/>
          <p:cNvSpPr/>
          <p:nvPr/>
        </p:nvSpPr>
        <p:spPr>
          <a:xfrm>
            <a:off x="8193024" y="2331720"/>
            <a:ext cx="3703320" cy="292608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2331720"/>
            <a:ext cx="370332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30184" y="2423160"/>
            <a:ext cx="3429000" cy="804672"/>
          </a:xfrm>
          <a:prstGeom prst="rect">
            <a:avLst/>
          </a:prstGeom>
          <a:noFill/>
        </p:spPr>
        <p:txBody>
          <a:bodyPr wrap="square">
            <a:spAutoFit/>
          </a:bodyPr>
          <a:lstStyle/>
          <a:p>
            <a:pPr algn="ctr"/>
            <a:r>
              <a:rPr sz="5200" b="1" i="0">
                <a:solidFill>
                  <a:srgbClr val="C9A84C"/>
                </a:solidFill>
              </a:rPr>
              <a:t>100x</a:t>
            </a:r>
          </a:p>
        </p:txBody>
      </p:sp>
      <p:sp>
        <p:nvSpPr>
          <p:cNvPr id="20" name="TextBox 19"/>
          <p:cNvSpPr txBox="1"/>
          <p:nvPr/>
        </p:nvSpPr>
        <p:spPr>
          <a:xfrm>
            <a:off x="8330184" y="3310128"/>
            <a:ext cx="3429000" cy="347472"/>
          </a:xfrm>
          <a:prstGeom prst="rect">
            <a:avLst/>
          </a:prstGeom>
          <a:noFill/>
        </p:spPr>
        <p:txBody>
          <a:bodyPr wrap="square">
            <a:spAutoFit/>
          </a:bodyPr>
          <a:lstStyle/>
          <a:p>
            <a:pPr algn="ctr"/>
            <a:r>
              <a:rPr sz="1300" b="1" i="0">
                <a:solidFill>
                  <a:srgbClr val="FFFFFF"/>
                </a:solidFill>
              </a:rPr>
              <a:t>Facebook / Instagram</a:t>
            </a:r>
          </a:p>
        </p:txBody>
      </p:sp>
      <p:sp>
        <p:nvSpPr>
          <p:cNvPr id="21" name="TextBox 20"/>
          <p:cNvSpPr txBox="1"/>
          <p:nvPr/>
        </p:nvSpPr>
        <p:spPr>
          <a:xfrm>
            <a:off x="8330184" y="3730752"/>
            <a:ext cx="3429000" cy="1371600"/>
          </a:xfrm>
          <a:prstGeom prst="rect">
            <a:avLst/>
          </a:prstGeom>
          <a:noFill/>
        </p:spPr>
        <p:txBody>
          <a:bodyPr wrap="square">
            <a:spAutoFit/>
          </a:bodyPr>
          <a:lstStyle/>
          <a:p>
            <a:pPr algn="ctr"/>
            <a:r>
              <a:rPr sz="1100" b="0" i="0">
                <a:solidFill>
                  <a:srgbClr val="C0C8D8"/>
                </a:solidFill>
              </a:rPr>
              <a:t>Liked, shared, or reposted content reaches friends-of-friends. A single viral share can reach thousands.</a:t>
            </a:r>
          </a:p>
        </p:txBody>
      </p:sp>
      <p:sp>
        <p:nvSpPr>
          <p:cNvPr id="22" name="Rectangle 21"/>
          <p:cNvSpPr/>
          <p:nvPr/>
        </p:nvSpPr>
        <p:spPr>
          <a:xfrm>
            <a:off x="365760" y="5394960"/>
            <a:ext cx="11430000" cy="1152144"/>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5394960"/>
            <a:ext cx="54864" cy="1152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5468112"/>
            <a:ext cx="11064240" cy="347472"/>
          </a:xfrm>
          <a:prstGeom prst="rect">
            <a:avLst/>
          </a:prstGeom>
          <a:noFill/>
        </p:spPr>
        <p:txBody>
          <a:bodyPr wrap="square">
            <a:spAutoFit/>
          </a:bodyPr>
          <a:lstStyle/>
          <a:p>
            <a:pPr algn="l"/>
            <a:r>
              <a:rPr sz="1400" b="1" i="0">
                <a:solidFill>
                  <a:srgbClr val="0A0A0A"/>
                </a:solidFill>
              </a:rPr>
              <a:t>People love to share a great deal.</a:t>
            </a:r>
          </a:p>
        </p:txBody>
      </p:sp>
      <p:sp>
        <p:nvSpPr>
          <p:cNvPr id="25" name="TextBox 24"/>
          <p:cNvSpPr txBox="1"/>
          <p:nvPr/>
        </p:nvSpPr>
        <p:spPr>
          <a:xfrm>
            <a:off x="548640" y="5852160"/>
            <a:ext cx="11064240" cy="621792"/>
          </a:xfrm>
          <a:prstGeom prst="rect">
            <a:avLst/>
          </a:prstGeom>
          <a:noFill/>
        </p:spPr>
        <p:txBody>
          <a:bodyPr wrap="square">
            <a:spAutoFit/>
          </a:bodyPr>
          <a:lstStyle/>
          <a:p>
            <a:pPr algn="l"/>
            <a:r>
              <a:rPr sz="1100" b="0" i="0">
                <a:solidFill>
                  <a:srgbClr val="4B5563"/>
                </a:solidFill>
              </a:rPr>
              <a:t>A customer who finds a $50 item auction starting at $12 will share that to every WhatsApp group they have. That is free marketing to hundreds of people who have never heard of your store — and it costs you nothing. Every shared link drives new app downloads, and new app users are new bidders on your products.</a:t>
            </a:r>
          </a:p>
        </p:txBody>
      </p:sp>
      <p:sp>
        <p:nvSpPr>
          <p:cNvPr id="26" name="TextBox 25"/>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13 / 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FEATURE — VIRAL GROWTH</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Every Share is Free Marketing for Your Store</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When customers share your auctions and deals, your store name reaches people who have never heard of BiziBid.</a:t>
            </a:r>
          </a:p>
        </p:txBody>
      </p:sp>
      <p:sp>
        <p:nvSpPr>
          <p:cNvPr id="7" name="Rectangle 6"/>
          <p:cNvSpPr/>
          <p:nvPr/>
        </p:nvSpPr>
        <p:spPr>
          <a:xfrm>
            <a:off x="320040" y="2286000"/>
            <a:ext cx="2103120" cy="21031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79" y="2359152"/>
            <a:ext cx="457200" cy="411480"/>
          </a:xfrm>
          <a:prstGeom prst="rect">
            <a:avLst/>
          </a:prstGeom>
          <a:noFill/>
        </p:spPr>
        <p:txBody>
          <a:bodyPr wrap="square">
            <a:spAutoFit/>
          </a:bodyPr>
          <a:lstStyle/>
          <a:p>
            <a:pPr algn="l"/>
            <a:r>
              <a:rPr sz="1100" b="1" i="0">
                <a:solidFill>
                  <a:srgbClr val="C9A84C"/>
                </a:solidFill>
              </a:rPr>
              <a:t>01</a:t>
            </a:r>
          </a:p>
        </p:txBody>
      </p:sp>
      <p:sp>
        <p:nvSpPr>
          <p:cNvPr id="9" name="TextBox 8"/>
          <p:cNvSpPr txBox="1"/>
          <p:nvPr/>
        </p:nvSpPr>
        <p:spPr>
          <a:xfrm>
            <a:off x="411479" y="2697480"/>
            <a:ext cx="1920240" cy="1554480"/>
          </a:xfrm>
          <a:prstGeom prst="rect">
            <a:avLst/>
          </a:prstGeom>
          <a:noFill/>
        </p:spPr>
        <p:txBody>
          <a:bodyPr wrap="square">
            <a:spAutoFit/>
          </a:bodyPr>
          <a:lstStyle/>
          <a:p>
            <a:pPr algn="l"/>
            <a:r>
              <a:rPr sz="1200" b="0" i="0">
                <a:solidFill>
                  <a:srgbClr val="FFFFFF"/>
                </a:solidFill>
              </a:rPr>
              <a:t>Your customer
sees a great deal
or live auction</a:t>
            </a:r>
          </a:p>
        </p:txBody>
      </p:sp>
      <p:sp>
        <p:nvSpPr>
          <p:cNvPr id="10" name="TextBox 9"/>
          <p:cNvSpPr txBox="1"/>
          <p:nvPr/>
        </p:nvSpPr>
        <p:spPr>
          <a:xfrm>
            <a:off x="2441448" y="3063240"/>
            <a:ext cx="201168" cy="457200"/>
          </a:xfrm>
          <a:prstGeom prst="rect">
            <a:avLst/>
          </a:prstGeom>
          <a:noFill/>
        </p:spPr>
        <p:txBody>
          <a:bodyPr wrap="square">
            <a:spAutoFit/>
          </a:bodyPr>
          <a:lstStyle/>
          <a:p>
            <a:pPr algn="l"/>
            <a:r>
              <a:rPr sz="1800" b="0" i="0">
                <a:solidFill>
                  <a:srgbClr val="C9A84C"/>
                </a:solidFill>
              </a:rPr>
              <a:t>-&gt;</a:t>
            </a:r>
          </a:p>
        </p:txBody>
      </p:sp>
      <p:sp>
        <p:nvSpPr>
          <p:cNvPr id="11" name="Rectangle 10"/>
          <p:cNvSpPr/>
          <p:nvPr/>
        </p:nvSpPr>
        <p:spPr>
          <a:xfrm>
            <a:off x="2660904" y="2286000"/>
            <a:ext cx="2103120" cy="2103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52344" y="2359152"/>
            <a:ext cx="457200" cy="411480"/>
          </a:xfrm>
          <a:prstGeom prst="rect">
            <a:avLst/>
          </a:prstGeom>
          <a:noFill/>
        </p:spPr>
        <p:txBody>
          <a:bodyPr wrap="square">
            <a:spAutoFit/>
          </a:bodyPr>
          <a:lstStyle/>
          <a:p>
            <a:pPr algn="l"/>
            <a:r>
              <a:rPr sz="1100" b="1" i="0">
                <a:solidFill>
                  <a:srgbClr val="C9A84C"/>
                </a:solidFill>
              </a:rPr>
              <a:t>02</a:t>
            </a:r>
          </a:p>
        </p:txBody>
      </p:sp>
      <p:sp>
        <p:nvSpPr>
          <p:cNvPr id="13" name="TextBox 12"/>
          <p:cNvSpPr txBox="1"/>
          <p:nvPr/>
        </p:nvSpPr>
        <p:spPr>
          <a:xfrm>
            <a:off x="2752344" y="2697480"/>
            <a:ext cx="1920240" cy="1554480"/>
          </a:xfrm>
          <a:prstGeom prst="rect">
            <a:avLst/>
          </a:prstGeom>
          <a:noFill/>
        </p:spPr>
        <p:txBody>
          <a:bodyPr wrap="square">
            <a:spAutoFit/>
          </a:bodyPr>
          <a:lstStyle/>
          <a:p>
            <a:pPr algn="l"/>
            <a:r>
              <a:rPr sz="1200" b="0" i="0">
                <a:solidFill>
                  <a:srgbClr val="0A0A0A"/>
                </a:solidFill>
              </a:rPr>
              <a:t>They share it
to WhatsApp or
Instagram</a:t>
            </a:r>
          </a:p>
        </p:txBody>
      </p:sp>
      <p:sp>
        <p:nvSpPr>
          <p:cNvPr id="14" name="TextBox 13"/>
          <p:cNvSpPr txBox="1"/>
          <p:nvPr/>
        </p:nvSpPr>
        <p:spPr>
          <a:xfrm>
            <a:off x="4782312" y="3063240"/>
            <a:ext cx="201168" cy="457200"/>
          </a:xfrm>
          <a:prstGeom prst="rect">
            <a:avLst/>
          </a:prstGeom>
          <a:noFill/>
        </p:spPr>
        <p:txBody>
          <a:bodyPr wrap="square">
            <a:spAutoFit/>
          </a:bodyPr>
          <a:lstStyle/>
          <a:p>
            <a:pPr algn="l"/>
            <a:r>
              <a:rPr sz="1800" b="0" i="0">
                <a:solidFill>
                  <a:srgbClr val="C9A84C"/>
                </a:solidFill>
              </a:rPr>
              <a:t>-&gt;</a:t>
            </a:r>
          </a:p>
        </p:txBody>
      </p:sp>
      <p:sp>
        <p:nvSpPr>
          <p:cNvPr id="15" name="Rectangle 14"/>
          <p:cNvSpPr/>
          <p:nvPr/>
        </p:nvSpPr>
        <p:spPr>
          <a:xfrm>
            <a:off x="5001768" y="2286000"/>
            <a:ext cx="2103120" cy="21031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93207" y="2359152"/>
            <a:ext cx="457200" cy="411480"/>
          </a:xfrm>
          <a:prstGeom prst="rect">
            <a:avLst/>
          </a:prstGeom>
          <a:noFill/>
        </p:spPr>
        <p:txBody>
          <a:bodyPr wrap="square">
            <a:spAutoFit/>
          </a:bodyPr>
          <a:lstStyle/>
          <a:p>
            <a:pPr algn="l"/>
            <a:r>
              <a:rPr sz="1100" b="1" i="0">
                <a:solidFill>
                  <a:srgbClr val="C9A84C"/>
                </a:solidFill>
              </a:rPr>
              <a:t>03</a:t>
            </a:r>
          </a:p>
        </p:txBody>
      </p:sp>
      <p:sp>
        <p:nvSpPr>
          <p:cNvPr id="17" name="TextBox 16"/>
          <p:cNvSpPr txBox="1"/>
          <p:nvPr/>
        </p:nvSpPr>
        <p:spPr>
          <a:xfrm>
            <a:off x="5093207" y="2697480"/>
            <a:ext cx="1920240" cy="1554480"/>
          </a:xfrm>
          <a:prstGeom prst="rect">
            <a:avLst/>
          </a:prstGeom>
          <a:noFill/>
        </p:spPr>
        <p:txBody>
          <a:bodyPr wrap="square">
            <a:spAutoFit/>
          </a:bodyPr>
          <a:lstStyle/>
          <a:p>
            <a:pPr algn="l"/>
            <a:r>
              <a:rPr sz="1200" b="0" i="0">
                <a:solidFill>
                  <a:srgbClr val="FFFFFF"/>
                </a:solidFill>
              </a:rPr>
              <a:t>Their contact sees
your store name,
price &amp; product</a:t>
            </a:r>
          </a:p>
        </p:txBody>
      </p:sp>
      <p:sp>
        <p:nvSpPr>
          <p:cNvPr id="18" name="TextBox 17"/>
          <p:cNvSpPr txBox="1"/>
          <p:nvPr/>
        </p:nvSpPr>
        <p:spPr>
          <a:xfrm>
            <a:off x="7123175" y="3063240"/>
            <a:ext cx="201168" cy="457200"/>
          </a:xfrm>
          <a:prstGeom prst="rect">
            <a:avLst/>
          </a:prstGeom>
          <a:noFill/>
        </p:spPr>
        <p:txBody>
          <a:bodyPr wrap="square">
            <a:spAutoFit/>
          </a:bodyPr>
          <a:lstStyle/>
          <a:p>
            <a:pPr algn="l"/>
            <a:r>
              <a:rPr sz="1800" b="0" i="0">
                <a:solidFill>
                  <a:srgbClr val="C9A84C"/>
                </a:solidFill>
              </a:rPr>
              <a:t>-&gt;</a:t>
            </a:r>
          </a:p>
        </p:txBody>
      </p:sp>
      <p:sp>
        <p:nvSpPr>
          <p:cNvPr id="19" name="Rectangle 18"/>
          <p:cNvSpPr/>
          <p:nvPr/>
        </p:nvSpPr>
        <p:spPr>
          <a:xfrm>
            <a:off x="7342631" y="2286000"/>
            <a:ext cx="2103120" cy="210312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34071" y="2359152"/>
            <a:ext cx="457200" cy="411480"/>
          </a:xfrm>
          <a:prstGeom prst="rect">
            <a:avLst/>
          </a:prstGeom>
          <a:noFill/>
        </p:spPr>
        <p:txBody>
          <a:bodyPr wrap="square">
            <a:spAutoFit/>
          </a:bodyPr>
          <a:lstStyle/>
          <a:p>
            <a:pPr algn="l"/>
            <a:r>
              <a:rPr sz="1100" b="1" i="0">
                <a:solidFill>
                  <a:srgbClr val="C9A84C"/>
                </a:solidFill>
              </a:rPr>
              <a:t>04</a:t>
            </a:r>
          </a:p>
        </p:txBody>
      </p:sp>
      <p:sp>
        <p:nvSpPr>
          <p:cNvPr id="21" name="TextBox 20"/>
          <p:cNvSpPr txBox="1"/>
          <p:nvPr/>
        </p:nvSpPr>
        <p:spPr>
          <a:xfrm>
            <a:off x="7434071" y="2697480"/>
            <a:ext cx="1920240" cy="1554480"/>
          </a:xfrm>
          <a:prstGeom prst="rect">
            <a:avLst/>
          </a:prstGeom>
          <a:noFill/>
        </p:spPr>
        <p:txBody>
          <a:bodyPr wrap="square">
            <a:spAutoFit/>
          </a:bodyPr>
          <a:lstStyle/>
          <a:p>
            <a:pPr algn="l"/>
            <a:r>
              <a:rPr sz="1200" b="0" i="0">
                <a:solidFill>
                  <a:srgbClr val="0A0A0A"/>
                </a:solidFill>
              </a:rPr>
              <a:t>They visit
BiziBid.com and
download the app</a:t>
            </a:r>
          </a:p>
        </p:txBody>
      </p:sp>
      <p:sp>
        <p:nvSpPr>
          <p:cNvPr id="22" name="TextBox 21"/>
          <p:cNvSpPr txBox="1"/>
          <p:nvPr/>
        </p:nvSpPr>
        <p:spPr>
          <a:xfrm>
            <a:off x="9464040" y="3063240"/>
            <a:ext cx="201168" cy="457200"/>
          </a:xfrm>
          <a:prstGeom prst="rect">
            <a:avLst/>
          </a:prstGeom>
          <a:noFill/>
        </p:spPr>
        <p:txBody>
          <a:bodyPr wrap="square">
            <a:spAutoFit/>
          </a:bodyPr>
          <a:lstStyle/>
          <a:p>
            <a:pPr algn="l"/>
            <a:r>
              <a:rPr sz="1800" b="0" i="0">
                <a:solidFill>
                  <a:srgbClr val="C9A84C"/>
                </a:solidFill>
              </a:rPr>
              <a:t>-&gt;</a:t>
            </a:r>
          </a:p>
        </p:txBody>
      </p:sp>
      <p:sp>
        <p:nvSpPr>
          <p:cNvPr id="23" name="Rectangle 22"/>
          <p:cNvSpPr/>
          <p:nvPr/>
        </p:nvSpPr>
        <p:spPr>
          <a:xfrm>
            <a:off x="9683496" y="2286000"/>
            <a:ext cx="2103120" cy="21031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74936" y="2359152"/>
            <a:ext cx="457200" cy="411480"/>
          </a:xfrm>
          <a:prstGeom prst="rect">
            <a:avLst/>
          </a:prstGeom>
          <a:noFill/>
        </p:spPr>
        <p:txBody>
          <a:bodyPr wrap="square">
            <a:spAutoFit/>
          </a:bodyPr>
          <a:lstStyle/>
          <a:p>
            <a:pPr algn="l"/>
            <a:r>
              <a:rPr sz="1100" b="1" i="0">
                <a:solidFill>
                  <a:srgbClr val="C9A84C"/>
                </a:solidFill>
              </a:rPr>
              <a:t>05</a:t>
            </a:r>
          </a:p>
        </p:txBody>
      </p:sp>
      <p:sp>
        <p:nvSpPr>
          <p:cNvPr id="25" name="TextBox 24"/>
          <p:cNvSpPr txBox="1"/>
          <p:nvPr/>
        </p:nvSpPr>
        <p:spPr>
          <a:xfrm>
            <a:off x="9774936" y="2697480"/>
            <a:ext cx="1920240" cy="1554480"/>
          </a:xfrm>
          <a:prstGeom prst="rect">
            <a:avLst/>
          </a:prstGeom>
          <a:noFill/>
        </p:spPr>
        <p:txBody>
          <a:bodyPr wrap="square">
            <a:spAutoFit/>
          </a:bodyPr>
          <a:lstStyle/>
          <a:p>
            <a:pPr algn="l"/>
            <a:r>
              <a:rPr sz="1200" b="0" i="0">
                <a:solidFill>
                  <a:srgbClr val="FFFFFF"/>
                </a:solidFill>
              </a:rPr>
              <a:t>New registered
bidder — on your
auctions</a:t>
            </a:r>
          </a:p>
        </p:txBody>
      </p:sp>
      <p:sp>
        <p:nvSpPr>
          <p:cNvPr id="26" name="Rectangle 25"/>
          <p:cNvSpPr/>
          <p:nvPr/>
        </p:nvSpPr>
        <p:spPr>
          <a:xfrm>
            <a:off x="457200" y="4617720"/>
            <a:ext cx="11247120" cy="1508760"/>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4617720"/>
            <a:ext cx="54864" cy="15087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681728"/>
            <a:ext cx="10972800" cy="1371600"/>
          </a:xfrm>
          <a:prstGeom prst="rect">
            <a:avLst/>
          </a:prstGeom>
          <a:noFill/>
        </p:spPr>
        <p:txBody>
          <a:bodyPr wrap="square">
            <a:spAutoFit/>
          </a:bodyPr>
          <a:lstStyle/>
          <a:p>
            <a:pPr>
              <a:spcBef>
                <a:spcPts val="500"/>
              </a:spcBef>
            </a:pPr>
            <a:r>
              <a:rPr sz="1100">
                <a:solidFill>
                  <a:srgbClr val="4B5563"/>
                </a:solidFill>
              </a:rPr>
              <a:t>Auction shares show the live bid price and countdown — creating instant urgency for the viewer.</a:t>
            </a:r>
          </a:p>
          <a:p>
            <a:pPr>
              <a:spcBef>
                <a:spcPts val="500"/>
              </a:spcBef>
            </a:pPr>
            <a:r>
              <a:rPr sz="1100">
                <a:solidFill>
                  <a:srgbClr val="4B5563"/>
                </a:solidFill>
              </a:rPr>
              <a:t>Deal shares show your store name, product image, and fixed price — driving walk-in intent.</a:t>
            </a:r>
          </a:p>
          <a:p>
            <a:pPr>
              <a:spcBef>
                <a:spcPts val="500"/>
              </a:spcBef>
            </a:pPr>
            <a:r>
              <a:rPr sz="1100">
                <a:solidFill>
                  <a:srgbClr val="4B5563"/>
                </a:solidFill>
              </a:rPr>
              <a:t>All shared links direct visitors to BiziBid.com where they can download the app. New downloads = new bidders.</a:t>
            </a:r>
          </a:p>
        </p:txBody>
      </p:sp>
      <p:sp>
        <p:nvSpPr>
          <p:cNvPr id="29" name="TextBox 28"/>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14 / 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PLACEMENT &amp; VISIBILITY</a:t>
            </a:r>
          </a:p>
        </p:txBody>
      </p:sp>
      <p:sp>
        <p:nvSpPr>
          <p:cNvPr id="5" name="TextBox 4"/>
          <p:cNvSpPr txBox="1"/>
          <p:nvPr/>
        </p:nvSpPr>
        <p:spPr>
          <a:xfrm>
            <a:off x="457200" y="1325880"/>
            <a:ext cx="9509760" cy="777240"/>
          </a:xfrm>
          <a:prstGeom prst="rect">
            <a:avLst/>
          </a:prstGeom>
          <a:noFill/>
        </p:spPr>
        <p:txBody>
          <a:bodyPr wrap="square">
            <a:spAutoFit/>
          </a:bodyPr>
          <a:lstStyle/>
          <a:p>
            <a:pPr algn="l"/>
            <a:r>
              <a:rPr sz="3000" b="1" i="0">
                <a:solidFill>
                  <a:srgbClr val="0A0A0A"/>
                </a:solidFill>
              </a:rPr>
              <a:t>Secure Your Position on the BiziBid Keypad</a:t>
            </a:r>
          </a:p>
        </p:txBody>
      </p:sp>
      <p:sp>
        <p:nvSpPr>
          <p:cNvPr id="6" name="TextBox 5"/>
          <p:cNvSpPr txBox="1"/>
          <p:nvPr/>
        </p:nvSpPr>
        <p:spPr>
          <a:xfrm>
            <a:off x="457200" y="1920240"/>
            <a:ext cx="9509760" cy="411480"/>
          </a:xfrm>
          <a:prstGeom prst="rect">
            <a:avLst/>
          </a:prstGeom>
          <a:noFill/>
        </p:spPr>
        <p:txBody>
          <a:bodyPr wrap="square">
            <a:spAutoFit/>
          </a:bodyPr>
          <a:lstStyle/>
          <a:p>
            <a:pPr algn="l"/>
            <a:r>
              <a:rPr sz="1500" b="0" i="0">
                <a:solidFill>
                  <a:srgbClr val="4B5563"/>
                </a:solidFill>
              </a:rPr>
              <a:t>Your store logo placement on the app home screen is a paid position. First come, first placed.</a:t>
            </a:r>
          </a:p>
        </p:txBody>
      </p:sp>
      <p:sp>
        <p:nvSpPr>
          <p:cNvPr id="7" name="Rectangle 6"/>
          <p:cNvSpPr/>
          <p:nvPr/>
        </p:nvSpPr>
        <p:spPr>
          <a:xfrm>
            <a:off x="365760" y="2331720"/>
            <a:ext cx="4480560" cy="181051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2459736"/>
            <a:ext cx="4160520" cy="411480"/>
          </a:xfrm>
          <a:prstGeom prst="rect">
            <a:avLst/>
          </a:prstGeom>
          <a:noFill/>
        </p:spPr>
        <p:txBody>
          <a:bodyPr wrap="square">
            <a:spAutoFit/>
          </a:bodyPr>
          <a:lstStyle/>
          <a:p>
            <a:pPr algn="l"/>
            <a:r>
              <a:rPr sz="1300" b="1" i="0">
                <a:solidFill>
                  <a:srgbClr val="0A0A0A"/>
                </a:solidFill>
              </a:rPr>
              <a:t>Tier 1 — Pinned Position</a:t>
            </a:r>
          </a:p>
        </p:txBody>
      </p:sp>
      <p:sp>
        <p:nvSpPr>
          <p:cNvPr id="9" name="TextBox 8"/>
          <p:cNvSpPr txBox="1"/>
          <p:nvPr/>
        </p:nvSpPr>
        <p:spPr>
          <a:xfrm>
            <a:off x="530352" y="2898648"/>
            <a:ext cx="4160520" cy="1133856"/>
          </a:xfrm>
          <a:prstGeom prst="rect">
            <a:avLst/>
          </a:prstGeom>
          <a:noFill/>
        </p:spPr>
        <p:txBody>
          <a:bodyPr wrap="square">
            <a:spAutoFit/>
          </a:bodyPr>
          <a:lstStyle/>
          <a:p>
            <a:pPr algn="l"/>
            <a:r>
              <a:rPr sz="1100" b="0" i="0">
                <a:solidFill>
                  <a:srgbClr val="0B1F3A"/>
                </a:solidFill>
              </a:rPr>
              <a:t>Top of every user's home screen. Your logo is displayed largest, with full notification badge visibility. One store only — the most premium placement available.</a:t>
            </a:r>
          </a:p>
        </p:txBody>
      </p:sp>
      <p:sp>
        <p:nvSpPr>
          <p:cNvPr id="10" name="Rectangle 9"/>
          <p:cNvSpPr/>
          <p:nvPr/>
        </p:nvSpPr>
        <p:spPr>
          <a:xfrm>
            <a:off x="5074920" y="2331720"/>
            <a:ext cx="4480560" cy="18105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9512" y="2459736"/>
            <a:ext cx="4160520" cy="411480"/>
          </a:xfrm>
          <a:prstGeom prst="rect">
            <a:avLst/>
          </a:prstGeom>
          <a:noFill/>
        </p:spPr>
        <p:txBody>
          <a:bodyPr wrap="square">
            <a:spAutoFit/>
          </a:bodyPr>
          <a:lstStyle/>
          <a:p>
            <a:pPr algn="l"/>
            <a:r>
              <a:rPr sz="1300" b="1" i="0">
                <a:solidFill>
                  <a:srgbClr val="FFFFFF"/>
                </a:solidFill>
              </a:rPr>
              <a:t>Tier 2 — Primary Keypad</a:t>
            </a:r>
          </a:p>
        </p:txBody>
      </p:sp>
      <p:sp>
        <p:nvSpPr>
          <p:cNvPr id="12" name="TextBox 11"/>
          <p:cNvSpPr txBox="1"/>
          <p:nvPr/>
        </p:nvSpPr>
        <p:spPr>
          <a:xfrm>
            <a:off x="5239512" y="2898648"/>
            <a:ext cx="4160520" cy="1133856"/>
          </a:xfrm>
          <a:prstGeom prst="rect">
            <a:avLst/>
          </a:prstGeom>
          <a:noFill/>
        </p:spPr>
        <p:txBody>
          <a:bodyPr wrap="square">
            <a:spAutoFit/>
          </a:bodyPr>
          <a:lstStyle/>
          <a:p>
            <a:pPr algn="l"/>
            <a:r>
              <a:rPr sz="1100" b="0" i="0">
                <a:solidFill>
                  <a:srgbClr val="D0D8E8"/>
                </a:solidFill>
              </a:rPr>
              <a:t>First 6–9 visible positions in the main keypad grid. Seen immediately when the app opens. No scrolling required. Highest traffic positions after Tier 1.</a:t>
            </a:r>
          </a:p>
        </p:txBody>
      </p:sp>
      <p:sp>
        <p:nvSpPr>
          <p:cNvPr id="13" name="Rectangle 12"/>
          <p:cNvSpPr/>
          <p:nvPr/>
        </p:nvSpPr>
        <p:spPr>
          <a:xfrm>
            <a:off x="365760" y="4325112"/>
            <a:ext cx="4480560" cy="1810512"/>
          </a:xfrm>
          <a:prstGeom prst="rect">
            <a:avLst/>
          </a:prstGeom>
          <a:solidFill>
            <a:srgbClr val="4B55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4453128"/>
            <a:ext cx="4160520" cy="411480"/>
          </a:xfrm>
          <a:prstGeom prst="rect">
            <a:avLst/>
          </a:prstGeom>
          <a:noFill/>
        </p:spPr>
        <p:txBody>
          <a:bodyPr wrap="square">
            <a:spAutoFit/>
          </a:bodyPr>
          <a:lstStyle/>
          <a:p>
            <a:pPr algn="l"/>
            <a:r>
              <a:rPr sz="1300" b="1" i="0">
                <a:solidFill>
                  <a:srgbClr val="FFFFFF"/>
                </a:solidFill>
              </a:rPr>
              <a:t>Tier 3 — Slide-Out Panel</a:t>
            </a:r>
          </a:p>
        </p:txBody>
      </p:sp>
      <p:sp>
        <p:nvSpPr>
          <p:cNvPr id="15" name="TextBox 14"/>
          <p:cNvSpPr txBox="1"/>
          <p:nvPr/>
        </p:nvSpPr>
        <p:spPr>
          <a:xfrm>
            <a:off x="530352" y="4892040"/>
            <a:ext cx="4160520" cy="1133856"/>
          </a:xfrm>
          <a:prstGeom prst="rect">
            <a:avLst/>
          </a:prstGeom>
          <a:noFill/>
        </p:spPr>
        <p:txBody>
          <a:bodyPr wrap="square">
            <a:spAutoFit/>
          </a:bodyPr>
          <a:lstStyle/>
          <a:p>
            <a:pPr algn="l"/>
            <a:r>
              <a:rPr sz="1100" b="0" i="0">
                <a:solidFill>
                  <a:srgbClr val="FFFFFF"/>
                </a:solidFill>
              </a:rPr>
              <a:t>Your store appears in the extended keypad panel (swipe to reveal). Still accessible and notified — ideal for entry-level platform participation.</a:t>
            </a:r>
          </a:p>
        </p:txBody>
      </p:sp>
      <p:sp>
        <p:nvSpPr>
          <p:cNvPr id="16" name="Rectangle 15"/>
          <p:cNvSpPr/>
          <p:nvPr/>
        </p:nvSpPr>
        <p:spPr>
          <a:xfrm>
            <a:off x="5074920" y="4325112"/>
            <a:ext cx="4480560" cy="1810512"/>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39512" y="4453128"/>
            <a:ext cx="4160520" cy="411480"/>
          </a:xfrm>
          <a:prstGeom prst="rect">
            <a:avLst/>
          </a:prstGeom>
          <a:noFill/>
        </p:spPr>
        <p:txBody>
          <a:bodyPr wrap="square">
            <a:spAutoFit/>
          </a:bodyPr>
          <a:lstStyle/>
          <a:p>
            <a:pPr algn="l"/>
            <a:r>
              <a:rPr sz="1300" b="1" i="0">
                <a:solidFill>
                  <a:srgbClr val="FFFFFF"/>
                </a:solidFill>
              </a:rPr>
              <a:t>Banner Advertisements</a:t>
            </a:r>
          </a:p>
        </p:txBody>
      </p:sp>
      <p:sp>
        <p:nvSpPr>
          <p:cNvPr id="18" name="TextBox 17"/>
          <p:cNvSpPr txBox="1"/>
          <p:nvPr/>
        </p:nvSpPr>
        <p:spPr>
          <a:xfrm>
            <a:off x="5239512" y="4892040"/>
            <a:ext cx="4160520" cy="1133856"/>
          </a:xfrm>
          <a:prstGeom prst="rect">
            <a:avLst/>
          </a:prstGeom>
          <a:noFill/>
        </p:spPr>
        <p:txBody>
          <a:bodyPr wrap="square">
            <a:spAutoFit/>
          </a:bodyPr>
          <a:lstStyle/>
          <a:p>
            <a:pPr algn="l"/>
            <a:r>
              <a:rPr sz="1100" b="0" i="0">
                <a:solidFill>
                  <a:srgbClr val="FFFFFF"/>
                </a:solidFill>
              </a:rPr>
              <a:t>A rotating advertisement strip displayed across all screens at the top of the app. Separate from keypad placement — available to any registered partner.</a:t>
            </a:r>
          </a:p>
        </p:txBody>
      </p:sp>
      <p:sp>
        <p:nvSpPr>
          <p:cNvPr id="19" name="Rectangle 18"/>
          <p:cNvSpPr/>
          <p:nvPr/>
        </p:nvSpPr>
        <p:spPr>
          <a:xfrm>
            <a:off x="9857232" y="2395728"/>
            <a:ext cx="1600200" cy="3328416"/>
          </a:xfrm>
          <a:prstGeom prst="rect">
            <a:avLst/>
          </a:prstGeom>
          <a:solidFill>
            <a:srgbClr val="1010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940442" y="2542946"/>
            <a:ext cx="1433779" cy="3049981"/>
          </a:xfrm>
          <a:prstGeom prst="rect">
            <a:avLst/>
          </a:prstGeom>
          <a:solidFill>
            <a:srgbClr val="0C0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0456602" y="2436949"/>
            <a:ext cx="401458" cy="32388"/>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485278" y="5679530"/>
            <a:ext cx="344107" cy="18370"/>
          </a:xfrm>
          <a:prstGeom prst="rect">
            <a:avLst/>
          </a:prstGeom>
          <a:solidFill>
            <a:srgbClr val="9CA3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940442" y="2542946"/>
            <a:ext cx="1433779" cy="3049981"/>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940442" y="2542946"/>
            <a:ext cx="1433779" cy="96012"/>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77018" y="2547518"/>
            <a:ext cx="430133" cy="96012"/>
          </a:xfrm>
          <a:prstGeom prst="rect">
            <a:avLst/>
          </a:prstGeom>
          <a:noFill/>
        </p:spPr>
        <p:txBody>
          <a:bodyPr wrap="square">
            <a:spAutoFit/>
          </a:bodyPr>
          <a:lstStyle/>
          <a:p>
            <a:pPr algn="l"/>
            <a:r>
              <a:rPr sz="450" b="1" i="0">
                <a:solidFill>
                  <a:srgbClr val="FFFFFF"/>
                </a:solidFill>
              </a:rPr>
              <a:t>9:41</a:t>
            </a:r>
          </a:p>
        </p:txBody>
      </p:sp>
      <p:sp>
        <p:nvSpPr>
          <p:cNvPr id="26" name="TextBox 25"/>
          <p:cNvSpPr txBox="1"/>
          <p:nvPr/>
        </p:nvSpPr>
        <p:spPr>
          <a:xfrm>
            <a:off x="10729020" y="2547518"/>
            <a:ext cx="616525" cy="96012"/>
          </a:xfrm>
          <a:prstGeom prst="rect">
            <a:avLst/>
          </a:prstGeom>
          <a:noFill/>
        </p:spPr>
        <p:txBody>
          <a:bodyPr wrap="square">
            <a:spAutoFit/>
          </a:bodyPr>
          <a:lstStyle/>
          <a:p>
            <a:pPr algn="r"/>
            <a:r>
              <a:rPr sz="400" b="0" i="0">
                <a:solidFill>
                  <a:srgbClr val="FFFFFF"/>
                </a:solidFill>
              </a:rPr>
              <a:t>|||  100%</a:t>
            </a:r>
          </a:p>
        </p:txBody>
      </p:sp>
      <p:sp>
        <p:nvSpPr>
          <p:cNvPr id="27" name="Rectangle 26"/>
          <p:cNvSpPr/>
          <p:nvPr/>
        </p:nvSpPr>
        <p:spPr>
          <a:xfrm>
            <a:off x="9940442" y="2638958"/>
            <a:ext cx="1433779" cy="1874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67874" y="2675534"/>
            <a:ext cx="1378915" cy="141731"/>
          </a:xfrm>
          <a:prstGeom prst="rect">
            <a:avLst/>
          </a:prstGeom>
          <a:noFill/>
        </p:spPr>
        <p:txBody>
          <a:bodyPr wrap="square">
            <a:spAutoFit/>
          </a:bodyPr>
          <a:lstStyle/>
          <a:p>
            <a:pPr algn="ctr"/>
            <a:r>
              <a:rPr sz="650" b="1" i="0">
                <a:solidFill>
                  <a:srgbClr val="0A0A0A"/>
                </a:solidFill>
              </a:rPr>
              <a:t>BiziBid</a:t>
            </a:r>
          </a:p>
        </p:txBody>
      </p:sp>
      <p:sp>
        <p:nvSpPr>
          <p:cNvPr id="29" name="Rectangle 28"/>
          <p:cNvSpPr/>
          <p:nvPr/>
        </p:nvSpPr>
        <p:spPr>
          <a:xfrm>
            <a:off x="9940442" y="2826410"/>
            <a:ext cx="1433779" cy="2766517"/>
          </a:xfrm>
          <a:prstGeom prst="rect">
            <a:avLst/>
          </a:prstGeom>
          <a:solidFill>
            <a:srgbClr val="0E2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40442" y="2837383"/>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82448" y="2899865"/>
            <a:ext cx="426018" cy="343655"/>
          </a:xfrm>
          <a:prstGeom prst="rect">
            <a:avLst/>
          </a:prstGeom>
          <a:noFill/>
        </p:spPr>
        <p:txBody>
          <a:bodyPr wrap="square">
            <a:spAutoFit/>
          </a:bodyPr>
          <a:lstStyle/>
          <a:p>
            <a:pPr algn="ctr"/>
            <a:r>
              <a:rPr sz="800" b="1" i="0">
                <a:solidFill>
                  <a:srgbClr val="C9A84C"/>
                </a:solidFill>
              </a:rPr>
              <a:t>M</a:t>
            </a:r>
          </a:p>
        </p:txBody>
      </p:sp>
      <p:sp>
        <p:nvSpPr>
          <p:cNvPr id="32" name="TextBox 31"/>
          <p:cNvSpPr txBox="1"/>
          <p:nvPr/>
        </p:nvSpPr>
        <p:spPr>
          <a:xfrm>
            <a:off x="9949586" y="3262266"/>
            <a:ext cx="691743" cy="174951"/>
          </a:xfrm>
          <a:prstGeom prst="rect">
            <a:avLst/>
          </a:prstGeom>
          <a:noFill/>
        </p:spPr>
        <p:txBody>
          <a:bodyPr wrap="square">
            <a:spAutoFit/>
          </a:bodyPr>
          <a:lstStyle/>
          <a:p>
            <a:pPr algn="ctr"/>
            <a:r>
              <a:rPr sz="320" b="0" i="0">
                <a:solidFill>
                  <a:srgbClr val="9CA3AF"/>
                </a:solidFill>
              </a:rPr>
              <a:t>Massy</a:t>
            </a:r>
          </a:p>
        </p:txBody>
      </p:sp>
      <p:sp>
        <p:nvSpPr>
          <p:cNvPr id="33" name="Rectangle 32"/>
          <p:cNvSpPr/>
          <p:nvPr/>
        </p:nvSpPr>
        <p:spPr>
          <a:xfrm>
            <a:off x="10559034" y="2846527"/>
            <a:ext cx="82296" cy="640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59034" y="2841955"/>
            <a:ext cx="82296" cy="64008"/>
          </a:xfrm>
          <a:prstGeom prst="rect">
            <a:avLst/>
          </a:prstGeom>
          <a:noFill/>
        </p:spPr>
        <p:txBody>
          <a:bodyPr wrap="square">
            <a:spAutoFit/>
          </a:bodyPr>
          <a:lstStyle/>
          <a:p>
            <a:pPr algn="ctr"/>
            <a:r>
              <a:rPr sz="280" b="1" i="0">
                <a:solidFill>
                  <a:srgbClr val="FFFFFF"/>
                </a:solidFill>
              </a:rPr>
              <a:t>3</a:t>
            </a:r>
          </a:p>
        </p:txBody>
      </p:sp>
      <p:sp>
        <p:nvSpPr>
          <p:cNvPr id="35" name="Rectangle 34"/>
          <p:cNvSpPr/>
          <p:nvPr/>
        </p:nvSpPr>
        <p:spPr>
          <a:xfrm>
            <a:off x="10661446" y="2837383"/>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803453" y="2899865"/>
            <a:ext cx="426018" cy="343655"/>
          </a:xfrm>
          <a:prstGeom prst="rect">
            <a:avLst/>
          </a:prstGeom>
          <a:noFill/>
        </p:spPr>
        <p:txBody>
          <a:bodyPr wrap="square">
            <a:spAutoFit/>
          </a:bodyPr>
          <a:lstStyle/>
          <a:p>
            <a:pPr algn="ctr"/>
            <a:r>
              <a:rPr sz="800" b="1" i="0">
                <a:solidFill>
                  <a:srgbClr val="C9A84C"/>
                </a:solidFill>
              </a:rPr>
              <a:t>C</a:t>
            </a:r>
          </a:p>
        </p:txBody>
      </p:sp>
      <p:sp>
        <p:nvSpPr>
          <p:cNvPr id="37" name="TextBox 36"/>
          <p:cNvSpPr txBox="1"/>
          <p:nvPr/>
        </p:nvSpPr>
        <p:spPr>
          <a:xfrm>
            <a:off x="10670590" y="3262266"/>
            <a:ext cx="691743" cy="174951"/>
          </a:xfrm>
          <a:prstGeom prst="rect">
            <a:avLst/>
          </a:prstGeom>
          <a:noFill/>
        </p:spPr>
        <p:txBody>
          <a:bodyPr wrap="square">
            <a:spAutoFit/>
          </a:bodyPr>
          <a:lstStyle/>
          <a:p>
            <a:pPr algn="ctr"/>
            <a:r>
              <a:rPr sz="320" b="0" i="0">
                <a:solidFill>
                  <a:srgbClr val="9CA3AF"/>
                </a:solidFill>
              </a:rPr>
              <a:t>Carters</a:t>
            </a:r>
          </a:p>
        </p:txBody>
      </p:sp>
      <p:sp>
        <p:nvSpPr>
          <p:cNvPr id="38" name="Rectangle 37"/>
          <p:cNvSpPr/>
          <p:nvPr/>
        </p:nvSpPr>
        <p:spPr>
          <a:xfrm>
            <a:off x="9940442" y="3473183"/>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082448" y="3535666"/>
            <a:ext cx="426018" cy="343655"/>
          </a:xfrm>
          <a:prstGeom prst="rect">
            <a:avLst/>
          </a:prstGeom>
          <a:noFill/>
        </p:spPr>
        <p:txBody>
          <a:bodyPr wrap="square">
            <a:spAutoFit/>
          </a:bodyPr>
          <a:lstStyle/>
          <a:p>
            <a:pPr algn="ctr"/>
            <a:r>
              <a:rPr sz="800" b="1" i="0">
                <a:solidFill>
                  <a:srgbClr val="C9A84C"/>
                </a:solidFill>
              </a:rPr>
              <a:t>H</a:t>
            </a:r>
          </a:p>
        </p:txBody>
      </p:sp>
      <p:sp>
        <p:nvSpPr>
          <p:cNvPr id="40" name="TextBox 39"/>
          <p:cNvSpPr txBox="1"/>
          <p:nvPr/>
        </p:nvSpPr>
        <p:spPr>
          <a:xfrm>
            <a:off x="9949586" y="3898066"/>
            <a:ext cx="691743" cy="174951"/>
          </a:xfrm>
          <a:prstGeom prst="rect">
            <a:avLst/>
          </a:prstGeom>
          <a:noFill/>
        </p:spPr>
        <p:txBody>
          <a:bodyPr wrap="square">
            <a:spAutoFit/>
          </a:bodyPr>
          <a:lstStyle/>
          <a:p>
            <a:pPr algn="ctr"/>
            <a:r>
              <a:rPr sz="320" b="0" i="0">
                <a:solidFill>
                  <a:srgbClr val="9CA3AF"/>
                </a:solidFill>
              </a:rPr>
              <a:t>H&amp;B</a:t>
            </a:r>
          </a:p>
        </p:txBody>
      </p:sp>
      <p:sp>
        <p:nvSpPr>
          <p:cNvPr id="41" name="Rectangle 40"/>
          <p:cNvSpPr/>
          <p:nvPr/>
        </p:nvSpPr>
        <p:spPr>
          <a:xfrm>
            <a:off x="10559034" y="3482327"/>
            <a:ext cx="82296" cy="64008"/>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59034" y="3477755"/>
            <a:ext cx="82296" cy="64008"/>
          </a:xfrm>
          <a:prstGeom prst="rect">
            <a:avLst/>
          </a:prstGeom>
          <a:noFill/>
        </p:spPr>
        <p:txBody>
          <a:bodyPr wrap="square">
            <a:spAutoFit/>
          </a:bodyPr>
          <a:lstStyle/>
          <a:p>
            <a:pPr algn="ctr"/>
            <a:r>
              <a:rPr sz="280" b="1" i="0">
                <a:solidFill>
                  <a:srgbClr val="FFFFFF"/>
                </a:solidFill>
              </a:rPr>
              <a:t>1</a:t>
            </a:r>
          </a:p>
        </p:txBody>
      </p:sp>
      <p:sp>
        <p:nvSpPr>
          <p:cNvPr id="43" name="Rectangle 42"/>
          <p:cNvSpPr/>
          <p:nvPr/>
        </p:nvSpPr>
        <p:spPr>
          <a:xfrm>
            <a:off x="10661446" y="3473183"/>
            <a:ext cx="710031" cy="624827"/>
          </a:xfrm>
          <a:prstGeom prst="rect">
            <a:avLst/>
          </a:prstGeom>
          <a:solidFill>
            <a:srgbClr val="1212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803453" y="3535666"/>
            <a:ext cx="426018" cy="343655"/>
          </a:xfrm>
          <a:prstGeom prst="rect">
            <a:avLst/>
          </a:prstGeom>
          <a:noFill/>
        </p:spPr>
        <p:txBody>
          <a:bodyPr wrap="square">
            <a:spAutoFit/>
          </a:bodyPr>
          <a:lstStyle/>
          <a:p>
            <a:pPr algn="ctr"/>
            <a:r>
              <a:rPr sz="800" b="1" i="0">
                <a:solidFill>
                  <a:srgbClr val="C9A84C"/>
                </a:solidFill>
              </a:rPr>
              <a:t>P</a:t>
            </a:r>
          </a:p>
        </p:txBody>
      </p:sp>
      <p:sp>
        <p:nvSpPr>
          <p:cNvPr id="45" name="TextBox 44"/>
          <p:cNvSpPr txBox="1"/>
          <p:nvPr/>
        </p:nvSpPr>
        <p:spPr>
          <a:xfrm>
            <a:off x="10670590" y="3898066"/>
            <a:ext cx="691743" cy="174951"/>
          </a:xfrm>
          <a:prstGeom prst="rect">
            <a:avLst/>
          </a:prstGeom>
          <a:noFill/>
        </p:spPr>
        <p:txBody>
          <a:bodyPr wrap="square">
            <a:spAutoFit/>
          </a:bodyPr>
          <a:lstStyle/>
          <a:p>
            <a:pPr algn="ctr"/>
            <a:r>
              <a:rPr sz="320" b="0" i="0">
                <a:solidFill>
                  <a:srgbClr val="9CA3AF"/>
                </a:solidFill>
              </a:rPr>
              <a:t>Price-R</a:t>
            </a:r>
          </a:p>
        </p:txBody>
      </p:sp>
      <p:sp>
        <p:nvSpPr>
          <p:cNvPr id="46" name="TextBox 45"/>
          <p:cNvSpPr txBox="1"/>
          <p:nvPr/>
        </p:nvSpPr>
        <p:spPr>
          <a:xfrm>
            <a:off x="9811511" y="5788152"/>
            <a:ext cx="1691640" cy="182880"/>
          </a:xfrm>
          <a:prstGeom prst="rect">
            <a:avLst/>
          </a:prstGeom>
          <a:noFill/>
        </p:spPr>
        <p:txBody>
          <a:bodyPr wrap="square">
            <a:spAutoFit/>
          </a:bodyPr>
          <a:lstStyle/>
          <a:p>
            <a:pPr algn="ctr"/>
            <a:r>
              <a:rPr sz="600" b="1" i="0">
                <a:solidFill>
                  <a:srgbClr val="C9A84C"/>
                </a:solidFill>
              </a:rPr>
              <a:t>Your logo on every user's home screen</a:t>
            </a:r>
          </a:p>
        </p:txBody>
      </p:sp>
      <p:sp>
        <p:nvSpPr>
          <p:cNvPr id="47" name="TextBox 46"/>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15 / 18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PARTNERSHIP PRICING</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Simple, Transparent Pricing (BBD)</a:t>
            </a:r>
          </a:p>
        </p:txBody>
      </p:sp>
      <p:sp>
        <p:nvSpPr>
          <p:cNvPr id="6" name="TextBox 5"/>
          <p:cNvSpPr txBox="1"/>
          <p:nvPr/>
        </p:nvSpPr>
        <p:spPr>
          <a:xfrm>
            <a:off x="457200" y="1920240"/>
            <a:ext cx="11247120" cy="411480"/>
          </a:xfrm>
          <a:prstGeom prst="rect">
            <a:avLst/>
          </a:prstGeom>
          <a:noFill/>
        </p:spPr>
        <p:txBody>
          <a:bodyPr wrap="square">
            <a:spAutoFit/>
          </a:bodyPr>
          <a:lstStyle/>
          <a:p>
            <a:pPr algn="l"/>
            <a:r>
              <a:rPr sz="1500" b="0" i="0">
                <a:solidFill>
                  <a:srgbClr val="4B5563"/>
                </a:solidFill>
              </a:rPr>
              <a:t>All rates are fixed for the first 12 months for founding partners. No hidden fees.</a:t>
            </a:r>
          </a:p>
        </p:txBody>
      </p:sp>
      <p:sp>
        <p:nvSpPr>
          <p:cNvPr id="7" name="Rectangle 6"/>
          <p:cNvSpPr/>
          <p:nvPr/>
        </p:nvSpPr>
        <p:spPr>
          <a:xfrm>
            <a:off x="457200" y="2194560"/>
            <a:ext cx="11247120" cy="129844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194560"/>
            <a:ext cx="54864" cy="129844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67712"/>
            <a:ext cx="2286000" cy="475488"/>
          </a:xfrm>
          <a:prstGeom prst="rect">
            <a:avLst/>
          </a:prstGeom>
          <a:noFill/>
        </p:spPr>
        <p:txBody>
          <a:bodyPr wrap="square">
            <a:spAutoFit/>
          </a:bodyPr>
          <a:lstStyle/>
          <a:p>
            <a:pPr algn="l"/>
            <a:r>
              <a:rPr sz="2200" b="1" i="0">
                <a:solidFill>
                  <a:srgbClr val="C9A84C"/>
                </a:solidFill>
              </a:rPr>
              <a:t>60 DAYS FREE</a:t>
            </a:r>
          </a:p>
        </p:txBody>
      </p:sp>
      <p:sp>
        <p:nvSpPr>
          <p:cNvPr id="10" name="TextBox 9"/>
          <p:cNvSpPr txBox="1"/>
          <p:nvPr/>
        </p:nvSpPr>
        <p:spPr>
          <a:xfrm>
            <a:off x="3017520" y="2286000"/>
            <a:ext cx="8503920" cy="1115568"/>
          </a:xfrm>
          <a:prstGeom prst="rect">
            <a:avLst/>
          </a:prstGeom>
          <a:noFill/>
        </p:spPr>
        <p:txBody>
          <a:bodyPr wrap="square">
            <a:spAutoFit/>
          </a:bodyPr>
          <a:lstStyle/>
          <a:p>
            <a:pPr algn="l"/>
            <a:r>
              <a:rPr sz="1200" b="0" i="0">
                <a:solidFill>
                  <a:srgbClr val="FFFFFF"/>
                </a:solidFill>
              </a:rPr>
              <a:t>No monthly cost for the first 60 days. A $500.00 BBD deposit secures your primary advertisement placement within the app — guaranteeing your store is featured prominently to all registered users from day one.</a:t>
            </a:r>
          </a:p>
        </p:txBody>
      </p:sp>
      <p:sp>
        <p:nvSpPr>
          <p:cNvPr id="11" name="Rectangle 10"/>
          <p:cNvSpPr/>
          <p:nvPr/>
        </p:nvSpPr>
        <p:spPr>
          <a:xfrm>
            <a:off x="457200" y="3639312"/>
            <a:ext cx="3474720"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685032"/>
            <a:ext cx="3337560" cy="274320"/>
          </a:xfrm>
          <a:prstGeom prst="rect">
            <a:avLst/>
          </a:prstGeom>
          <a:noFill/>
        </p:spPr>
        <p:txBody>
          <a:bodyPr wrap="square">
            <a:spAutoFit/>
          </a:bodyPr>
          <a:lstStyle/>
          <a:p>
            <a:pPr algn="l"/>
            <a:r>
              <a:rPr sz="1100" b="1" i="0">
                <a:solidFill>
                  <a:srgbClr val="FFFFFF"/>
                </a:solidFill>
              </a:rPr>
              <a:t>Service</a:t>
            </a:r>
          </a:p>
        </p:txBody>
      </p:sp>
      <p:sp>
        <p:nvSpPr>
          <p:cNvPr id="13" name="Rectangle 12"/>
          <p:cNvSpPr/>
          <p:nvPr/>
        </p:nvSpPr>
        <p:spPr>
          <a:xfrm>
            <a:off x="3931920" y="3639312"/>
            <a:ext cx="5669280"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23359" y="3685032"/>
            <a:ext cx="5532120" cy="274320"/>
          </a:xfrm>
          <a:prstGeom prst="rect">
            <a:avLst/>
          </a:prstGeom>
          <a:noFill/>
        </p:spPr>
        <p:txBody>
          <a:bodyPr wrap="square">
            <a:spAutoFit/>
          </a:bodyPr>
          <a:lstStyle/>
          <a:p>
            <a:pPr algn="l"/>
            <a:r>
              <a:rPr sz="1100" b="1" i="0">
                <a:solidFill>
                  <a:srgbClr val="FFFFFF"/>
                </a:solidFill>
              </a:rPr>
              <a:t>Description</a:t>
            </a:r>
          </a:p>
        </p:txBody>
      </p:sp>
      <p:sp>
        <p:nvSpPr>
          <p:cNvPr id="15" name="Rectangle 14"/>
          <p:cNvSpPr/>
          <p:nvPr/>
        </p:nvSpPr>
        <p:spPr>
          <a:xfrm>
            <a:off x="9601200" y="3639312"/>
            <a:ext cx="1920240"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92640" y="3685032"/>
            <a:ext cx="1783080" cy="274320"/>
          </a:xfrm>
          <a:prstGeom prst="rect">
            <a:avLst/>
          </a:prstGeom>
          <a:noFill/>
        </p:spPr>
        <p:txBody>
          <a:bodyPr wrap="square">
            <a:spAutoFit/>
          </a:bodyPr>
          <a:lstStyle/>
          <a:p>
            <a:pPr algn="l"/>
            <a:r>
              <a:rPr sz="1100" b="1" i="0">
                <a:solidFill>
                  <a:srgbClr val="FFFFFF"/>
                </a:solidFill>
              </a:rPr>
              <a:t>Rate (BBD)</a:t>
            </a:r>
          </a:p>
        </p:txBody>
      </p:sp>
      <p:sp>
        <p:nvSpPr>
          <p:cNvPr id="17" name="Rectangle 16"/>
          <p:cNvSpPr/>
          <p:nvPr/>
        </p:nvSpPr>
        <p:spPr>
          <a:xfrm>
            <a:off x="457200" y="3986784"/>
            <a:ext cx="347472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4050792"/>
            <a:ext cx="3337560" cy="384048"/>
          </a:xfrm>
          <a:prstGeom prst="rect">
            <a:avLst/>
          </a:prstGeom>
          <a:noFill/>
        </p:spPr>
        <p:txBody>
          <a:bodyPr wrap="square">
            <a:spAutoFit/>
          </a:bodyPr>
          <a:lstStyle/>
          <a:p>
            <a:pPr algn="l"/>
            <a:r>
              <a:rPr sz="1100" b="0" i="0">
                <a:solidFill>
                  <a:srgbClr val="0A0A0A"/>
                </a:solidFill>
              </a:rPr>
              <a:t>Base Listing Package</a:t>
            </a:r>
          </a:p>
        </p:txBody>
      </p:sp>
      <p:sp>
        <p:nvSpPr>
          <p:cNvPr id="19" name="Rectangle 18"/>
          <p:cNvSpPr/>
          <p:nvPr/>
        </p:nvSpPr>
        <p:spPr>
          <a:xfrm>
            <a:off x="3931920" y="3986784"/>
            <a:ext cx="566928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23359" y="4050792"/>
            <a:ext cx="5532120" cy="384048"/>
          </a:xfrm>
          <a:prstGeom prst="rect">
            <a:avLst/>
          </a:prstGeom>
          <a:noFill/>
        </p:spPr>
        <p:txBody>
          <a:bodyPr wrap="square">
            <a:spAutoFit/>
          </a:bodyPr>
          <a:lstStyle/>
          <a:p>
            <a:pPr algn="l"/>
            <a:r>
              <a:rPr sz="1100" b="0" i="0">
                <a:solidFill>
                  <a:srgbClr val="0A0A0A"/>
                </a:solidFill>
              </a:rPr>
              <a:t>Up to 25 items listed per week on the app</a:t>
            </a:r>
          </a:p>
        </p:txBody>
      </p:sp>
      <p:sp>
        <p:nvSpPr>
          <p:cNvPr id="21" name="Rectangle 20"/>
          <p:cNvSpPr/>
          <p:nvPr/>
        </p:nvSpPr>
        <p:spPr>
          <a:xfrm>
            <a:off x="9601200" y="3986784"/>
            <a:ext cx="192024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0" y="4050792"/>
            <a:ext cx="1783080" cy="384048"/>
          </a:xfrm>
          <a:prstGeom prst="rect">
            <a:avLst/>
          </a:prstGeom>
          <a:noFill/>
        </p:spPr>
        <p:txBody>
          <a:bodyPr wrap="square">
            <a:spAutoFit/>
          </a:bodyPr>
          <a:lstStyle/>
          <a:p>
            <a:pPr algn="l"/>
            <a:r>
              <a:rPr sz="1100" b="1" i="0">
                <a:solidFill>
                  <a:srgbClr val="0B1F3A"/>
                </a:solidFill>
              </a:rPr>
              <a:t>$450.00 / month</a:t>
            </a:r>
          </a:p>
        </p:txBody>
      </p:sp>
      <p:sp>
        <p:nvSpPr>
          <p:cNvPr id="23" name="Rectangle 22"/>
          <p:cNvSpPr/>
          <p:nvPr/>
        </p:nvSpPr>
        <p:spPr>
          <a:xfrm>
            <a:off x="457200" y="4462272"/>
            <a:ext cx="34747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4526280"/>
            <a:ext cx="3337560" cy="384048"/>
          </a:xfrm>
          <a:prstGeom prst="rect">
            <a:avLst/>
          </a:prstGeom>
          <a:noFill/>
        </p:spPr>
        <p:txBody>
          <a:bodyPr wrap="square">
            <a:spAutoFit/>
          </a:bodyPr>
          <a:lstStyle/>
          <a:p>
            <a:pPr algn="l"/>
            <a:r>
              <a:rPr sz="1100" b="0" i="0">
                <a:solidFill>
                  <a:srgbClr val="0A0A0A"/>
                </a:solidFill>
              </a:rPr>
              <a:t>Additional Items</a:t>
            </a:r>
          </a:p>
        </p:txBody>
      </p:sp>
      <p:sp>
        <p:nvSpPr>
          <p:cNvPr id="25" name="Rectangle 24"/>
          <p:cNvSpPr/>
          <p:nvPr/>
        </p:nvSpPr>
        <p:spPr>
          <a:xfrm>
            <a:off x="3931920" y="4462272"/>
            <a:ext cx="56692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023359" y="4526280"/>
            <a:ext cx="5532120" cy="384048"/>
          </a:xfrm>
          <a:prstGeom prst="rect">
            <a:avLst/>
          </a:prstGeom>
          <a:noFill/>
        </p:spPr>
        <p:txBody>
          <a:bodyPr wrap="square">
            <a:spAutoFit/>
          </a:bodyPr>
          <a:lstStyle/>
          <a:p>
            <a:pPr algn="l"/>
            <a:r>
              <a:rPr sz="1100" b="0" i="0">
                <a:solidFill>
                  <a:srgbClr val="0A0A0A"/>
                </a:solidFill>
              </a:rPr>
              <a:t>Per additional 10 items above the 25-item base</a:t>
            </a:r>
          </a:p>
        </p:txBody>
      </p:sp>
      <p:sp>
        <p:nvSpPr>
          <p:cNvPr id="27" name="Rectangle 26"/>
          <p:cNvSpPr/>
          <p:nvPr/>
        </p:nvSpPr>
        <p:spPr>
          <a:xfrm>
            <a:off x="9601200" y="4462272"/>
            <a:ext cx="1920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92640" y="4526280"/>
            <a:ext cx="1783080" cy="384048"/>
          </a:xfrm>
          <a:prstGeom prst="rect">
            <a:avLst/>
          </a:prstGeom>
          <a:noFill/>
        </p:spPr>
        <p:txBody>
          <a:bodyPr wrap="square">
            <a:spAutoFit/>
          </a:bodyPr>
          <a:lstStyle/>
          <a:p>
            <a:pPr algn="l"/>
            <a:r>
              <a:rPr sz="1100" b="1" i="0">
                <a:solidFill>
                  <a:srgbClr val="0B1F3A"/>
                </a:solidFill>
              </a:rPr>
              <a:t>$150.00 / month</a:t>
            </a:r>
          </a:p>
        </p:txBody>
      </p:sp>
      <p:sp>
        <p:nvSpPr>
          <p:cNvPr id="29" name="Rectangle 28"/>
          <p:cNvSpPr/>
          <p:nvPr/>
        </p:nvSpPr>
        <p:spPr>
          <a:xfrm>
            <a:off x="457200" y="4937760"/>
            <a:ext cx="347472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5001768"/>
            <a:ext cx="3337560" cy="384048"/>
          </a:xfrm>
          <a:prstGeom prst="rect">
            <a:avLst/>
          </a:prstGeom>
          <a:noFill/>
        </p:spPr>
        <p:txBody>
          <a:bodyPr wrap="square">
            <a:spAutoFit/>
          </a:bodyPr>
          <a:lstStyle/>
          <a:p>
            <a:pPr algn="l"/>
            <a:r>
              <a:rPr sz="1100" b="0" i="0">
                <a:solidFill>
                  <a:srgbClr val="0A0A0A"/>
                </a:solidFill>
              </a:rPr>
              <a:t>Deal of the Week</a:t>
            </a:r>
          </a:p>
        </p:txBody>
      </p:sp>
      <p:sp>
        <p:nvSpPr>
          <p:cNvPr id="31" name="Rectangle 30"/>
          <p:cNvSpPr/>
          <p:nvPr/>
        </p:nvSpPr>
        <p:spPr>
          <a:xfrm>
            <a:off x="3931920" y="4937760"/>
            <a:ext cx="566928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023359" y="5001768"/>
            <a:ext cx="5532120" cy="384048"/>
          </a:xfrm>
          <a:prstGeom prst="rect">
            <a:avLst/>
          </a:prstGeom>
          <a:noFill/>
        </p:spPr>
        <p:txBody>
          <a:bodyPr wrap="square">
            <a:spAutoFit/>
          </a:bodyPr>
          <a:lstStyle/>
          <a:p>
            <a:pPr algn="l"/>
            <a:r>
              <a:rPr sz="1100" b="0" i="0">
                <a:solidFill>
                  <a:srgbClr val="0A0A0A"/>
                </a:solidFill>
              </a:rPr>
              <a:t>Featured deal highlighted to all users for 7 days</a:t>
            </a:r>
          </a:p>
        </p:txBody>
      </p:sp>
      <p:sp>
        <p:nvSpPr>
          <p:cNvPr id="33" name="Rectangle 32"/>
          <p:cNvSpPr/>
          <p:nvPr/>
        </p:nvSpPr>
        <p:spPr>
          <a:xfrm>
            <a:off x="9601200" y="4937760"/>
            <a:ext cx="1920240" cy="47548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92640" y="5001768"/>
            <a:ext cx="1783080" cy="384048"/>
          </a:xfrm>
          <a:prstGeom prst="rect">
            <a:avLst/>
          </a:prstGeom>
          <a:noFill/>
        </p:spPr>
        <p:txBody>
          <a:bodyPr wrap="square">
            <a:spAutoFit/>
          </a:bodyPr>
          <a:lstStyle/>
          <a:p>
            <a:pPr algn="l"/>
            <a:r>
              <a:rPr sz="1100" b="1" i="0">
                <a:solidFill>
                  <a:srgbClr val="0B1F3A"/>
                </a:solidFill>
              </a:rPr>
              <a:t>$150.00 / week</a:t>
            </a:r>
          </a:p>
        </p:txBody>
      </p:sp>
      <p:sp>
        <p:nvSpPr>
          <p:cNvPr id="35" name="Rectangle 34"/>
          <p:cNvSpPr/>
          <p:nvPr/>
        </p:nvSpPr>
        <p:spPr>
          <a:xfrm>
            <a:off x="457200" y="5413248"/>
            <a:ext cx="347472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5477256"/>
            <a:ext cx="3337560" cy="384048"/>
          </a:xfrm>
          <a:prstGeom prst="rect">
            <a:avLst/>
          </a:prstGeom>
          <a:noFill/>
        </p:spPr>
        <p:txBody>
          <a:bodyPr wrap="square">
            <a:spAutoFit/>
          </a:bodyPr>
          <a:lstStyle/>
          <a:p>
            <a:pPr algn="l"/>
            <a:r>
              <a:rPr sz="1100" b="0" i="0">
                <a:solidFill>
                  <a:srgbClr val="0A0A0A"/>
                </a:solidFill>
              </a:rPr>
              <a:t>Deal of the Month</a:t>
            </a:r>
          </a:p>
        </p:txBody>
      </p:sp>
      <p:sp>
        <p:nvSpPr>
          <p:cNvPr id="37" name="Rectangle 36"/>
          <p:cNvSpPr/>
          <p:nvPr/>
        </p:nvSpPr>
        <p:spPr>
          <a:xfrm>
            <a:off x="3931920" y="5413248"/>
            <a:ext cx="566928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023359" y="5477256"/>
            <a:ext cx="5532120" cy="384048"/>
          </a:xfrm>
          <a:prstGeom prst="rect">
            <a:avLst/>
          </a:prstGeom>
          <a:noFill/>
        </p:spPr>
        <p:txBody>
          <a:bodyPr wrap="square">
            <a:spAutoFit/>
          </a:bodyPr>
          <a:lstStyle/>
          <a:p>
            <a:pPr algn="l"/>
            <a:r>
              <a:rPr sz="1100" b="0" i="0">
                <a:solidFill>
                  <a:srgbClr val="0A0A0A"/>
                </a:solidFill>
              </a:rPr>
              <a:t>Premium featured deal — top placement for full month</a:t>
            </a:r>
          </a:p>
        </p:txBody>
      </p:sp>
      <p:sp>
        <p:nvSpPr>
          <p:cNvPr id="39" name="Rectangle 38"/>
          <p:cNvSpPr/>
          <p:nvPr/>
        </p:nvSpPr>
        <p:spPr>
          <a:xfrm>
            <a:off x="9601200" y="5413248"/>
            <a:ext cx="192024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92640" y="5477256"/>
            <a:ext cx="1783080" cy="384048"/>
          </a:xfrm>
          <a:prstGeom prst="rect">
            <a:avLst/>
          </a:prstGeom>
          <a:noFill/>
        </p:spPr>
        <p:txBody>
          <a:bodyPr wrap="square">
            <a:spAutoFit/>
          </a:bodyPr>
          <a:lstStyle/>
          <a:p>
            <a:pPr algn="l"/>
            <a:r>
              <a:rPr sz="1100" b="1" i="0">
                <a:solidFill>
                  <a:srgbClr val="0B1F3A"/>
                </a:solidFill>
              </a:rPr>
              <a:t>$200.00 / month</a:t>
            </a:r>
          </a:p>
        </p:txBody>
      </p:sp>
      <p:sp>
        <p:nvSpPr>
          <p:cNvPr id="41" name="TextBox 40"/>
          <p:cNvSpPr txBox="1"/>
          <p:nvPr/>
        </p:nvSpPr>
        <p:spPr>
          <a:xfrm>
            <a:off x="457200" y="6400800"/>
            <a:ext cx="11247120" cy="347472"/>
          </a:xfrm>
          <a:prstGeom prst="rect">
            <a:avLst/>
          </a:prstGeom>
          <a:noFill/>
        </p:spPr>
        <p:txBody>
          <a:bodyPr wrap="square">
            <a:spAutoFit/>
          </a:bodyPr>
          <a:lstStyle/>
          <a:p>
            <a:pPr algn="l"/>
            <a:r>
              <a:rPr sz="1000" b="0" i="1">
                <a:solidFill>
                  <a:srgbClr val="9CA3AF"/>
                </a:solidFill>
              </a:rPr>
              <a:t>All pricing in Barbados Dollars (BBD). Rates fixed for the first 12 months for founding partners. Keypad placement and banner ad pricing available on request.</a:t>
            </a:r>
          </a:p>
        </p:txBody>
      </p:sp>
      <p:sp>
        <p:nvSpPr>
          <p:cNvPr id="42" name="TextBox 41"/>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16 /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841248"/>
            <a:ext cx="12188952" cy="640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64592"/>
            <a:ext cx="2286000" cy="502920"/>
          </a:xfrm>
          <a:prstGeom prst="rect">
            <a:avLst/>
          </a:prstGeom>
          <a:noFill/>
        </p:spPr>
        <p:txBody>
          <a:bodyPr wrap="none">
            <a:spAutoFit/>
          </a:bodyPr>
          <a:lstStyle/>
          <a:p>
            <a:r>
              <a:rPr sz="2200" b="1">
                <a:solidFill>
                  <a:srgbClr val="0A0A0A"/>
                </a:solidFill>
              </a:rPr>
              <a:t>Bizi</a:t>
            </a:r>
            <a:r>
              <a:rPr sz="2200" b="1">
                <a:solidFill>
                  <a:srgbClr val="C9A84C"/>
                </a:solidFill>
              </a:rPr>
              <a:t>Bid</a:t>
            </a:r>
          </a:p>
        </p:txBody>
      </p:sp>
      <p:sp>
        <p:nvSpPr>
          <p:cNvPr id="4" name="TextBox 3"/>
          <p:cNvSpPr txBox="1"/>
          <p:nvPr/>
        </p:nvSpPr>
        <p:spPr>
          <a:xfrm>
            <a:off x="457200" y="960120"/>
            <a:ext cx="7315200" cy="292608"/>
          </a:xfrm>
          <a:prstGeom prst="rect">
            <a:avLst/>
          </a:prstGeom>
          <a:noFill/>
        </p:spPr>
        <p:txBody>
          <a:bodyPr wrap="square">
            <a:spAutoFit/>
          </a:bodyPr>
          <a:lstStyle/>
          <a:p>
            <a:pPr algn="l"/>
            <a:r>
              <a:rPr sz="900" b="1" i="0">
                <a:solidFill>
                  <a:srgbClr val="C9A84C"/>
                </a:solidFill>
              </a:rPr>
              <a:t>WHY BIZIBID?</a:t>
            </a:r>
          </a:p>
        </p:txBody>
      </p:sp>
      <p:sp>
        <p:nvSpPr>
          <p:cNvPr id="5" name="TextBox 4"/>
          <p:cNvSpPr txBox="1"/>
          <p:nvPr/>
        </p:nvSpPr>
        <p:spPr>
          <a:xfrm>
            <a:off x="457200" y="1325880"/>
            <a:ext cx="11247120" cy="777240"/>
          </a:xfrm>
          <a:prstGeom prst="rect">
            <a:avLst/>
          </a:prstGeom>
          <a:noFill/>
        </p:spPr>
        <p:txBody>
          <a:bodyPr wrap="square">
            <a:spAutoFit/>
          </a:bodyPr>
          <a:lstStyle/>
          <a:p>
            <a:pPr algn="l"/>
            <a:r>
              <a:rPr sz="3000" b="1" i="0">
                <a:solidFill>
                  <a:srgbClr val="0A0A0A"/>
                </a:solidFill>
              </a:rPr>
              <a:t>Built for Barbados Retail. Starting Today.</a:t>
            </a:r>
          </a:p>
        </p:txBody>
      </p:sp>
      <p:sp>
        <p:nvSpPr>
          <p:cNvPr id="6" name="Rectangle 5"/>
          <p:cNvSpPr/>
          <p:nvPr/>
        </p:nvSpPr>
        <p:spPr>
          <a:xfrm>
            <a:off x="365760" y="23317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23317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75488" y="2441448"/>
            <a:ext cx="457200" cy="411480"/>
          </a:xfrm>
          <a:prstGeom prst="rect">
            <a:avLst/>
          </a:prstGeom>
          <a:noFill/>
        </p:spPr>
        <p:txBody>
          <a:bodyPr wrap="square">
            <a:spAutoFit/>
          </a:bodyPr>
          <a:lstStyle/>
          <a:p>
            <a:pPr algn="l"/>
            <a:r>
              <a:rPr sz="2000" b="0" i="0">
                <a:solidFill>
                  <a:srgbClr val="C9A84C"/>
                </a:solidFill>
              </a:rPr>
              <a:t>★</a:t>
            </a:r>
          </a:p>
        </p:txBody>
      </p:sp>
      <p:sp>
        <p:nvSpPr>
          <p:cNvPr id="9" name="TextBox 8"/>
          <p:cNvSpPr txBox="1"/>
          <p:nvPr/>
        </p:nvSpPr>
        <p:spPr>
          <a:xfrm>
            <a:off x="960120" y="2441448"/>
            <a:ext cx="2971800" cy="347472"/>
          </a:xfrm>
          <a:prstGeom prst="rect">
            <a:avLst/>
          </a:prstGeom>
          <a:noFill/>
        </p:spPr>
        <p:txBody>
          <a:bodyPr wrap="square">
            <a:spAutoFit/>
          </a:bodyPr>
          <a:lstStyle/>
          <a:p>
            <a:pPr algn="l"/>
            <a:r>
              <a:rPr sz="1200" b="1" i="0">
                <a:solidFill>
                  <a:srgbClr val="0A0A0A"/>
                </a:solidFill>
              </a:rPr>
              <a:t>Barbados First</a:t>
            </a:r>
          </a:p>
        </p:txBody>
      </p:sp>
      <p:sp>
        <p:nvSpPr>
          <p:cNvPr id="10" name="TextBox 9"/>
          <p:cNvSpPr txBox="1"/>
          <p:nvPr/>
        </p:nvSpPr>
        <p:spPr>
          <a:xfrm>
            <a:off x="475488" y="2862072"/>
            <a:ext cx="3474720" cy="1024128"/>
          </a:xfrm>
          <a:prstGeom prst="rect">
            <a:avLst/>
          </a:prstGeom>
          <a:noFill/>
        </p:spPr>
        <p:txBody>
          <a:bodyPr wrap="square">
            <a:spAutoFit/>
          </a:bodyPr>
          <a:lstStyle/>
          <a:p>
            <a:pPr algn="l"/>
            <a:r>
              <a:rPr sz="1000" b="0" i="0">
                <a:solidFill>
                  <a:srgbClr val="4B5563"/>
                </a:solidFill>
              </a:rPr>
              <a:t>BiziBid is built specifically for the Barbados market — the culture, the community, the retail landscape. Not a foreign platform adapted for the island.</a:t>
            </a:r>
          </a:p>
        </p:txBody>
      </p:sp>
      <p:sp>
        <p:nvSpPr>
          <p:cNvPr id="11" name="Rectangle 10"/>
          <p:cNvSpPr/>
          <p:nvPr/>
        </p:nvSpPr>
        <p:spPr>
          <a:xfrm>
            <a:off x="4297680" y="23317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23317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07408" y="2441448"/>
            <a:ext cx="457200" cy="411480"/>
          </a:xfrm>
          <a:prstGeom prst="rect">
            <a:avLst/>
          </a:prstGeom>
          <a:noFill/>
        </p:spPr>
        <p:txBody>
          <a:bodyPr wrap="square">
            <a:spAutoFit/>
          </a:bodyPr>
          <a:lstStyle/>
          <a:p>
            <a:pPr algn="l"/>
            <a:r>
              <a:rPr sz="2000" b="0" i="0">
                <a:solidFill>
                  <a:srgbClr val="C9A84C"/>
                </a:solidFill>
              </a:rPr>
              <a:t>★</a:t>
            </a:r>
          </a:p>
        </p:txBody>
      </p:sp>
      <p:sp>
        <p:nvSpPr>
          <p:cNvPr id="14" name="TextBox 13"/>
          <p:cNvSpPr txBox="1"/>
          <p:nvPr/>
        </p:nvSpPr>
        <p:spPr>
          <a:xfrm>
            <a:off x="4892040" y="2441448"/>
            <a:ext cx="2971800" cy="347472"/>
          </a:xfrm>
          <a:prstGeom prst="rect">
            <a:avLst/>
          </a:prstGeom>
          <a:noFill/>
        </p:spPr>
        <p:txBody>
          <a:bodyPr wrap="square">
            <a:spAutoFit/>
          </a:bodyPr>
          <a:lstStyle/>
          <a:p>
            <a:pPr algn="l"/>
            <a:r>
              <a:rPr sz="1200" b="1" i="0">
                <a:solidFill>
                  <a:srgbClr val="0A0A0A"/>
                </a:solidFill>
              </a:rPr>
              <a:t>Zero Technical Effort</a:t>
            </a:r>
          </a:p>
        </p:txBody>
      </p:sp>
      <p:sp>
        <p:nvSpPr>
          <p:cNvPr id="15" name="TextBox 14"/>
          <p:cNvSpPr txBox="1"/>
          <p:nvPr/>
        </p:nvSpPr>
        <p:spPr>
          <a:xfrm>
            <a:off x="4407408" y="2862072"/>
            <a:ext cx="3474720" cy="1024128"/>
          </a:xfrm>
          <a:prstGeom prst="rect">
            <a:avLst/>
          </a:prstGeom>
          <a:noFill/>
        </p:spPr>
        <p:txBody>
          <a:bodyPr wrap="square">
            <a:spAutoFit/>
          </a:bodyPr>
          <a:lstStyle/>
          <a:p>
            <a:pPr algn="l"/>
            <a:r>
              <a:rPr sz="1000" b="0" i="0">
                <a:solidFill>
                  <a:srgbClr val="4B5563"/>
                </a:solidFill>
              </a:rPr>
              <a:t>You upload products and set prices. INTERXDB operates the entire platform — the app, the hosting, the technology. Nothing more is required from you.</a:t>
            </a:r>
          </a:p>
        </p:txBody>
      </p:sp>
      <p:sp>
        <p:nvSpPr>
          <p:cNvPr id="16" name="Rectangle 15"/>
          <p:cNvSpPr/>
          <p:nvPr/>
        </p:nvSpPr>
        <p:spPr>
          <a:xfrm>
            <a:off x="8229600" y="23317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0" y="23317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39327" y="2441448"/>
            <a:ext cx="457200" cy="411480"/>
          </a:xfrm>
          <a:prstGeom prst="rect">
            <a:avLst/>
          </a:prstGeom>
          <a:noFill/>
        </p:spPr>
        <p:txBody>
          <a:bodyPr wrap="square">
            <a:spAutoFit/>
          </a:bodyPr>
          <a:lstStyle/>
          <a:p>
            <a:pPr algn="l"/>
            <a:r>
              <a:rPr sz="2000" b="0" i="0">
                <a:solidFill>
                  <a:srgbClr val="C9A84C"/>
                </a:solidFill>
              </a:rPr>
              <a:t>★</a:t>
            </a:r>
          </a:p>
        </p:txBody>
      </p:sp>
      <p:sp>
        <p:nvSpPr>
          <p:cNvPr id="19" name="TextBox 18"/>
          <p:cNvSpPr txBox="1"/>
          <p:nvPr/>
        </p:nvSpPr>
        <p:spPr>
          <a:xfrm>
            <a:off x="8823960" y="2441448"/>
            <a:ext cx="2971800" cy="347472"/>
          </a:xfrm>
          <a:prstGeom prst="rect">
            <a:avLst/>
          </a:prstGeom>
          <a:noFill/>
        </p:spPr>
        <p:txBody>
          <a:bodyPr wrap="square">
            <a:spAutoFit/>
          </a:bodyPr>
          <a:lstStyle/>
          <a:p>
            <a:pPr algn="l"/>
            <a:r>
              <a:rPr sz="1200" b="1" i="0">
                <a:solidFill>
                  <a:srgbClr val="0A0A0A"/>
                </a:solidFill>
              </a:rPr>
              <a:t>Keep Your Store Relevant</a:t>
            </a:r>
          </a:p>
        </p:txBody>
      </p:sp>
      <p:sp>
        <p:nvSpPr>
          <p:cNvPr id="20" name="TextBox 19"/>
          <p:cNvSpPr txBox="1"/>
          <p:nvPr/>
        </p:nvSpPr>
        <p:spPr>
          <a:xfrm>
            <a:off x="8339327" y="2862072"/>
            <a:ext cx="3474720" cy="1024128"/>
          </a:xfrm>
          <a:prstGeom prst="rect">
            <a:avLst/>
          </a:prstGeom>
          <a:noFill/>
        </p:spPr>
        <p:txBody>
          <a:bodyPr wrap="square">
            <a:spAutoFit/>
          </a:bodyPr>
          <a:lstStyle/>
          <a:p>
            <a:pPr algn="l"/>
            <a:r>
              <a:rPr sz="1000" b="0" i="0">
                <a:solidFill>
                  <a:srgbClr val="4B5563"/>
                </a:solidFill>
              </a:rPr>
              <a:t>Digital shopping is growing. BiziBid gives your store a daily digital presence that keeps you competitive — without the cost of building your own platform.</a:t>
            </a:r>
          </a:p>
        </p:txBody>
      </p:sp>
      <p:sp>
        <p:nvSpPr>
          <p:cNvPr id="21" name="Rectangle 20"/>
          <p:cNvSpPr/>
          <p:nvPr/>
        </p:nvSpPr>
        <p:spPr>
          <a:xfrm>
            <a:off x="365760" y="41605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41605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488" y="4270248"/>
            <a:ext cx="457200" cy="411480"/>
          </a:xfrm>
          <a:prstGeom prst="rect">
            <a:avLst/>
          </a:prstGeom>
          <a:noFill/>
        </p:spPr>
        <p:txBody>
          <a:bodyPr wrap="square">
            <a:spAutoFit/>
          </a:bodyPr>
          <a:lstStyle/>
          <a:p>
            <a:pPr algn="l"/>
            <a:r>
              <a:rPr sz="2000" b="0" i="0">
                <a:solidFill>
                  <a:srgbClr val="C9A84C"/>
                </a:solidFill>
              </a:rPr>
              <a:t>★</a:t>
            </a:r>
          </a:p>
        </p:txBody>
      </p:sp>
      <p:sp>
        <p:nvSpPr>
          <p:cNvPr id="24" name="TextBox 23"/>
          <p:cNvSpPr txBox="1"/>
          <p:nvPr/>
        </p:nvSpPr>
        <p:spPr>
          <a:xfrm>
            <a:off x="960120" y="4270248"/>
            <a:ext cx="2971800" cy="347472"/>
          </a:xfrm>
          <a:prstGeom prst="rect">
            <a:avLst/>
          </a:prstGeom>
          <a:noFill/>
        </p:spPr>
        <p:txBody>
          <a:bodyPr wrap="square">
            <a:spAutoFit/>
          </a:bodyPr>
          <a:lstStyle/>
          <a:p>
            <a:pPr algn="l"/>
            <a:r>
              <a:rPr sz="1200" b="1" i="0">
                <a:solidFill>
                  <a:srgbClr val="0A0A0A"/>
                </a:solidFill>
              </a:rPr>
              <a:t>Exclusive &amp; Professional</a:t>
            </a:r>
          </a:p>
        </p:txBody>
      </p:sp>
      <p:sp>
        <p:nvSpPr>
          <p:cNvPr id="25" name="TextBox 24"/>
          <p:cNvSpPr txBox="1"/>
          <p:nvPr/>
        </p:nvSpPr>
        <p:spPr>
          <a:xfrm>
            <a:off x="475488" y="4690872"/>
            <a:ext cx="3474720" cy="1024128"/>
          </a:xfrm>
          <a:prstGeom prst="rect">
            <a:avLst/>
          </a:prstGeom>
          <a:noFill/>
        </p:spPr>
        <p:txBody>
          <a:bodyPr wrap="square">
            <a:spAutoFit/>
          </a:bodyPr>
          <a:lstStyle/>
          <a:p>
            <a:pPr algn="l"/>
            <a:r>
              <a:rPr sz="1000" b="0" i="0">
                <a:solidFill>
                  <a:srgbClr val="4B5563"/>
                </a:solidFill>
              </a:rPr>
              <a:t>Only verified, registered businesses may list products. No individual sellers. No flea-market feel. A premium marketplace that reflects well on your brand.</a:t>
            </a:r>
          </a:p>
        </p:txBody>
      </p:sp>
      <p:sp>
        <p:nvSpPr>
          <p:cNvPr id="26" name="Rectangle 25"/>
          <p:cNvSpPr/>
          <p:nvPr/>
        </p:nvSpPr>
        <p:spPr>
          <a:xfrm>
            <a:off x="4297680" y="41605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297680" y="41605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07408" y="4270248"/>
            <a:ext cx="457200" cy="411480"/>
          </a:xfrm>
          <a:prstGeom prst="rect">
            <a:avLst/>
          </a:prstGeom>
          <a:noFill/>
        </p:spPr>
        <p:txBody>
          <a:bodyPr wrap="square">
            <a:spAutoFit/>
          </a:bodyPr>
          <a:lstStyle/>
          <a:p>
            <a:pPr algn="l"/>
            <a:r>
              <a:rPr sz="2000" b="0" i="0">
                <a:solidFill>
                  <a:srgbClr val="C9A84C"/>
                </a:solidFill>
              </a:rPr>
              <a:t>★</a:t>
            </a:r>
          </a:p>
        </p:txBody>
      </p:sp>
      <p:sp>
        <p:nvSpPr>
          <p:cNvPr id="29" name="TextBox 28"/>
          <p:cNvSpPr txBox="1"/>
          <p:nvPr/>
        </p:nvSpPr>
        <p:spPr>
          <a:xfrm>
            <a:off x="4892040" y="4270248"/>
            <a:ext cx="2971800" cy="347472"/>
          </a:xfrm>
          <a:prstGeom prst="rect">
            <a:avLst/>
          </a:prstGeom>
          <a:noFill/>
        </p:spPr>
        <p:txBody>
          <a:bodyPr wrap="square">
            <a:spAutoFit/>
          </a:bodyPr>
          <a:lstStyle/>
          <a:p>
            <a:pPr algn="l"/>
            <a:r>
              <a:rPr sz="1200" b="1" i="0">
                <a:solidFill>
                  <a:srgbClr val="0A0A0A"/>
                </a:solidFill>
              </a:rPr>
              <a:t>Your Target Market</a:t>
            </a:r>
          </a:p>
        </p:txBody>
      </p:sp>
      <p:sp>
        <p:nvSpPr>
          <p:cNvPr id="30" name="TextBox 29"/>
          <p:cNvSpPr txBox="1"/>
          <p:nvPr/>
        </p:nvSpPr>
        <p:spPr>
          <a:xfrm>
            <a:off x="4407408" y="4690872"/>
            <a:ext cx="3474720" cy="1024128"/>
          </a:xfrm>
          <a:prstGeom prst="rect">
            <a:avLst/>
          </a:prstGeom>
          <a:noFill/>
        </p:spPr>
        <p:txBody>
          <a:bodyPr wrap="square">
            <a:spAutoFit/>
          </a:bodyPr>
          <a:lstStyle/>
          <a:p>
            <a:pPr algn="l"/>
            <a:r>
              <a:rPr sz="1000" b="0" i="0">
                <a:solidFill>
                  <a:srgbClr val="4B5563"/>
                </a:solidFill>
              </a:rPr>
              <a:t>BiziBid targets medium-to-high income earners and family units — the customers who already shop at your store. Reach them digitally where they are.</a:t>
            </a:r>
          </a:p>
        </p:txBody>
      </p:sp>
      <p:sp>
        <p:nvSpPr>
          <p:cNvPr id="31" name="Rectangle 30"/>
          <p:cNvSpPr/>
          <p:nvPr/>
        </p:nvSpPr>
        <p:spPr>
          <a:xfrm>
            <a:off x="8229600" y="4160520"/>
            <a:ext cx="3703320" cy="1664208"/>
          </a:xfrm>
          <a:prstGeom prst="rect">
            <a:avLst/>
          </a:prstGeom>
          <a:solidFill>
            <a:srgbClr val="F8F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229600" y="4160520"/>
            <a:ext cx="45720" cy="166420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9327" y="4270248"/>
            <a:ext cx="457200" cy="411480"/>
          </a:xfrm>
          <a:prstGeom prst="rect">
            <a:avLst/>
          </a:prstGeom>
          <a:noFill/>
        </p:spPr>
        <p:txBody>
          <a:bodyPr wrap="square">
            <a:spAutoFit/>
          </a:bodyPr>
          <a:lstStyle/>
          <a:p>
            <a:pPr algn="l"/>
            <a:r>
              <a:rPr sz="2000" b="0" i="0">
                <a:solidFill>
                  <a:srgbClr val="C9A84C"/>
                </a:solidFill>
              </a:rPr>
              <a:t>★</a:t>
            </a:r>
          </a:p>
        </p:txBody>
      </p:sp>
      <p:sp>
        <p:nvSpPr>
          <p:cNvPr id="34" name="TextBox 33"/>
          <p:cNvSpPr txBox="1"/>
          <p:nvPr/>
        </p:nvSpPr>
        <p:spPr>
          <a:xfrm>
            <a:off x="8823960" y="4270248"/>
            <a:ext cx="2971800" cy="347472"/>
          </a:xfrm>
          <a:prstGeom prst="rect">
            <a:avLst/>
          </a:prstGeom>
          <a:noFill/>
        </p:spPr>
        <p:txBody>
          <a:bodyPr wrap="square">
            <a:spAutoFit/>
          </a:bodyPr>
          <a:lstStyle/>
          <a:p>
            <a:pPr algn="l"/>
            <a:r>
              <a:rPr sz="1200" b="1" i="0">
                <a:solidFill>
                  <a:srgbClr val="0A0A0A"/>
                </a:solidFill>
              </a:rPr>
              <a:t>Founding Partner Advantage</a:t>
            </a:r>
          </a:p>
        </p:txBody>
      </p:sp>
      <p:sp>
        <p:nvSpPr>
          <p:cNvPr id="35" name="TextBox 34"/>
          <p:cNvSpPr txBox="1"/>
          <p:nvPr/>
        </p:nvSpPr>
        <p:spPr>
          <a:xfrm>
            <a:off x="8339327" y="4690872"/>
            <a:ext cx="3474720" cy="1024128"/>
          </a:xfrm>
          <a:prstGeom prst="rect">
            <a:avLst/>
          </a:prstGeom>
          <a:noFill/>
        </p:spPr>
        <p:txBody>
          <a:bodyPr wrap="square">
            <a:spAutoFit/>
          </a:bodyPr>
          <a:lstStyle/>
          <a:p>
            <a:pPr algn="l"/>
            <a:r>
              <a:rPr sz="1000" b="0" i="0">
                <a:solidFill>
                  <a:srgbClr val="4B5563"/>
                </a:solidFill>
              </a:rPr>
              <a:t>Founding partners lock in rates for 12 months and secure preferred keypad placement before the platform opens to all retailers. Act now — positions are limited.</a:t>
            </a:r>
          </a:p>
        </p:txBody>
      </p:sp>
      <p:sp>
        <p:nvSpPr>
          <p:cNvPr id="36" name="TextBox 35"/>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17 / 18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502920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029200"/>
            <a:ext cx="12188952" cy="7315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40080"/>
            <a:ext cx="10698480" cy="822960"/>
          </a:xfrm>
          <a:prstGeom prst="rect">
            <a:avLst/>
          </a:prstGeom>
          <a:noFill/>
        </p:spPr>
        <p:txBody>
          <a:bodyPr wrap="square">
            <a:spAutoFit/>
          </a:bodyPr>
          <a:lstStyle/>
          <a:p>
            <a:pPr algn="ctr"/>
            <a:r>
              <a:rPr sz="3600" b="1" i="0">
                <a:solidFill>
                  <a:srgbClr val="FFFFFF"/>
                </a:solidFill>
              </a:rPr>
              <a:t>Ready to Join BiziBid?</a:t>
            </a:r>
          </a:p>
        </p:txBody>
      </p:sp>
      <p:sp>
        <p:nvSpPr>
          <p:cNvPr id="5" name="TextBox 4"/>
          <p:cNvSpPr txBox="1"/>
          <p:nvPr/>
        </p:nvSpPr>
        <p:spPr>
          <a:xfrm>
            <a:off x="731520" y="1508760"/>
            <a:ext cx="10698480" cy="502920"/>
          </a:xfrm>
          <a:prstGeom prst="rect">
            <a:avLst/>
          </a:prstGeom>
          <a:noFill/>
        </p:spPr>
        <p:txBody>
          <a:bodyPr wrap="square">
            <a:spAutoFit/>
          </a:bodyPr>
          <a:lstStyle/>
          <a:p>
            <a:pPr algn="ctr"/>
            <a:r>
              <a:rPr sz="1600" b="0" i="0">
                <a:solidFill>
                  <a:srgbClr val="9CA3AF"/>
                </a:solidFill>
              </a:rPr>
              <a:t>Secure your founding partner status today — positions are limited.</a:t>
            </a:r>
          </a:p>
        </p:txBody>
      </p:sp>
      <p:sp>
        <p:nvSpPr>
          <p:cNvPr id="6" name="Rectangle 5"/>
          <p:cNvSpPr/>
          <p:nvPr/>
        </p:nvSpPr>
        <p:spPr>
          <a:xfrm>
            <a:off x="731520" y="2331720"/>
            <a:ext cx="3337560" cy="242316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2331720"/>
            <a:ext cx="333756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423160"/>
            <a:ext cx="502920" cy="457200"/>
          </a:xfrm>
          <a:prstGeom prst="rect">
            <a:avLst/>
          </a:prstGeom>
          <a:noFill/>
        </p:spPr>
        <p:txBody>
          <a:bodyPr wrap="square">
            <a:spAutoFit/>
          </a:bodyPr>
          <a:lstStyle/>
          <a:p>
            <a:pPr algn="l"/>
            <a:r>
              <a:rPr sz="2200" b="0" i="0">
                <a:solidFill>
                  <a:srgbClr val="C9A84C"/>
                </a:solidFill>
              </a:rPr>
              <a:t>P</a:t>
            </a:r>
          </a:p>
        </p:txBody>
      </p:sp>
      <p:sp>
        <p:nvSpPr>
          <p:cNvPr id="9" name="TextBox 8"/>
          <p:cNvSpPr txBox="1"/>
          <p:nvPr/>
        </p:nvSpPr>
        <p:spPr>
          <a:xfrm>
            <a:off x="896112" y="2944368"/>
            <a:ext cx="3017520" cy="457200"/>
          </a:xfrm>
          <a:prstGeom prst="rect">
            <a:avLst/>
          </a:prstGeom>
          <a:noFill/>
        </p:spPr>
        <p:txBody>
          <a:bodyPr wrap="square">
            <a:spAutoFit/>
          </a:bodyPr>
          <a:lstStyle/>
          <a:p>
            <a:pPr algn="l"/>
            <a:r>
              <a:rPr sz="1200" b="1" i="0">
                <a:solidFill>
                  <a:srgbClr val="FFFFFF"/>
                </a:solidFill>
              </a:rPr>
              <a:t>Schedule a Presentation</a:t>
            </a:r>
          </a:p>
        </p:txBody>
      </p:sp>
      <p:sp>
        <p:nvSpPr>
          <p:cNvPr id="10" name="TextBox 9"/>
          <p:cNvSpPr txBox="1"/>
          <p:nvPr/>
        </p:nvSpPr>
        <p:spPr>
          <a:xfrm>
            <a:off x="896112" y="3401568"/>
            <a:ext cx="3017520" cy="1188720"/>
          </a:xfrm>
          <a:prstGeom prst="rect">
            <a:avLst/>
          </a:prstGeom>
          <a:noFill/>
        </p:spPr>
        <p:txBody>
          <a:bodyPr wrap="square">
            <a:spAutoFit/>
          </a:bodyPr>
          <a:lstStyle/>
          <a:p>
            <a:pPr algn="l"/>
            <a:r>
              <a:rPr sz="1000" b="0" i="0">
                <a:solidFill>
                  <a:srgbClr val="9CA3AF"/>
                </a:solidFill>
              </a:rPr>
              <a:t>We come to you. A personalised walkthrough of the platform tailored to your store — at your convenience.</a:t>
            </a:r>
          </a:p>
        </p:txBody>
      </p:sp>
      <p:sp>
        <p:nvSpPr>
          <p:cNvPr id="11" name="Rectangle 10"/>
          <p:cNvSpPr/>
          <p:nvPr/>
        </p:nvSpPr>
        <p:spPr>
          <a:xfrm>
            <a:off x="4343400" y="2331720"/>
            <a:ext cx="3337560" cy="242316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2331720"/>
            <a:ext cx="333756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07992" y="2423160"/>
            <a:ext cx="502920" cy="457200"/>
          </a:xfrm>
          <a:prstGeom prst="rect">
            <a:avLst/>
          </a:prstGeom>
          <a:noFill/>
        </p:spPr>
        <p:txBody>
          <a:bodyPr wrap="square">
            <a:spAutoFit/>
          </a:bodyPr>
          <a:lstStyle/>
          <a:p>
            <a:pPr algn="l"/>
            <a:r>
              <a:rPr sz="2200" b="0" i="0">
                <a:solidFill>
                  <a:srgbClr val="C9A84C"/>
                </a:solidFill>
              </a:rPr>
              <a:t>W</a:t>
            </a:r>
          </a:p>
        </p:txBody>
      </p:sp>
      <p:sp>
        <p:nvSpPr>
          <p:cNvPr id="14" name="TextBox 13"/>
          <p:cNvSpPr txBox="1"/>
          <p:nvPr/>
        </p:nvSpPr>
        <p:spPr>
          <a:xfrm>
            <a:off x="4507992" y="2944368"/>
            <a:ext cx="3017520" cy="457200"/>
          </a:xfrm>
          <a:prstGeom prst="rect">
            <a:avLst/>
          </a:prstGeom>
          <a:noFill/>
        </p:spPr>
        <p:txBody>
          <a:bodyPr wrap="square">
            <a:spAutoFit/>
          </a:bodyPr>
          <a:lstStyle/>
          <a:p>
            <a:pPr algn="l"/>
            <a:r>
              <a:rPr sz="1200" b="1" i="0">
                <a:solidFill>
                  <a:srgbClr val="FFFFFF"/>
                </a:solidFill>
              </a:rPr>
              <a:t>View Your Interactive Demo</a:t>
            </a:r>
          </a:p>
        </p:txBody>
      </p:sp>
      <p:sp>
        <p:nvSpPr>
          <p:cNvPr id="15" name="TextBox 14"/>
          <p:cNvSpPr txBox="1"/>
          <p:nvPr/>
        </p:nvSpPr>
        <p:spPr>
          <a:xfrm>
            <a:off x="4507992" y="3401568"/>
            <a:ext cx="3017520" cy="1188720"/>
          </a:xfrm>
          <a:prstGeom prst="rect">
            <a:avLst/>
          </a:prstGeom>
          <a:noFill/>
        </p:spPr>
        <p:txBody>
          <a:bodyPr wrap="square">
            <a:spAutoFit/>
          </a:bodyPr>
          <a:lstStyle/>
          <a:p>
            <a:pPr algn="l"/>
            <a:r>
              <a:rPr sz="1000" b="0" i="0">
                <a:solidFill>
                  <a:srgbClr val="9CA3AF"/>
                </a:solidFill>
              </a:rPr>
              <a:t>A personalised before-and-after demonstration of how BiziBid would represent your store has been prepared for you.</a:t>
            </a:r>
          </a:p>
        </p:txBody>
      </p:sp>
      <p:sp>
        <p:nvSpPr>
          <p:cNvPr id="16" name="Rectangle 15"/>
          <p:cNvSpPr/>
          <p:nvPr/>
        </p:nvSpPr>
        <p:spPr>
          <a:xfrm>
            <a:off x="7955280" y="2331720"/>
            <a:ext cx="3337560" cy="2423160"/>
          </a:xfrm>
          <a:prstGeom prst="rect">
            <a:avLst/>
          </a:prstGeom>
          <a:solidFill>
            <a:srgbClr val="12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80" y="2331720"/>
            <a:ext cx="3337560" cy="4572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9872" y="2423160"/>
            <a:ext cx="502920" cy="457200"/>
          </a:xfrm>
          <a:prstGeom prst="rect">
            <a:avLst/>
          </a:prstGeom>
          <a:noFill/>
        </p:spPr>
        <p:txBody>
          <a:bodyPr wrap="square">
            <a:spAutoFit/>
          </a:bodyPr>
          <a:lstStyle/>
          <a:p>
            <a:pPr algn="l"/>
            <a:r>
              <a:rPr sz="2200" b="0" i="0">
                <a:solidFill>
                  <a:srgbClr val="C9A84C"/>
                </a:solidFill>
              </a:rPr>
              <a:t>E</a:t>
            </a:r>
          </a:p>
        </p:txBody>
      </p:sp>
      <p:sp>
        <p:nvSpPr>
          <p:cNvPr id="19" name="TextBox 18"/>
          <p:cNvSpPr txBox="1"/>
          <p:nvPr/>
        </p:nvSpPr>
        <p:spPr>
          <a:xfrm>
            <a:off x="8119872" y="2944368"/>
            <a:ext cx="3017520" cy="457200"/>
          </a:xfrm>
          <a:prstGeom prst="rect">
            <a:avLst/>
          </a:prstGeom>
          <a:noFill/>
        </p:spPr>
        <p:txBody>
          <a:bodyPr wrap="square">
            <a:spAutoFit/>
          </a:bodyPr>
          <a:lstStyle/>
          <a:p>
            <a:pPr algn="l"/>
            <a:r>
              <a:rPr sz="1200" b="1" i="0">
                <a:solidFill>
                  <a:srgbClr val="FFFFFF"/>
                </a:solidFill>
              </a:rPr>
              <a:t>Contact Us Directly</a:t>
            </a:r>
          </a:p>
        </p:txBody>
      </p:sp>
      <p:sp>
        <p:nvSpPr>
          <p:cNvPr id="20" name="TextBox 19"/>
          <p:cNvSpPr txBox="1"/>
          <p:nvPr/>
        </p:nvSpPr>
        <p:spPr>
          <a:xfrm>
            <a:off x="8119872" y="3401568"/>
            <a:ext cx="3017520" cy="1188720"/>
          </a:xfrm>
          <a:prstGeom prst="rect">
            <a:avLst/>
          </a:prstGeom>
          <a:noFill/>
        </p:spPr>
        <p:txBody>
          <a:bodyPr wrap="square">
            <a:spAutoFit/>
          </a:bodyPr>
          <a:lstStyle/>
          <a:p>
            <a:pPr algn="l"/>
            <a:r>
              <a:rPr sz="1000" b="0" i="0">
                <a:solidFill>
                  <a:srgbClr val="9CA3AF"/>
                </a:solidFill>
              </a:rPr>
              <a:t>Our team is ready to answer any questions and walk you through the partnership terms at your pace.</a:t>
            </a:r>
          </a:p>
        </p:txBody>
      </p:sp>
      <p:sp>
        <p:nvSpPr>
          <p:cNvPr id="21" name="TextBox 20"/>
          <p:cNvSpPr txBox="1"/>
          <p:nvPr/>
        </p:nvSpPr>
        <p:spPr>
          <a:xfrm>
            <a:off x="731520" y="5285232"/>
            <a:ext cx="10698480" cy="502920"/>
          </a:xfrm>
          <a:prstGeom prst="rect">
            <a:avLst/>
          </a:prstGeom>
          <a:noFill/>
        </p:spPr>
        <p:txBody>
          <a:bodyPr wrap="none">
            <a:spAutoFit/>
          </a:bodyPr>
          <a:lstStyle/>
          <a:p>
            <a:pPr algn="ctr"/>
            <a:r>
              <a:rPr sz="1800" b="1">
                <a:solidFill>
                  <a:srgbClr val="0A0A0A"/>
                </a:solidFill>
              </a:rPr>
              <a:t>Bizi</a:t>
            </a:r>
            <a:r>
              <a:rPr sz="1800" b="1">
                <a:solidFill>
                  <a:srgbClr val="C9A84C"/>
                </a:solidFill>
              </a:rPr>
              <a:t>Bid</a:t>
            </a:r>
            <a:r>
              <a:rPr sz="1200">
                <a:solidFill>
                  <a:srgbClr val="4B5563"/>
                </a:solidFill>
              </a:rPr>
              <a:t>  ·  Operated by INTERXDB</a:t>
            </a:r>
          </a:p>
        </p:txBody>
      </p:sp>
      <p:sp>
        <p:nvSpPr>
          <p:cNvPr id="22" name="TextBox 21"/>
          <p:cNvSpPr txBox="1"/>
          <p:nvPr/>
        </p:nvSpPr>
        <p:spPr>
          <a:xfrm>
            <a:off x="731520" y="5870448"/>
            <a:ext cx="10698480" cy="365760"/>
          </a:xfrm>
          <a:prstGeom prst="rect">
            <a:avLst/>
          </a:prstGeom>
          <a:noFill/>
        </p:spPr>
        <p:txBody>
          <a:bodyPr wrap="square">
            <a:spAutoFit/>
          </a:bodyPr>
          <a:lstStyle/>
          <a:p>
            <a:pPr algn="ctr"/>
            <a:r>
              <a:rPr sz="1200" b="0" i="0">
                <a:solidFill>
                  <a:srgbClr val="4B5563"/>
                </a:solidFill>
              </a:rPr>
              <a:t>contact@interxdb.com   ·   Tel 1(246) 241-3771   ·   BiziBid.com</a:t>
            </a:r>
          </a:p>
        </p:txBody>
      </p:sp>
      <p:sp>
        <p:nvSpPr>
          <p:cNvPr id="23" name="TextBox 22"/>
          <p:cNvSpPr txBox="1"/>
          <p:nvPr/>
        </p:nvSpPr>
        <p:spPr>
          <a:xfrm>
            <a:off x="731520" y="6309360"/>
            <a:ext cx="10698480" cy="320040"/>
          </a:xfrm>
          <a:prstGeom prst="rect">
            <a:avLst/>
          </a:prstGeom>
          <a:noFill/>
        </p:spPr>
        <p:txBody>
          <a:bodyPr wrap="square">
            <a:spAutoFit/>
          </a:bodyPr>
          <a:lstStyle/>
          <a:p>
            <a:pPr algn="ctr"/>
            <a:r>
              <a:rPr sz="1000" b="0" i="1">
                <a:solidFill>
                  <a:srgbClr val="9CA3AF"/>
                </a:solidFill>
              </a:rPr>
              <a:t>Confidential — For Addressee Only</a:t>
            </a:r>
          </a:p>
        </p:txBody>
      </p:sp>
      <p:sp>
        <p:nvSpPr>
          <p:cNvPr id="24" name="TextBox 23"/>
          <p:cNvSpPr txBox="1"/>
          <p:nvPr/>
        </p:nvSpPr>
        <p:spPr>
          <a:xfrm>
            <a:off x="11247120" y="6492240"/>
            <a:ext cx="914400" cy="320040"/>
          </a:xfrm>
          <a:prstGeom prst="rect">
            <a:avLst/>
          </a:prstGeom>
          <a:noFill/>
        </p:spPr>
        <p:txBody>
          <a:bodyPr wrap="square">
            <a:spAutoFit/>
          </a:bodyPr>
          <a:lstStyle/>
          <a:p>
            <a:pPr algn="r"/>
            <a:r>
              <a:rPr sz="900" b="0" i="0">
                <a:solidFill>
                  <a:srgbClr val="9CA3AF"/>
                </a:solidFill>
              </a:rPr>
              <a:t>18 / 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